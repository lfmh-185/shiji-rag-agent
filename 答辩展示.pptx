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58" r:id="rId3"/>
    <p:sldMasterId id="2147483671" r:id="rId4"/>
  </p:sldMasterIdLst>
  <p:notesMasterIdLst>
    <p:notesMasterId r:id="rId6"/>
  </p:notesMasterIdLst>
  <p:handoutMasterIdLst>
    <p:handoutMasterId r:id="rId78"/>
  </p:handoutMasterIdLst>
  <p:sldIdLst>
    <p:sldId id="7508" r:id="rId5"/>
    <p:sldId id="282" r:id="rId7"/>
    <p:sldId id="442" r:id="rId8"/>
    <p:sldId id="682" r:id="rId9"/>
    <p:sldId id="7526" r:id="rId10"/>
    <p:sldId id="684" r:id="rId11"/>
    <p:sldId id="444" r:id="rId12"/>
    <p:sldId id="7510" r:id="rId13"/>
    <p:sldId id="7513" r:id="rId14"/>
    <p:sldId id="7514" r:id="rId15"/>
    <p:sldId id="7651" r:id="rId16"/>
    <p:sldId id="7511" r:id="rId17"/>
    <p:sldId id="7595" r:id="rId18"/>
    <p:sldId id="7596" r:id="rId19"/>
    <p:sldId id="7597" r:id="rId20"/>
    <p:sldId id="7649" r:id="rId21"/>
    <p:sldId id="7598" r:id="rId22"/>
    <p:sldId id="7599" r:id="rId23"/>
    <p:sldId id="7600" r:id="rId24"/>
    <p:sldId id="7601" r:id="rId25"/>
    <p:sldId id="7602" r:id="rId26"/>
    <p:sldId id="7603" r:id="rId27"/>
    <p:sldId id="7604" r:id="rId28"/>
    <p:sldId id="7584" r:id="rId29"/>
    <p:sldId id="7648" r:id="rId30"/>
    <p:sldId id="7650" r:id="rId31"/>
    <p:sldId id="7671" r:id="rId32"/>
    <p:sldId id="7672" r:id="rId33"/>
    <p:sldId id="7673" r:id="rId34"/>
    <p:sldId id="7674" r:id="rId35"/>
    <p:sldId id="7675" r:id="rId36"/>
    <p:sldId id="7676" r:id="rId37"/>
    <p:sldId id="7639" r:id="rId38"/>
    <p:sldId id="7640" r:id="rId39"/>
    <p:sldId id="7641" r:id="rId40"/>
    <p:sldId id="7668" r:id="rId41"/>
    <p:sldId id="7669" r:id="rId42"/>
    <p:sldId id="7642" r:id="rId43"/>
    <p:sldId id="7643" r:id="rId44"/>
    <p:sldId id="7670" r:id="rId45"/>
    <p:sldId id="7624" r:id="rId46"/>
    <p:sldId id="7625" r:id="rId47"/>
    <p:sldId id="7626" r:id="rId48"/>
    <p:sldId id="7627" r:id="rId49"/>
    <p:sldId id="7628" r:id="rId50"/>
    <p:sldId id="7629" r:id="rId51"/>
    <p:sldId id="7630" r:id="rId52"/>
    <p:sldId id="7631" r:id="rId53"/>
    <p:sldId id="7632" r:id="rId54"/>
    <p:sldId id="7633" r:id="rId55"/>
    <p:sldId id="7634" r:id="rId56"/>
    <p:sldId id="7635" r:id="rId57"/>
    <p:sldId id="7636" r:id="rId58"/>
    <p:sldId id="7637" r:id="rId59"/>
    <p:sldId id="7638" r:id="rId60"/>
    <p:sldId id="7593" r:id="rId61"/>
    <p:sldId id="7594" r:id="rId62"/>
    <p:sldId id="7652" r:id="rId63"/>
    <p:sldId id="7653" r:id="rId64"/>
    <p:sldId id="7654" r:id="rId65"/>
    <p:sldId id="7655" r:id="rId66"/>
    <p:sldId id="7656" r:id="rId67"/>
    <p:sldId id="7657" r:id="rId68"/>
    <p:sldId id="7658" r:id="rId69"/>
    <p:sldId id="7659" r:id="rId70"/>
    <p:sldId id="7660" r:id="rId71"/>
    <p:sldId id="7661" r:id="rId72"/>
    <p:sldId id="7662" r:id="rId73"/>
    <p:sldId id="7663" r:id="rId74"/>
    <p:sldId id="7512" r:id="rId75"/>
    <p:sldId id="7523" r:id="rId76"/>
    <p:sldId id="7509" r:id="rId77"/>
  </p:sldIdLst>
  <p:sldSz cx="12858750" cy="7232650"/>
  <p:notesSz cx="6858000" cy="9144000"/>
  <p:custDataLst>
    <p:tags r:id="rId82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8" userDrawn="1">
          <p15:clr>
            <a:srgbClr val="A4A3A4"/>
          </p15:clr>
        </p15:guide>
        <p15:guide id="2" pos="4095" userDrawn="1">
          <p15:clr>
            <a:srgbClr val="A4A3A4"/>
          </p15:clr>
        </p15:guide>
        <p15:guide id="3" pos="557" userDrawn="1">
          <p15:clr>
            <a:srgbClr val="A4A3A4"/>
          </p15:clr>
        </p15:guide>
        <p15:guide id="5" orient="horz" pos="4145" userDrawn="1">
          <p15:clr>
            <a:srgbClr val="A4A3A4"/>
          </p15:clr>
        </p15:guide>
        <p15:guide id="6" pos="7477" userDrawn="1">
          <p15:clr>
            <a:srgbClr val="A4A3A4"/>
          </p15:clr>
        </p15:guide>
        <p15:guide id="7" pos="69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3568"/>
    <a:srgbClr val="319C8B"/>
    <a:srgbClr val="EDB41E"/>
    <a:srgbClr val="C1272D"/>
    <a:srgbClr val="E26F49"/>
    <a:srgbClr val="504741"/>
    <a:srgbClr val="282320"/>
    <a:srgbClr val="812F15"/>
    <a:srgbClr val="600000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35" autoAdjust="0"/>
    <p:restoredTop sz="95274" autoAdjust="0"/>
  </p:normalViewPr>
  <p:slideViewPr>
    <p:cSldViewPr showGuides="1">
      <p:cViewPr varScale="1">
        <p:scale>
          <a:sx n="108" d="100"/>
          <a:sy n="108" d="100"/>
        </p:scale>
        <p:origin x="150" y="144"/>
      </p:cViewPr>
      <p:guideLst>
        <p:guide orient="horz" pos="328"/>
        <p:guide pos="4095"/>
        <p:guide pos="557"/>
        <p:guide orient="horz" pos="4145"/>
        <p:guide pos="7477"/>
        <p:guide pos="6902"/>
      </p:guideLst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283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2" Type="http://schemas.openxmlformats.org/officeDocument/2006/relationships/tags" Target="tags/tag12.xml"/><Relationship Id="rId81" Type="http://schemas.openxmlformats.org/officeDocument/2006/relationships/tableStyles" Target="tableStyles.xml"/><Relationship Id="rId80" Type="http://schemas.openxmlformats.org/officeDocument/2006/relationships/viewProps" Target="viewProps.xml"/><Relationship Id="rId8" Type="http://schemas.openxmlformats.org/officeDocument/2006/relationships/slide" Target="slides/slide3.xml"/><Relationship Id="rId79" Type="http://schemas.openxmlformats.org/officeDocument/2006/relationships/presProps" Target="presProps.xml"/><Relationship Id="rId78" Type="http://schemas.openxmlformats.org/officeDocument/2006/relationships/handoutMaster" Target="handoutMasters/handoutMaster1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7" Type="http://schemas.openxmlformats.org/officeDocument/2006/relationships/slide" Target="slides/slide2.xml"/><Relationship Id="rId69" Type="http://schemas.openxmlformats.org/officeDocument/2006/relationships/slide" Target="slides/slide64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0" Type="http://schemas.openxmlformats.org/officeDocument/2006/relationships/slide" Target="slides/slide55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4.xml"/><Relationship Id="rId58" Type="http://schemas.openxmlformats.org/officeDocument/2006/relationships/slide" Target="slides/slide53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9E2DB-5211-475A-A572-BC0F4C1EBA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CCE634-C312-44D9-B6A2-480DEE8B097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5682C6-BE15-415E-9985-CDCE9943C8C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BDAF78-DF91-49FC-9092-84BA02F7AFA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BDAF78-DF91-49FC-9092-84BA02F7AFA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BDAF78-DF91-49FC-9092-84BA02F7AFA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2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/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2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/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2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/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2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/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CE176-4DA0-4F08-B7A9-F390C01FD0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6C227-3E6F-4078-BB08-2654D0AE05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27EB-AB73-4860-A1B1-B2B84940B1DF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0"/>
            <a:ext cx="12858751" cy="7232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899887"/>
            <a:ext cx="12858750" cy="6332764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crush"/>
      </p:transition>
    </mc:Choice>
    <mc:Fallback>
      <p:transition spd="slow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6C227-3E6F-4078-BB08-2654D0AE05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27EB-AB73-4860-A1B1-B2B84940B1D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crush"/>
      </p:transition>
    </mc:Choice>
    <mc:Fallback>
      <p:transition spd="slow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crush"/>
      </p:transition>
    </mc:Choice>
    <mc:Fallback>
      <p:transition spd="slow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Placeholder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crush"/>
      </p:transition>
    </mc:Choice>
    <mc:Fallback>
      <p:transition spd="slow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crush"/>
      </p:transition>
    </mc:Choice>
    <mc:Fallback>
      <p:transition spd="slow" advTm="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crush"/>
      </p:transition>
    </mc:Choice>
    <mc:Fallback>
      <p:transition spd="slow" advTm="3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464594" y="508964"/>
            <a:ext cx="7929563" cy="49711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375" b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536156" y="1003924"/>
            <a:ext cx="5786438" cy="28228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85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42620" indent="0">
              <a:buNone/>
              <a:defRPr sz="1685"/>
            </a:lvl2pPr>
            <a:lvl3pPr marL="1285875" indent="0">
              <a:buNone/>
              <a:defRPr sz="1405"/>
            </a:lvl3pPr>
            <a:lvl4pPr marL="1928495" indent="0">
              <a:buNone/>
              <a:defRPr sz="1265"/>
            </a:lvl4pPr>
            <a:lvl5pPr marL="2571750" indent="0">
              <a:buNone/>
              <a:defRPr sz="1265"/>
            </a:lvl5pPr>
            <a:lvl6pPr marL="3214370" indent="0">
              <a:buNone/>
              <a:defRPr sz="1265"/>
            </a:lvl6pPr>
            <a:lvl7pPr marL="3857625" indent="0">
              <a:buNone/>
              <a:defRPr sz="1265"/>
            </a:lvl7pPr>
            <a:lvl8pPr marL="4500245" indent="0">
              <a:buNone/>
              <a:defRPr sz="1265"/>
            </a:lvl8pPr>
            <a:lvl9pPr marL="5143500" indent="0">
              <a:buNone/>
              <a:defRPr sz="1265"/>
            </a:lvl9pPr>
          </a:lstStyle>
          <a:p>
            <a:pPr lvl="0"/>
            <a:r>
              <a:rPr lang="en-US" dirty="0"/>
              <a:t>Subtext Goes Here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crush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crush"/>
      </p:transition>
    </mc:Choice>
    <mc:Fallback>
      <p:transition spd="slow" advTm="3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Title+ SubTitle+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464594" y="508964"/>
            <a:ext cx="7929563" cy="49711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375" b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536156" y="1003924"/>
            <a:ext cx="5786438" cy="28228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85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42620" indent="0">
              <a:buNone/>
              <a:defRPr sz="1685"/>
            </a:lvl2pPr>
            <a:lvl3pPr marL="1285875" indent="0">
              <a:buNone/>
              <a:defRPr sz="1405"/>
            </a:lvl3pPr>
            <a:lvl4pPr marL="1928495" indent="0">
              <a:buNone/>
              <a:defRPr sz="1265"/>
            </a:lvl4pPr>
            <a:lvl5pPr marL="2571750" indent="0">
              <a:buNone/>
              <a:defRPr sz="1265"/>
            </a:lvl5pPr>
            <a:lvl6pPr marL="3214370" indent="0">
              <a:buNone/>
              <a:defRPr sz="1265"/>
            </a:lvl6pPr>
            <a:lvl7pPr marL="3857625" indent="0">
              <a:buNone/>
              <a:defRPr sz="1265"/>
            </a:lvl7pPr>
            <a:lvl8pPr marL="4500245" indent="0">
              <a:buNone/>
              <a:defRPr sz="1265"/>
            </a:lvl8pPr>
            <a:lvl9pPr marL="5143500" indent="0">
              <a:buNone/>
              <a:defRPr sz="1265"/>
            </a:lvl9pPr>
          </a:lstStyle>
          <a:p>
            <a:pPr lvl="0"/>
            <a:r>
              <a:rPr lang="en-US" dirty="0"/>
              <a:t>Subtext Goes Here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crush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07344" y="1183677"/>
            <a:ext cx="9644063" cy="2518034"/>
          </a:xfrm>
        </p:spPr>
        <p:txBody>
          <a:bodyPr anchor="b"/>
          <a:lstStyle>
            <a:lvl1pPr algn="ctr">
              <a:defRPr sz="633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07344" y="3798816"/>
            <a:ext cx="9644063" cy="1746216"/>
          </a:xfrm>
        </p:spPr>
        <p:txBody>
          <a:bodyPr/>
          <a:lstStyle>
            <a:lvl1pPr marL="0" indent="0" algn="ctr">
              <a:buNone/>
              <a:defRPr sz="2530"/>
            </a:lvl1pPr>
            <a:lvl2pPr marL="481965" indent="0" algn="ctr">
              <a:buNone/>
              <a:defRPr sz="2110"/>
            </a:lvl2pPr>
            <a:lvl3pPr marL="964565" indent="0" algn="ctr">
              <a:buNone/>
              <a:defRPr sz="1900"/>
            </a:lvl3pPr>
            <a:lvl4pPr marL="1446530" indent="0" algn="ctr">
              <a:buNone/>
              <a:defRPr sz="1685"/>
            </a:lvl4pPr>
            <a:lvl5pPr marL="1928495" indent="0" algn="ctr">
              <a:buNone/>
              <a:defRPr sz="1685"/>
            </a:lvl5pPr>
            <a:lvl6pPr marL="2411095" indent="0" algn="ctr">
              <a:buNone/>
              <a:defRPr sz="1685"/>
            </a:lvl6pPr>
            <a:lvl7pPr marL="2893060" indent="0" algn="ctr">
              <a:buNone/>
              <a:defRPr sz="1685"/>
            </a:lvl7pPr>
            <a:lvl8pPr marL="3375025" indent="0" algn="ctr">
              <a:buNone/>
              <a:defRPr sz="1685"/>
            </a:lvl8pPr>
            <a:lvl9pPr marL="3856990" indent="0" algn="ctr">
              <a:buNone/>
              <a:defRPr sz="1685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7342" y="1803141"/>
            <a:ext cx="11090672" cy="3008581"/>
          </a:xfrm>
        </p:spPr>
        <p:txBody>
          <a:bodyPr anchor="b"/>
          <a:lstStyle>
            <a:lvl1pPr>
              <a:defRPr sz="633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77342" y="4840184"/>
            <a:ext cx="11090672" cy="1582142"/>
          </a:xfrm>
        </p:spPr>
        <p:txBody>
          <a:bodyPr/>
          <a:lstStyle>
            <a:lvl1pPr marL="0" indent="0">
              <a:buNone/>
              <a:defRPr sz="2530">
                <a:solidFill>
                  <a:schemeClr val="tx1">
                    <a:tint val="75000"/>
                  </a:schemeClr>
                </a:solidFill>
              </a:defRPr>
            </a:lvl1pPr>
            <a:lvl2pPr marL="481965" indent="0">
              <a:buNone/>
              <a:defRPr sz="2110">
                <a:solidFill>
                  <a:schemeClr val="tx1">
                    <a:tint val="75000"/>
                  </a:schemeClr>
                </a:solidFill>
              </a:defRPr>
            </a:lvl2pPr>
            <a:lvl3pPr marL="96456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446530" indent="0">
              <a:buNone/>
              <a:defRPr sz="1685">
                <a:solidFill>
                  <a:schemeClr val="tx1">
                    <a:tint val="75000"/>
                  </a:schemeClr>
                </a:solidFill>
              </a:defRPr>
            </a:lvl4pPr>
            <a:lvl5pPr marL="1928495" indent="0">
              <a:buNone/>
              <a:defRPr sz="1685">
                <a:solidFill>
                  <a:schemeClr val="tx1">
                    <a:tint val="75000"/>
                  </a:schemeClr>
                </a:solidFill>
              </a:defRPr>
            </a:lvl5pPr>
            <a:lvl6pPr marL="2411095" indent="0">
              <a:buNone/>
              <a:defRPr sz="1685">
                <a:solidFill>
                  <a:schemeClr val="tx1">
                    <a:tint val="75000"/>
                  </a:schemeClr>
                </a:solidFill>
              </a:defRPr>
            </a:lvl6pPr>
            <a:lvl7pPr marL="2893060" indent="0">
              <a:buNone/>
              <a:defRPr sz="1685">
                <a:solidFill>
                  <a:schemeClr val="tx1">
                    <a:tint val="75000"/>
                  </a:schemeClr>
                </a:solidFill>
              </a:defRPr>
            </a:lvl7pPr>
            <a:lvl8pPr marL="3375025" indent="0">
              <a:buNone/>
              <a:defRPr sz="1685">
                <a:solidFill>
                  <a:schemeClr val="tx1">
                    <a:tint val="75000"/>
                  </a:schemeClr>
                </a:solidFill>
              </a:defRPr>
            </a:lvl8pPr>
            <a:lvl9pPr marL="3856990" indent="0">
              <a:buNone/>
              <a:defRPr sz="168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84039" y="1925358"/>
            <a:ext cx="5464969" cy="458905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509742" y="1925358"/>
            <a:ext cx="5464969" cy="458905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5714" y="385072"/>
            <a:ext cx="11090672" cy="139797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85715" y="1773004"/>
            <a:ext cx="5439853" cy="868922"/>
          </a:xfrm>
        </p:spPr>
        <p:txBody>
          <a:bodyPr anchor="b"/>
          <a:lstStyle>
            <a:lvl1pPr marL="0" indent="0">
              <a:buNone/>
              <a:defRPr sz="2530" b="1"/>
            </a:lvl1pPr>
            <a:lvl2pPr marL="481965" indent="0">
              <a:buNone/>
              <a:defRPr sz="2110" b="1"/>
            </a:lvl2pPr>
            <a:lvl3pPr marL="964565" indent="0">
              <a:buNone/>
              <a:defRPr sz="1900" b="1"/>
            </a:lvl3pPr>
            <a:lvl4pPr marL="1446530" indent="0">
              <a:buNone/>
              <a:defRPr sz="1685" b="1"/>
            </a:lvl4pPr>
            <a:lvl5pPr marL="1928495" indent="0">
              <a:buNone/>
              <a:defRPr sz="1685" b="1"/>
            </a:lvl5pPr>
            <a:lvl6pPr marL="2411095" indent="0">
              <a:buNone/>
              <a:defRPr sz="1685" b="1"/>
            </a:lvl6pPr>
            <a:lvl7pPr marL="2893060" indent="0">
              <a:buNone/>
              <a:defRPr sz="1685" b="1"/>
            </a:lvl7pPr>
            <a:lvl8pPr marL="3375025" indent="0">
              <a:buNone/>
              <a:defRPr sz="1685" b="1"/>
            </a:lvl8pPr>
            <a:lvl9pPr marL="3856990" indent="0">
              <a:buNone/>
              <a:defRPr sz="1685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85715" y="2641926"/>
            <a:ext cx="5439853" cy="388587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509742" y="1773004"/>
            <a:ext cx="5466644" cy="868922"/>
          </a:xfrm>
        </p:spPr>
        <p:txBody>
          <a:bodyPr anchor="b"/>
          <a:lstStyle>
            <a:lvl1pPr marL="0" indent="0">
              <a:buNone/>
              <a:defRPr sz="2530" b="1"/>
            </a:lvl1pPr>
            <a:lvl2pPr marL="481965" indent="0">
              <a:buNone/>
              <a:defRPr sz="2110" b="1"/>
            </a:lvl2pPr>
            <a:lvl3pPr marL="964565" indent="0">
              <a:buNone/>
              <a:defRPr sz="1900" b="1"/>
            </a:lvl3pPr>
            <a:lvl4pPr marL="1446530" indent="0">
              <a:buNone/>
              <a:defRPr sz="1685" b="1"/>
            </a:lvl4pPr>
            <a:lvl5pPr marL="1928495" indent="0">
              <a:buNone/>
              <a:defRPr sz="1685" b="1"/>
            </a:lvl5pPr>
            <a:lvl6pPr marL="2411095" indent="0">
              <a:buNone/>
              <a:defRPr sz="1685" b="1"/>
            </a:lvl6pPr>
            <a:lvl7pPr marL="2893060" indent="0">
              <a:buNone/>
              <a:defRPr sz="1685" b="1"/>
            </a:lvl7pPr>
            <a:lvl8pPr marL="3375025" indent="0">
              <a:buNone/>
              <a:defRPr sz="1685" b="1"/>
            </a:lvl8pPr>
            <a:lvl9pPr marL="3856990" indent="0">
              <a:buNone/>
              <a:defRPr sz="1685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509742" y="2641926"/>
            <a:ext cx="5466644" cy="388587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5715" y="482177"/>
            <a:ext cx="4147281" cy="1687618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466644" y="1041368"/>
            <a:ext cx="6509742" cy="5139869"/>
          </a:xfrm>
        </p:spPr>
        <p:txBody>
          <a:bodyPr/>
          <a:lstStyle>
            <a:lvl1pPr>
              <a:defRPr sz="3375"/>
            </a:lvl1pPr>
            <a:lvl2pPr>
              <a:defRPr sz="2955"/>
            </a:lvl2pPr>
            <a:lvl3pPr>
              <a:defRPr sz="2530"/>
            </a:lvl3pPr>
            <a:lvl4pPr>
              <a:defRPr sz="2110"/>
            </a:lvl4pPr>
            <a:lvl5pPr>
              <a:defRPr sz="2110"/>
            </a:lvl5pPr>
            <a:lvl6pPr>
              <a:defRPr sz="2110"/>
            </a:lvl6pPr>
            <a:lvl7pPr>
              <a:defRPr sz="2110"/>
            </a:lvl7pPr>
            <a:lvl8pPr>
              <a:defRPr sz="2110"/>
            </a:lvl8pPr>
            <a:lvl9pPr>
              <a:defRPr sz="211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85715" y="2169795"/>
            <a:ext cx="4147281" cy="4019814"/>
          </a:xfrm>
        </p:spPr>
        <p:txBody>
          <a:bodyPr/>
          <a:lstStyle>
            <a:lvl1pPr marL="0" indent="0">
              <a:buNone/>
              <a:defRPr sz="1685"/>
            </a:lvl1pPr>
            <a:lvl2pPr marL="481965" indent="0">
              <a:buNone/>
              <a:defRPr sz="1475"/>
            </a:lvl2pPr>
            <a:lvl3pPr marL="964565" indent="0">
              <a:buNone/>
              <a:defRPr sz="1265"/>
            </a:lvl3pPr>
            <a:lvl4pPr marL="1446530" indent="0">
              <a:buNone/>
              <a:defRPr sz="1055"/>
            </a:lvl4pPr>
            <a:lvl5pPr marL="1928495" indent="0">
              <a:buNone/>
              <a:defRPr sz="1055"/>
            </a:lvl5pPr>
            <a:lvl6pPr marL="2411095" indent="0">
              <a:buNone/>
              <a:defRPr sz="1055"/>
            </a:lvl6pPr>
            <a:lvl7pPr marL="2893060" indent="0">
              <a:buNone/>
              <a:defRPr sz="1055"/>
            </a:lvl7pPr>
            <a:lvl8pPr marL="3375025" indent="0">
              <a:buNone/>
              <a:defRPr sz="1055"/>
            </a:lvl8pPr>
            <a:lvl9pPr marL="3856990" indent="0">
              <a:buNone/>
              <a:defRPr sz="1055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5715" y="482177"/>
            <a:ext cx="4147281" cy="1687618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466644" y="1041368"/>
            <a:ext cx="6509742" cy="5139869"/>
          </a:xfrm>
        </p:spPr>
        <p:txBody>
          <a:bodyPr/>
          <a:lstStyle>
            <a:lvl1pPr marL="0" indent="0">
              <a:buNone/>
              <a:defRPr sz="3375"/>
            </a:lvl1pPr>
            <a:lvl2pPr marL="481965" indent="0">
              <a:buNone/>
              <a:defRPr sz="2955"/>
            </a:lvl2pPr>
            <a:lvl3pPr marL="964565" indent="0">
              <a:buNone/>
              <a:defRPr sz="2530"/>
            </a:lvl3pPr>
            <a:lvl4pPr marL="1446530" indent="0">
              <a:buNone/>
              <a:defRPr sz="2110"/>
            </a:lvl4pPr>
            <a:lvl5pPr marL="1928495" indent="0">
              <a:buNone/>
              <a:defRPr sz="2110"/>
            </a:lvl5pPr>
            <a:lvl6pPr marL="2411095" indent="0">
              <a:buNone/>
              <a:defRPr sz="2110"/>
            </a:lvl6pPr>
            <a:lvl7pPr marL="2893060" indent="0">
              <a:buNone/>
              <a:defRPr sz="2110"/>
            </a:lvl7pPr>
            <a:lvl8pPr marL="3375025" indent="0">
              <a:buNone/>
              <a:defRPr sz="2110"/>
            </a:lvl8pPr>
            <a:lvl9pPr marL="3856990" indent="0">
              <a:buNone/>
              <a:defRPr sz="211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85715" y="2169795"/>
            <a:ext cx="4147281" cy="4019814"/>
          </a:xfrm>
        </p:spPr>
        <p:txBody>
          <a:bodyPr/>
          <a:lstStyle>
            <a:lvl1pPr marL="0" indent="0">
              <a:buNone/>
              <a:defRPr sz="1685"/>
            </a:lvl1pPr>
            <a:lvl2pPr marL="481965" indent="0">
              <a:buNone/>
              <a:defRPr sz="1475"/>
            </a:lvl2pPr>
            <a:lvl3pPr marL="964565" indent="0">
              <a:buNone/>
              <a:defRPr sz="1265"/>
            </a:lvl3pPr>
            <a:lvl4pPr marL="1446530" indent="0">
              <a:buNone/>
              <a:defRPr sz="1055"/>
            </a:lvl4pPr>
            <a:lvl5pPr marL="1928495" indent="0">
              <a:buNone/>
              <a:defRPr sz="1055"/>
            </a:lvl5pPr>
            <a:lvl6pPr marL="2411095" indent="0">
              <a:buNone/>
              <a:defRPr sz="1055"/>
            </a:lvl6pPr>
            <a:lvl7pPr marL="2893060" indent="0">
              <a:buNone/>
              <a:defRPr sz="1055"/>
            </a:lvl7pPr>
            <a:lvl8pPr marL="3375025" indent="0">
              <a:buNone/>
              <a:defRPr sz="1055"/>
            </a:lvl8pPr>
            <a:lvl9pPr marL="3856990" indent="0">
              <a:buNone/>
              <a:defRPr sz="1055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02043" y="385071"/>
            <a:ext cx="2772668" cy="61293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84039" y="385071"/>
            <a:ext cx="8157270" cy="61293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6C227-3E6F-4078-BB08-2654D0AE05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27EB-AB73-4860-A1B1-B2B84940B1D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crush"/>
      </p:transition>
    </mc:Choice>
    <mc:Fallback>
      <p:transition spd="slow" advTm="3000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07344" y="1183677"/>
            <a:ext cx="9644063" cy="2518034"/>
          </a:xfrm>
        </p:spPr>
        <p:txBody>
          <a:bodyPr anchor="b"/>
          <a:lstStyle>
            <a:lvl1pPr algn="ctr">
              <a:defRPr sz="633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07344" y="3798816"/>
            <a:ext cx="9644063" cy="1746216"/>
          </a:xfrm>
        </p:spPr>
        <p:txBody>
          <a:bodyPr/>
          <a:lstStyle>
            <a:lvl1pPr marL="0" indent="0" algn="ctr">
              <a:buNone/>
              <a:defRPr sz="2530"/>
            </a:lvl1pPr>
            <a:lvl2pPr marL="481965" indent="0" algn="ctr">
              <a:buNone/>
              <a:defRPr sz="2110"/>
            </a:lvl2pPr>
            <a:lvl3pPr marL="964565" indent="0" algn="ctr">
              <a:buNone/>
              <a:defRPr sz="1900"/>
            </a:lvl3pPr>
            <a:lvl4pPr marL="1446530" indent="0" algn="ctr">
              <a:buNone/>
              <a:defRPr sz="1685"/>
            </a:lvl4pPr>
            <a:lvl5pPr marL="1928495" indent="0" algn="ctr">
              <a:buNone/>
              <a:defRPr sz="1685"/>
            </a:lvl5pPr>
            <a:lvl6pPr marL="2411095" indent="0" algn="ctr">
              <a:buNone/>
              <a:defRPr sz="1685"/>
            </a:lvl6pPr>
            <a:lvl7pPr marL="2893060" indent="0" algn="ctr">
              <a:buNone/>
              <a:defRPr sz="1685"/>
            </a:lvl7pPr>
            <a:lvl8pPr marL="3375025" indent="0" algn="ctr">
              <a:buNone/>
              <a:defRPr sz="1685"/>
            </a:lvl8pPr>
            <a:lvl9pPr marL="3856990" indent="0" algn="ctr">
              <a:buNone/>
              <a:defRPr sz="1685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4CDC3-70A0-4694-BCB9-FE64AF7312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B8F1E-D995-4DB4-AA3C-DD0924E5E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4CDC3-70A0-4694-BCB9-FE64AF7312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B8F1E-D995-4DB4-AA3C-DD0924E5E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7342" y="1803141"/>
            <a:ext cx="11090672" cy="3008581"/>
          </a:xfrm>
        </p:spPr>
        <p:txBody>
          <a:bodyPr anchor="b"/>
          <a:lstStyle>
            <a:lvl1pPr>
              <a:defRPr sz="633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77342" y="4840184"/>
            <a:ext cx="11090672" cy="1582142"/>
          </a:xfrm>
        </p:spPr>
        <p:txBody>
          <a:bodyPr/>
          <a:lstStyle>
            <a:lvl1pPr marL="0" indent="0">
              <a:buNone/>
              <a:defRPr sz="2530">
                <a:solidFill>
                  <a:schemeClr val="tx1">
                    <a:tint val="75000"/>
                  </a:schemeClr>
                </a:solidFill>
              </a:defRPr>
            </a:lvl1pPr>
            <a:lvl2pPr marL="481965" indent="0">
              <a:buNone/>
              <a:defRPr sz="2110">
                <a:solidFill>
                  <a:schemeClr val="tx1">
                    <a:tint val="75000"/>
                  </a:schemeClr>
                </a:solidFill>
              </a:defRPr>
            </a:lvl2pPr>
            <a:lvl3pPr marL="96456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446530" indent="0">
              <a:buNone/>
              <a:defRPr sz="1685">
                <a:solidFill>
                  <a:schemeClr val="tx1">
                    <a:tint val="75000"/>
                  </a:schemeClr>
                </a:solidFill>
              </a:defRPr>
            </a:lvl4pPr>
            <a:lvl5pPr marL="1928495" indent="0">
              <a:buNone/>
              <a:defRPr sz="1685">
                <a:solidFill>
                  <a:schemeClr val="tx1">
                    <a:tint val="75000"/>
                  </a:schemeClr>
                </a:solidFill>
              </a:defRPr>
            </a:lvl5pPr>
            <a:lvl6pPr marL="2411095" indent="0">
              <a:buNone/>
              <a:defRPr sz="1685">
                <a:solidFill>
                  <a:schemeClr val="tx1">
                    <a:tint val="75000"/>
                  </a:schemeClr>
                </a:solidFill>
              </a:defRPr>
            </a:lvl6pPr>
            <a:lvl7pPr marL="2893060" indent="0">
              <a:buNone/>
              <a:defRPr sz="1685">
                <a:solidFill>
                  <a:schemeClr val="tx1">
                    <a:tint val="75000"/>
                  </a:schemeClr>
                </a:solidFill>
              </a:defRPr>
            </a:lvl7pPr>
            <a:lvl8pPr marL="3375025" indent="0">
              <a:buNone/>
              <a:defRPr sz="1685">
                <a:solidFill>
                  <a:schemeClr val="tx1">
                    <a:tint val="75000"/>
                  </a:schemeClr>
                </a:solidFill>
              </a:defRPr>
            </a:lvl8pPr>
            <a:lvl9pPr marL="3856990" indent="0">
              <a:buNone/>
              <a:defRPr sz="168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4CDC3-70A0-4694-BCB9-FE64AF7312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B8F1E-D995-4DB4-AA3C-DD0924E5E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84039" y="1925358"/>
            <a:ext cx="5464969" cy="458905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509742" y="1925358"/>
            <a:ext cx="5464969" cy="458905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4CDC3-70A0-4694-BCB9-FE64AF7312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B8F1E-D995-4DB4-AA3C-DD0924E5E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5714" y="385072"/>
            <a:ext cx="11090672" cy="139797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85715" y="1773004"/>
            <a:ext cx="5439853" cy="868922"/>
          </a:xfrm>
        </p:spPr>
        <p:txBody>
          <a:bodyPr anchor="b"/>
          <a:lstStyle>
            <a:lvl1pPr marL="0" indent="0">
              <a:buNone/>
              <a:defRPr sz="2530" b="1"/>
            </a:lvl1pPr>
            <a:lvl2pPr marL="481965" indent="0">
              <a:buNone/>
              <a:defRPr sz="2110" b="1"/>
            </a:lvl2pPr>
            <a:lvl3pPr marL="964565" indent="0">
              <a:buNone/>
              <a:defRPr sz="1900" b="1"/>
            </a:lvl3pPr>
            <a:lvl4pPr marL="1446530" indent="0">
              <a:buNone/>
              <a:defRPr sz="1685" b="1"/>
            </a:lvl4pPr>
            <a:lvl5pPr marL="1928495" indent="0">
              <a:buNone/>
              <a:defRPr sz="1685" b="1"/>
            </a:lvl5pPr>
            <a:lvl6pPr marL="2411095" indent="0">
              <a:buNone/>
              <a:defRPr sz="1685" b="1"/>
            </a:lvl6pPr>
            <a:lvl7pPr marL="2893060" indent="0">
              <a:buNone/>
              <a:defRPr sz="1685" b="1"/>
            </a:lvl7pPr>
            <a:lvl8pPr marL="3375025" indent="0">
              <a:buNone/>
              <a:defRPr sz="1685" b="1"/>
            </a:lvl8pPr>
            <a:lvl9pPr marL="3856990" indent="0">
              <a:buNone/>
              <a:defRPr sz="1685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85715" y="2641926"/>
            <a:ext cx="5439853" cy="388587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509742" y="1773004"/>
            <a:ext cx="5466644" cy="868922"/>
          </a:xfrm>
        </p:spPr>
        <p:txBody>
          <a:bodyPr anchor="b"/>
          <a:lstStyle>
            <a:lvl1pPr marL="0" indent="0">
              <a:buNone/>
              <a:defRPr sz="2530" b="1"/>
            </a:lvl1pPr>
            <a:lvl2pPr marL="481965" indent="0">
              <a:buNone/>
              <a:defRPr sz="2110" b="1"/>
            </a:lvl2pPr>
            <a:lvl3pPr marL="964565" indent="0">
              <a:buNone/>
              <a:defRPr sz="1900" b="1"/>
            </a:lvl3pPr>
            <a:lvl4pPr marL="1446530" indent="0">
              <a:buNone/>
              <a:defRPr sz="1685" b="1"/>
            </a:lvl4pPr>
            <a:lvl5pPr marL="1928495" indent="0">
              <a:buNone/>
              <a:defRPr sz="1685" b="1"/>
            </a:lvl5pPr>
            <a:lvl6pPr marL="2411095" indent="0">
              <a:buNone/>
              <a:defRPr sz="1685" b="1"/>
            </a:lvl6pPr>
            <a:lvl7pPr marL="2893060" indent="0">
              <a:buNone/>
              <a:defRPr sz="1685" b="1"/>
            </a:lvl7pPr>
            <a:lvl8pPr marL="3375025" indent="0">
              <a:buNone/>
              <a:defRPr sz="1685" b="1"/>
            </a:lvl8pPr>
            <a:lvl9pPr marL="3856990" indent="0">
              <a:buNone/>
              <a:defRPr sz="1685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509742" y="2641926"/>
            <a:ext cx="5466644" cy="388587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4CDC3-70A0-4694-BCB9-FE64AF7312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B8F1E-D995-4DB4-AA3C-DD0924E5E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4CDC3-70A0-4694-BCB9-FE64AF7312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B8F1E-D995-4DB4-AA3C-DD0924E5E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4CDC3-70A0-4694-BCB9-FE64AF7312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B8F1E-D995-4DB4-AA3C-DD0924E5E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5715" y="482177"/>
            <a:ext cx="4147281" cy="1687618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466644" y="1041368"/>
            <a:ext cx="6509742" cy="5139869"/>
          </a:xfrm>
        </p:spPr>
        <p:txBody>
          <a:bodyPr/>
          <a:lstStyle>
            <a:lvl1pPr>
              <a:defRPr sz="3375"/>
            </a:lvl1pPr>
            <a:lvl2pPr>
              <a:defRPr sz="2955"/>
            </a:lvl2pPr>
            <a:lvl3pPr>
              <a:defRPr sz="2530"/>
            </a:lvl3pPr>
            <a:lvl4pPr>
              <a:defRPr sz="2110"/>
            </a:lvl4pPr>
            <a:lvl5pPr>
              <a:defRPr sz="2110"/>
            </a:lvl5pPr>
            <a:lvl6pPr>
              <a:defRPr sz="2110"/>
            </a:lvl6pPr>
            <a:lvl7pPr>
              <a:defRPr sz="2110"/>
            </a:lvl7pPr>
            <a:lvl8pPr>
              <a:defRPr sz="2110"/>
            </a:lvl8pPr>
            <a:lvl9pPr>
              <a:defRPr sz="211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85715" y="2169795"/>
            <a:ext cx="4147281" cy="4019814"/>
          </a:xfrm>
        </p:spPr>
        <p:txBody>
          <a:bodyPr/>
          <a:lstStyle>
            <a:lvl1pPr marL="0" indent="0">
              <a:buNone/>
              <a:defRPr sz="1685"/>
            </a:lvl1pPr>
            <a:lvl2pPr marL="481965" indent="0">
              <a:buNone/>
              <a:defRPr sz="1475"/>
            </a:lvl2pPr>
            <a:lvl3pPr marL="964565" indent="0">
              <a:buNone/>
              <a:defRPr sz="1265"/>
            </a:lvl3pPr>
            <a:lvl4pPr marL="1446530" indent="0">
              <a:buNone/>
              <a:defRPr sz="1055"/>
            </a:lvl4pPr>
            <a:lvl5pPr marL="1928495" indent="0">
              <a:buNone/>
              <a:defRPr sz="1055"/>
            </a:lvl5pPr>
            <a:lvl6pPr marL="2411095" indent="0">
              <a:buNone/>
              <a:defRPr sz="1055"/>
            </a:lvl6pPr>
            <a:lvl7pPr marL="2893060" indent="0">
              <a:buNone/>
              <a:defRPr sz="1055"/>
            </a:lvl7pPr>
            <a:lvl8pPr marL="3375025" indent="0">
              <a:buNone/>
              <a:defRPr sz="1055"/>
            </a:lvl8pPr>
            <a:lvl9pPr marL="3856990" indent="0">
              <a:buNone/>
              <a:defRPr sz="1055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4CDC3-70A0-4694-BCB9-FE64AF7312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B8F1E-D995-4DB4-AA3C-DD0924E5E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5715" y="482177"/>
            <a:ext cx="4147281" cy="1687618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466644" y="1041368"/>
            <a:ext cx="6509742" cy="5139869"/>
          </a:xfrm>
        </p:spPr>
        <p:txBody>
          <a:bodyPr/>
          <a:lstStyle>
            <a:lvl1pPr marL="0" indent="0">
              <a:buNone/>
              <a:defRPr sz="3375"/>
            </a:lvl1pPr>
            <a:lvl2pPr marL="481965" indent="0">
              <a:buNone/>
              <a:defRPr sz="2955"/>
            </a:lvl2pPr>
            <a:lvl3pPr marL="964565" indent="0">
              <a:buNone/>
              <a:defRPr sz="2530"/>
            </a:lvl3pPr>
            <a:lvl4pPr marL="1446530" indent="0">
              <a:buNone/>
              <a:defRPr sz="2110"/>
            </a:lvl4pPr>
            <a:lvl5pPr marL="1928495" indent="0">
              <a:buNone/>
              <a:defRPr sz="2110"/>
            </a:lvl5pPr>
            <a:lvl6pPr marL="2411095" indent="0">
              <a:buNone/>
              <a:defRPr sz="2110"/>
            </a:lvl6pPr>
            <a:lvl7pPr marL="2893060" indent="0">
              <a:buNone/>
              <a:defRPr sz="2110"/>
            </a:lvl7pPr>
            <a:lvl8pPr marL="3375025" indent="0">
              <a:buNone/>
              <a:defRPr sz="2110"/>
            </a:lvl8pPr>
            <a:lvl9pPr marL="3856990" indent="0">
              <a:buNone/>
              <a:defRPr sz="211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85715" y="2169795"/>
            <a:ext cx="4147281" cy="4019814"/>
          </a:xfrm>
        </p:spPr>
        <p:txBody>
          <a:bodyPr/>
          <a:lstStyle>
            <a:lvl1pPr marL="0" indent="0">
              <a:buNone/>
              <a:defRPr sz="1685"/>
            </a:lvl1pPr>
            <a:lvl2pPr marL="481965" indent="0">
              <a:buNone/>
              <a:defRPr sz="1475"/>
            </a:lvl2pPr>
            <a:lvl3pPr marL="964565" indent="0">
              <a:buNone/>
              <a:defRPr sz="1265"/>
            </a:lvl3pPr>
            <a:lvl4pPr marL="1446530" indent="0">
              <a:buNone/>
              <a:defRPr sz="1055"/>
            </a:lvl4pPr>
            <a:lvl5pPr marL="1928495" indent="0">
              <a:buNone/>
              <a:defRPr sz="1055"/>
            </a:lvl5pPr>
            <a:lvl6pPr marL="2411095" indent="0">
              <a:buNone/>
              <a:defRPr sz="1055"/>
            </a:lvl6pPr>
            <a:lvl7pPr marL="2893060" indent="0">
              <a:buNone/>
              <a:defRPr sz="1055"/>
            </a:lvl7pPr>
            <a:lvl8pPr marL="3375025" indent="0">
              <a:buNone/>
              <a:defRPr sz="1055"/>
            </a:lvl8pPr>
            <a:lvl9pPr marL="3856990" indent="0">
              <a:buNone/>
              <a:defRPr sz="1055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4CDC3-70A0-4694-BCB9-FE64AF7312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B8F1E-D995-4DB4-AA3C-DD0924E5E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4CDC3-70A0-4694-BCB9-FE64AF7312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B8F1E-D995-4DB4-AA3C-DD0924E5E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02043" y="385071"/>
            <a:ext cx="2772668" cy="61293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84039" y="385071"/>
            <a:ext cx="8157270" cy="61293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4CDC3-70A0-4694-BCB9-FE64AF7312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B8F1E-D995-4DB4-AA3C-DD0924E5E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6C227-3E6F-4078-BB08-2654D0AE05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27EB-AB73-4860-A1B1-B2B84940B1D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crush"/>
      </p:transition>
    </mc:Choice>
    <mc:Fallback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4" Type="http://schemas.openxmlformats.org/officeDocument/2006/relationships/theme" Target="../theme/theme2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84238" y="385763"/>
            <a:ext cx="11090275" cy="1397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238" y="1925638"/>
            <a:ext cx="11090275" cy="4589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423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06C227-3E6F-4078-BB08-2654D0AE05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259263" y="6704013"/>
            <a:ext cx="43402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08208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1427EB-AB73-4860-A1B1-B2B84940B1D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crush"/>
      </p:transition>
    </mc:Choice>
    <mc:Fallback>
      <p:transition spd="slow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84039" y="385072"/>
            <a:ext cx="11090672" cy="13979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039" y="1925358"/>
            <a:ext cx="11090672" cy="458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+mn-lt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+mn-lt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+mn-lt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84039" y="385072"/>
            <a:ext cx="11090672" cy="13979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039" y="1925358"/>
            <a:ext cx="11090672" cy="458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94CDC3-70A0-4694-BCB9-FE64AF7312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B8F1E-D995-4DB4-AA3C-DD0924E5EB1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+mn-lt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+mn-lt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+mn-lt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07/relationships/media" Target="../media/media1.mp3"/><Relationship Id="rId3" Type="http://schemas.openxmlformats.org/officeDocument/2006/relationships/audio" Target="../media/media1.mp3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2.xml"/><Relationship Id="rId2" Type="http://schemas.openxmlformats.org/officeDocument/2006/relationships/tags" Target="../tags/tag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jpeg"/><Relationship Id="rId8" Type="http://schemas.openxmlformats.org/officeDocument/2006/relationships/image" Target="../media/image14.jpeg"/><Relationship Id="rId7" Type="http://schemas.openxmlformats.org/officeDocument/2006/relationships/image" Target="../media/image13.jpeg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2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5" Type="http://schemas.openxmlformats.org/officeDocument/2006/relationships/notesSlide" Target="../notesSlides/notesSlide14.xml"/><Relationship Id="rId14" Type="http://schemas.openxmlformats.org/officeDocument/2006/relationships/slideLayout" Target="../slideLayouts/slideLayout22.xml"/><Relationship Id="rId13" Type="http://schemas.openxmlformats.org/officeDocument/2006/relationships/image" Target="../media/image30.png"/><Relationship Id="rId12" Type="http://schemas.openxmlformats.org/officeDocument/2006/relationships/image" Target="../media/image29.png"/><Relationship Id="rId11" Type="http://schemas.openxmlformats.org/officeDocument/2006/relationships/image" Target="../media/image28.png"/><Relationship Id="rId10" Type="http://schemas.openxmlformats.org/officeDocument/2006/relationships/image" Target="../media/image27.png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png"/><Relationship Id="rId8" Type="http://schemas.openxmlformats.org/officeDocument/2006/relationships/image" Target="../media/image38.png"/><Relationship Id="rId7" Type="http://schemas.openxmlformats.org/officeDocument/2006/relationships/image" Target="../media/image37.png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7" Type="http://schemas.openxmlformats.org/officeDocument/2006/relationships/slideLayout" Target="../slideLayouts/slideLayout23.xml"/><Relationship Id="rId16" Type="http://schemas.openxmlformats.org/officeDocument/2006/relationships/image" Target="../media/image46.png"/><Relationship Id="rId15" Type="http://schemas.openxmlformats.org/officeDocument/2006/relationships/image" Target="../media/image45.png"/><Relationship Id="rId14" Type="http://schemas.openxmlformats.org/officeDocument/2006/relationships/image" Target="../media/image44.png"/><Relationship Id="rId13" Type="http://schemas.openxmlformats.org/officeDocument/2006/relationships/image" Target="../media/image43.png"/><Relationship Id="rId12" Type="http://schemas.openxmlformats.org/officeDocument/2006/relationships/image" Target="../media/image42.png"/><Relationship Id="rId11" Type="http://schemas.openxmlformats.org/officeDocument/2006/relationships/image" Target="../media/image41.png"/><Relationship Id="rId10" Type="http://schemas.openxmlformats.org/officeDocument/2006/relationships/image" Target="../media/image40.png"/><Relationship Id="rId1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2.xml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png"/><Relationship Id="rId8" Type="http://schemas.openxmlformats.org/officeDocument/2006/relationships/image" Target="../media/image56.png"/><Relationship Id="rId7" Type="http://schemas.openxmlformats.org/officeDocument/2006/relationships/image" Target="../media/image55.png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7" Type="http://schemas.openxmlformats.org/officeDocument/2006/relationships/slideLayout" Target="../slideLayouts/slideLayout23.xml"/><Relationship Id="rId16" Type="http://schemas.openxmlformats.org/officeDocument/2006/relationships/image" Target="../media/image62.png"/><Relationship Id="rId15" Type="http://schemas.openxmlformats.org/officeDocument/2006/relationships/image" Target="../media/image61.png"/><Relationship Id="rId14" Type="http://schemas.openxmlformats.org/officeDocument/2006/relationships/image" Target="../media/image60.png"/><Relationship Id="rId13" Type="http://schemas.openxmlformats.org/officeDocument/2006/relationships/image" Target="../media/image59.png"/><Relationship Id="rId12" Type="http://schemas.openxmlformats.org/officeDocument/2006/relationships/image" Target="../media/image25.png"/><Relationship Id="rId11" Type="http://schemas.openxmlformats.org/officeDocument/2006/relationships/image" Target="../media/image24.png"/><Relationship Id="rId10" Type="http://schemas.openxmlformats.org/officeDocument/2006/relationships/image" Target="../media/image58.png"/><Relationship Id="rId1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1.png"/><Relationship Id="rId8" Type="http://schemas.openxmlformats.org/officeDocument/2006/relationships/image" Target="../media/image70.png"/><Relationship Id="rId7" Type="http://schemas.openxmlformats.org/officeDocument/2006/relationships/image" Target="../media/image69.png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4" Type="http://schemas.openxmlformats.org/officeDocument/2006/relationships/slideLayout" Target="../slideLayouts/slideLayout23.xml"/><Relationship Id="rId13" Type="http://schemas.openxmlformats.org/officeDocument/2006/relationships/image" Target="../media/image75.png"/><Relationship Id="rId12" Type="http://schemas.openxmlformats.org/officeDocument/2006/relationships/image" Target="../media/image74.png"/><Relationship Id="rId11" Type="http://schemas.openxmlformats.org/officeDocument/2006/relationships/image" Target="../media/image73.png"/><Relationship Id="rId10" Type="http://schemas.openxmlformats.org/officeDocument/2006/relationships/image" Target="../media/image72.png"/><Relationship Id="rId1" Type="http://schemas.openxmlformats.org/officeDocument/2006/relationships/image" Target="../media/image6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7" Type="http://schemas.openxmlformats.org/officeDocument/2006/relationships/image" Target="../media/image81.png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Relationship Id="rId3" Type="http://schemas.openxmlformats.org/officeDocument/2006/relationships/image" Target="../media/image77.png"/><Relationship Id="rId2" Type="http://schemas.openxmlformats.org/officeDocument/2006/relationships/tags" Target="../tags/tag6.xml"/><Relationship Id="rId1" Type="http://schemas.openxmlformats.org/officeDocument/2006/relationships/image" Target="../media/image76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88.png"/><Relationship Id="rId8" Type="http://schemas.openxmlformats.org/officeDocument/2006/relationships/image" Target="../media/image87.png"/><Relationship Id="rId7" Type="http://schemas.openxmlformats.org/officeDocument/2006/relationships/image" Target="../media/image86.png"/><Relationship Id="rId6" Type="http://schemas.openxmlformats.org/officeDocument/2006/relationships/image" Target="../media/image85.png"/><Relationship Id="rId5" Type="http://schemas.openxmlformats.org/officeDocument/2006/relationships/image" Target="../media/image25.png"/><Relationship Id="rId4" Type="http://schemas.openxmlformats.org/officeDocument/2006/relationships/image" Target="../media/image84.png"/><Relationship Id="rId3" Type="http://schemas.openxmlformats.org/officeDocument/2006/relationships/image" Target="../media/image24.png"/><Relationship Id="rId2" Type="http://schemas.openxmlformats.org/officeDocument/2006/relationships/image" Target="../media/image83.png"/><Relationship Id="rId12" Type="http://schemas.openxmlformats.org/officeDocument/2006/relationships/slideLayout" Target="../slideLayouts/slideLayout23.xml"/><Relationship Id="rId11" Type="http://schemas.openxmlformats.org/officeDocument/2006/relationships/image" Target="../media/image90.png"/><Relationship Id="rId10" Type="http://schemas.openxmlformats.org/officeDocument/2006/relationships/image" Target="../media/image89.png"/><Relationship Id="rId1" Type="http://schemas.openxmlformats.org/officeDocument/2006/relationships/image" Target="../media/image82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2.xml"/><Relationship Id="rId4" Type="http://schemas.openxmlformats.org/officeDocument/2006/relationships/image" Target="../media/image94.png"/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image" Target="../media/image91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2.png"/><Relationship Id="rId8" Type="http://schemas.openxmlformats.org/officeDocument/2006/relationships/image" Target="../media/image101.png"/><Relationship Id="rId7" Type="http://schemas.openxmlformats.org/officeDocument/2006/relationships/image" Target="../media/image100.png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6" Type="http://schemas.openxmlformats.org/officeDocument/2006/relationships/notesSlide" Target="../notesSlides/notesSlide17.xml"/><Relationship Id="rId15" Type="http://schemas.openxmlformats.org/officeDocument/2006/relationships/slideLayout" Target="../slideLayouts/slideLayout22.xml"/><Relationship Id="rId14" Type="http://schemas.openxmlformats.org/officeDocument/2006/relationships/image" Target="../media/image107.png"/><Relationship Id="rId13" Type="http://schemas.openxmlformats.org/officeDocument/2006/relationships/image" Target="../media/image106.png"/><Relationship Id="rId12" Type="http://schemas.openxmlformats.org/officeDocument/2006/relationships/image" Target="../media/image105.png"/><Relationship Id="rId11" Type="http://schemas.openxmlformats.org/officeDocument/2006/relationships/image" Target="../media/image104.png"/><Relationship Id="rId10" Type="http://schemas.openxmlformats.org/officeDocument/2006/relationships/image" Target="../media/image103.png"/><Relationship Id="rId1" Type="http://schemas.openxmlformats.org/officeDocument/2006/relationships/hyperlink" Target="https://github.com/zendesk/maxwell/releases/download/v1.29.2/maxwell-1.29.2.tar.gz" TargetMode="External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22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image" Target="../media/image10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13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image" Target="../media/image11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image" Target="../media/image1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20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122.png"/><Relationship Id="rId1" Type="http://schemas.openxmlformats.org/officeDocument/2006/relationships/image" Target="../media/image1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2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126.png"/><Relationship Id="rId1" Type="http://schemas.openxmlformats.org/officeDocument/2006/relationships/image" Target="../media/image125.png"/></Relationships>
</file>

<file path=ppt/slides/_rels/slide3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9.xml"/><Relationship Id="rId6" Type="http://schemas.openxmlformats.org/officeDocument/2006/relationships/slideLayout" Target="../slideLayouts/slideLayout22.xml"/><Relationship Id="rId5" Type="http://schemas.openxmlformats.org/officeDocument/2006/relationships/image" Target="../media/image131.png"/><Relationship Id="rId4" Type="http://schemas.openxmlformats.org/officeDocument/2006/relationships/image" Target="../media/image130.png"/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image" Target="../media/image127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133.png"/><Relationship Id="rId1" Type="http://schemas.openxmlformats.org/officeDocument/2006/relationships/image" Target="../media/image13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34.png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image" Target="../media/image131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3.xml"/><Relationship Id="rId7" Type="http://schemas.openxmlformats.org/officeDocument/2006/relationships/slideLayout" Target="../slideLayouts/slideLayout22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tags" Target="../tags/tag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4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7" Type="http://schemas.openxmlformats.org/officeDocument/2006/relationships/image" Target="../media/image149.png"/><Relationship Id="rId6" Type="http://schemas.openxmlformats.org/officeDocument/2006/relationships/image" Target="../media/image148.png"/><Relationship Id="rId5" Type="http://schemas.openxmlformats.org/officeDocument/2006/relationships/image" Target="../media/image147.png"/><Relationship Id="rId4" Type="http://schemas.openxmlformats.org/officeDocument/2006/relationships/image" Target="../media/image146.png"/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image" Target="../media/image143.png"/></Relationships>
</file>

<file path=ppt/slides/_rels/slide4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3.xml"/><Relationship Id="rId6" Type="http://schemas.openxmlformats.org/officeDocument/2006/relationships/image" Target="../media/image155.png"/><Relationship Id="rId5" Type="http://schemas.openxmlformats.org/officeDocument/2006/relationships/image" Target="../media/image154.png"/><Relationship Id="rId4" Type="http://schemas.openxmlformats.org/officeDocument/2006/relationships/image" Target="../media/image153.png"/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image" Target="../media/image150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image" Target="../media/image158.png"/><Relationship Id="rId2" Type="http://schemas.openxmlformats.org/officeDocument/2006/relationships/image" Target="../media/image157.png"/><Relationship Id="rId1" Type="http://schemas.openxmlformats.org/officeDocument/2006/relationships/image" Target="../media/image156.png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3.xml"/><Relationship Id="rId4" Type="http://schemas.openxmlformats.org/officeDocument/2006/relationships/image" Target="../media/image162.png"/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image" Target="../media/image15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164.png"/><Relationship Id="rId1" Type="http://schemas.openxmlformats.org/officeDocument/2006/relationships/image" Target="../media/image163.png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6.xml"/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167.png"/><Relationship Id="rId2" Type="http://schemas.openxmlformats.org/officeDocument/2006/relationships/image" Target="../media/image166.png"/><Relationship Id="rId1" Type="http://schemas.openxmlformats.org/officeDocument/2006/relationships/image" Target="../media/image165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8.xml"/><Relationship Id="rId3" Type="http://schemas.openxmlformats.org/officeDocument/2006/relationships/image" Target="../media/image170.png"/><Relationship Id="rId2" Type="http://schemas.openxmlformats.org/officeDocument/2006/relationships/image" Target="../media/image169.png"/><Relationship Id="rId1" Type="http://schemas.openxmlformats.org/officeDocument/2006/relationships/image" Target="../media/image168.png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7.xml"/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173.png"/><Relationship Id="rId2" Type="http://schemas.openxmlformats.org/officeDocument/2006/relationships/image" Target="../media/image172.png"/><Relationship Id="rId1" Type="http://schemas.openxmlformats.org/officeDocument/2006/relationships/image" Target="../media/image171.png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8.xml"/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176.png"/><Relationship Id="rId2" Type="http://schemas.openxmlformats.org/officeDocument/2006/relationships/image" Target="../media/image175.png"/><Relationship Id="rId1" Type="http://schemas.openxmlformats.org/officeDocument/2006/relationships/image" Target="../media/image174.png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9.xml"/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" Type="http://schemas.openxmlformats.org/officeDocument/2006/relationships/image" Target="../media/image17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181.png"/><Relationship Id="rId1" Type="http://schemas.openxmlformats.org/officeDocument/2006/relationships/image" Target="../media/image180.png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image" Target="../media/image184.png"/><Relationship Id="rId2" Type="http://schemas.openxmlformats.org/officeDocument/2006/relationships/image" Target="../media/image183.png"/><Relationship Id="rId1" Type="http://schemas.openxmlformats.org/officeDocument/2006/relationships/image" Target="../media/image182.png"/></Relationships>
</file>

<file path=ppt/slides/_rels/slide5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3.xml"/><Relationship Id="rId4" Type="http://schemas.openxmlformats.org/officeDocument/2006/relationships/image" Target="../media/image188.png"/><Relationship Id="rId3" Type="http://schemas.openxmlformats.org/officeDocument/2006/relationships/image" Target="../media/image187.png"/><Relationship Id="rId2" Type="http://schemas.openxmlformats.org/officeDocument/2006/relationships/image" Target="../media/image186.png"/><Relationship Id="rId1" Type="http://schemas.openxmlformats.org/officeDocument/2006/relationships/image" Target="../media/image185.png"/></Relationships>
</file>

<file path=ppt/slides/_rels/slide5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3.xml"/><Relationship Id="rId4" Type="http://schemas.openxmlformats.org/officeDocument/2006/relationships/image" Target="../media/image192.png"/><Relationship Id="rId3" Type="http://schemas.openxmlformats.org/officeDocument/2006/relationships/image" Target="../media/image191.png"/><Relationship Id="rId2" Type="http://schemas.openxmlformats.org/officeDocument/2006/relationships/image" Target="../media/image190.png"/><Relationship Id="rId1" Type="http://schemas.openxmlformats.org/officeDocument/2006/relationships/image" Target="../media/image189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93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2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3.xml"/><Relationship Id="rId7" Type="http://schemas.openxmlformats.org/officeDocument/2006/relationships/slideLayout" Target="../slideLayouts/slideLayout22.xml"/><Relationship Id="rId6" Type="http://schemas.openxmlformats.org/officeDocument/2006/relationships/image" Target="../media/image199.png"/><Relationship Id="rId5" Type="http://schemas.openxmlformats.org/officeDocument/2006/relationships/image" Target="../media/image198.png"/><Relationship Id="rId4" Type="http://schemas.openxmlformats.org/officeDocument/2006/relationships/image" Target="../media/image197.png"/><Relationship Id="rId3" Type="http://schemas.openxmlformats.org/officeDocument/2006/relationships/image" Target="../media/image196.png"/><Relationship Id="rId2" Type="http://schemas.openxmlformats.org/officeDocument/2006/relationships/image" Target="../media/image195.png"/><Relationship Id="rId1" Type="http://schemas.openxmlformats.org/officeDocument/2006/relationships/image" Target="../media/image194.png"/></Relationships>
</file>

<file path=ppt/slides/_rels/slide6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4.xml"/><Relationship Id="rId8" Type="http://schemas.openxmlformats.org/officeDocument/2006/relationships/slideLayout" Target="../slideLayouts/slideLayout22.xml"/><Relationship Id="rId7" Type="http://schemas.openxmlformats.org/officeDocument/2006/relationships/image" Target="../media/image206.png"/><Relationship Id="rId6" Type="http://schemas.openxmlformats.org/officeDocument/2006/relationships/image" Target="../media/image205.png"/><Relationship Id="rId5" Type="http://schemas.openxmlformats.org/officeDocument/2006/relationships/image" Target="../media/image204.png"/><Relationship Id="rId4" Type="http://schemas.openxmlformats.org/officeDocument/2006/relationships/image" Target="../media/image203.png"/><Relationship Id="rId3" Type="http://schemas.openxmlformats.org/officeDocument/2006/relationships/image" Target="../media/image202.png"/><Relationship Id="rId2" Type="http://schemas.openxmlformats.org/officeDocument/2006/relationships/image" Target="../media/image201.png"/><Relationship Id="rId1" Type="http://schemas.openxmlformats.org/officeDocument/2006/relationships/image" Target="../media/image200.png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image" Target="../media/image214.png"/><Relationship Id="rId7" Type="http://schemas.openxmlformats.org/officeDocument/2006/relationships/image" Target="../media/image213.png"/><Relationship Id="rId6" Type="http://schemas.openxmlformats.org/officeDocument/2006/relationships/image" Target="../media/image212.png"/><Relationship Id="rId5" Type="http://schemas.openxmlformats.org/officeDocument/2006/relationships/image" Target="../media/image211.png"/><Relationship Id="rId4" Type="http://schemas.openxmlformats.org/officeDocument/2006/relationships/image" Target="../media/image210.png"/><Relationship Id="rId3" Type="http://schemas.openxmlformats.org/officeDocument/2006/relationships/image" Target="../media/image209.png"/><Relationship Id="rId2" Type="http://schemas.openxmlformats.org/officeDocument/2006/relationships/image" Target="../media/image208.png"/><Relationship Id="rId10" Type="http://schemas.openxmlformats.org/officeDocument/2006/relationships/notesSlide" Target="../notesSlides/notesSlide45.xml"/><Relationship Id="rId1" Type="http://schemas.openxmlformats.org/officeDocument/2006/relationships/image" Target="../media/image207.png"/></Relationships>
</file>

<file path=ppt/slides/_rels/slide6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image" Target="../media/image222.png"/><Relationship Id="rId7" Type="http://schemas.openxmlformats.org/officeDocument/2006/relationships/image" Target="../media/image221.png"/><Relationship Id="rId6" Type="http://schemas.openxmlformats.org/officeDocument/2006/relationships/image" Target="../media/image220.png"/><Relationship Id="rId5" Type="http://schemas.openxmlformats.org/officeDocument/2006/relationships/image" Target="../media/image219.png"/><Relationship Id="rId4" Type="http://schemas.openxmlformats.org/officeDocument/2006/relationships/image" Target="../media/image218.png"/><Relationship Id="rId3" Type="http://schemas.openxmlformats.org/officeDocument/2006/relationships/image" Target="../media/image217.png"/><Relationship Id="rId2" Type="http://schemas.openxmlformats.org/officeDocument/2006/relationships/image" Target="../media/image216.png"/><Relationship Id="rId10" Type="http://schemas.openxmlformats.org/officeDocument/2006/relationships/notesSlide" Target="../notesSlides/notesSlide46.xml"/><Relationship Id="rId1" Type="http://schemas.openxmlformats.org/officeDocument/2006/relationships/image" Target="../media/image215.png"/></Relationships>
</file>

<file path=ppt/slides/_rels/slide6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7.xml"/><Relationship Id="rId5" Type="http://schemas.openxmlformats.org/officeDocument/2006/relationships/slideLayout" Target="../slideLayouts/slideLayout22.xml"/><Relationship Id="rId4" Type="http://schemas.openxmlformats.org/officeDocument/2006/relationships/image" Target="../media/image226.png"/><Relationship Id="rId3" Type="http://schemas.openxmlformats.org/officeDocument/2006/relationships/image" Target="../media/image225.png"/><Relationship Id="rId2" Type="http://schemas.openxmlformats.org/officeDocument/2006/relationships/image" Target="../media/image224.png"/><Relationship Id="rId1" Type="http://schemas.openxmlformats.org/officeDocument/2006/relationships/image" Target="../media/image223.png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8.xml"/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228.png"/><Relationship Id="rId1" Type="http://schemas.openxmlformats.org/officeDocument/2006/relationships/image" Target="../media/image227.png"/></Relationships>
</file>

<file path=ppt/slides/_rels/slide6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9.xml"/><Relationship Id="rId5" Type="http://schemas.openxmlformats.org/officeDocument/2006/relationships/slideLayout" Target="../slideLayouts/slideLayout22.xml"/><Relationship Id="rId4" Type="http://schemas.openxmlformats.org/officeDocument/2006/relationships/image" Target="../media/image232.png"/><Relationship Id="rId3" Type="http://schemas.openxmlformats.org/officeDocument/2006/relationships/image" Target="../media/image231.png"/><Relationship Id="rId2" Type="http://schemas.openxmlformats.org/officeDocument/2006/relationships/image" Target="../media/image230.png"/><Relationship Id="rId1" Type="http://schemas.openxmlformats.org/officeDocument/2006/relationships/image" Target="../media/image229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33.png"/></Relationships>
</file>

<file path=ppt/slides/_rels/slide6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1.xml"/><Relationship Id="rId5" Type="http://schemas.openxmlformats.org/officeDocument/2006/relationships/slideLayout" Target="../slideLayouts/slideLayout22.xml"/><Relationship Id="rId4" Type="http://schemas.openxmlformats.org/officeDocument/2006/relationships/image" Target="../media/image237.png"/><Relationship Id="rId3" Type="http://schemas.openxmlformats.org/officeDocument/2006/relationships/image" Target="../media/image236.png"/><Relationship Id="rId2" Type="http://schemas.openxmlformats.org/officeDocument/2006/relationships/image" Target="../media/image235.png"/><Relationship Id="rId1" Type="http://schemas.openxmlformats.org/officeDocument/2006/relationships/image" Target="../media/image234.png"/></Relationships>
</file>

<file path=ppt/slides/_rels/slide6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2.xml"/><Relationship Id="rId5" Type="http://schemas.openxmlformats.org/officeDocument/2006/relationships/slideLayout" Target="../slideLayouts/slideLayout22.xml"/><Relationship Id="rId4" Type="http://schemas.openxmlformats.org/officeDocument/2006/relationships/image" Target="../media/image241.png"/><Relationship Id="rId3" Type="http://schemas.openxmlformats.org/officeDocument/2006/relationships/image" Target="../media/image240.png"/><Relationship Id="rId2" Type="http://schemas.openxmlformats.org/officeDocument/2006/relationships/image" Target="../media/image239.png"/><Relationship Id="rId1" Type="http://schemas.openxmlformats.org/officeDocument/2006/relationships/image" Target="../media/image238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42.png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4.xml"/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7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5.xml"/><Relationship Id="rId6" Type="http://schemas.openxmlformats.org/officeDocument/2006/relationships/slideLayout" Target="../slideLayouts/slideLayout22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image" Target="../media/image243.jpeg"/><Relationship Id="rId2" Type="http://schemas.openxmlformats.org/officeDocument/2006/relationships/tags" Target="../tags/tag8.xml"/><Relationship Id="rId1" Type="http://schemas.openxmlformats.org/officeDocument/2006/relationships/image" Target="../media/image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231949"/>
            <a:ext cx="12858751" cy="6624736"/>
            <a:chOff x="0" y="231949"/>
            <a:chExt cx="12858751" cy="6624736"/>
          </a:xfrm>
        </p:grpSpPr>
        <p:sp>
          <p:nvSpPr>
            <p:cNvPr id="8" name="矩形 7"/>
            <p:cNvSpPr/>
            <p:nvPr/>
          </p:nvSpPr>
          <p:spPr>
            <a:xfrm>
              <a:off x="0" y="3501098"/>
              <a:ext cx="12858751" cy="3355587"/>
            </a:xfrm>
            <a:prstGeom prst="rect">
              <a:avLst/>
            </a:prstGeom>
            <a:solidFill>
              <a:srgbClr val="0F35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0" y="231949"/>
              <a:ext cx="12858750" cy="144016"/>
            </a:xfrm>
            <a:prstGeom prst="rect">
              <a:avLst/>
            </a:prstGeom>
            <a:solidFill>
              <a:srgbClr val="0F35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TextBox 84"/>
            <p:cNvSpPr txBox="1"/>
            <p:nvPr/>
          </p:nvSpPr>
          <p:spPr>
            <a:xfrm>
              <a:off x="937243" y="3960263"/>
              <a:ext cx="10984264" cy="738505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 algn="ctr"/>
              <a:r>
                <a:rPr lang="zh-CN" altLang="en-US" sz="4800" b="1" spc="300" dirty="0">
                  <a:solidFill>
                    <a:schemeClr val="bg1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sym typeface="Century Gothic" panose="020B0502020202020204" pitchFamily="34" charset="0"/>
                </a:rPr>
                <a:t>在线教育离线数仓</a:t>
              </a:r>
              <a:r>
                <a:rPr lang="en-US" altLang="zh-CN" sz="4800" b="1" spc="300" dirty="0">
                  <a:solidFill>
                    <a:schemeClr val="bg1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sym typeface="Century Gothic" panose="020B0502020202020204" pitchFamily="34" charset="0"/>
                </a:rPr>
                <a:t>0-1</a:t>
              </a:r>
              <a:r>
                <a:rPr lang="zh-CN" altLang="en-US" sz="4800" b="1" spc="300" dirty="0">
                  <a:solidFill>
                    <a:schemeClr val="bg1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sym typeface="Century Gothic" panose="020B0502020202020204" pitchFamily="34" charset="0"/>
                </a:rPr>
                <a:t>构建</a:t>
              </a:r>
              <a:endParaRPr lang="zh-CN" altLang="en-US" sz="4800" b="1" spc="300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23" name="1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881339" y="5158092"/>
              <a:ext cx="7096070" cy="4603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70000"/>
                <a:buFont typeface="Arial" panose="020B0604020202020204" pitchFamily="34" charset="0"/>
                <a:defRPr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70000"/>
                <a:buFont typeface="Arial" panose="020B0604020202020204" pitchFamily="34" charset="0"/>
                <a:defRPr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70000"/>
                <a:buFont typeface="Arial" panose="020B0604020202020204" pitchFamily="34" charset="0"/>
                <a:defRPr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70000"/>
                <a:buFont typeface="Arial" panose="020B0604020202020204" pitchFamily="34" charset="0"/>
                <a:defRPr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fontAlgn="base" hangingPunct="1"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chemeClr val="bg1"/>
                  </a:solidFill>
                  <a:latin typeface="Century Gothic" panose="020B0502020202020204" pitchFamily="34" charset="0"/>
                  <a:sym typeface="Century Gothic" panose="020B0502020202020204" pitchFamily="34" charset="0"/>
                </a:rPr>
                <a:t>汇报人</a:t>
              </a:r>
              <a:r>
                <a:rPr lang="en-US" altLang="zh-CN" sz="2400" dirty="0">
                  <a:solidFill>
                    <a:schemeClr val="bg1"/>
                  </a:solidFill>
                  <a:latin typeface="Century Gothic" panose="020B0502020202020204" pitchFamily="34" charset="0"/>
                  <a:sym typeface="Century Gothic" panose="020B0502020202020204" pitchFamily="34" charset="0"/>
                </a:rPr>
                <a:t>:</a:t>
              </a:r>
              <a:r>
                <a:rPr lang="zh-CN" altLang="en-US" sz="2400" dirty="0">
                  <a:solidFill>
                    <a:schemeClr val="bg1"/>
                  </a:solidFill>
                  <a:latin typeface="Century Gothic" panose="020B0502020202020204" pitchFamily="34" charset="0"/>
                  <a:sym typeface="Century Gothic" panose="020B0502020202020204" pitchFamily="34" charset="0"/>
                </a:rPr>
                <a:t>林鑫垚、张孝芝</a:t>
              </a:r>
              <a:r>
                <a:rPr lang="en-US" altLang="zh-CN" sz="2400" dirty="0">
                  <a:solidFill>
                    <a:schemeClr val="bg1"/>
                  </a:solidFill>
                  <a:latin typeface="Century Gothic" panose="020B0502020202020204" pitchFamily="34" charset="0"/>
                  <a:sym typeface="Century Gothic" panose="020B0502020202020204" pitchFamily="34" charset="0"/>
                </a:rPr>
                <a:t>             </a:t>
              </a:r>
              <a:r>
                <a:rPr lang="zh-CN" altLang="en-US" sz="2400" dirty="0">
                  <a:solidFill>
                    <a:schemeClr val="bg1"/>
                  </a:solidFill>
                  <a:latin typeface="Century Gothic" panose="020B0502020202020204" pitchFamily="34" charset="0"/>
                  <a:sym typeface="Century Gothic" panose="020B0502020202020204" pitchFamily="34" charset="0"/>
                </a:rPr>
                <a:t>指导教师：王少辉</a:t>
              </a:r>
              <a:endParaRPr lang="zh-CN" altLang="en-US" sz="2400" dirty="0">
                <a:solidFill>
                  <a:schemeClr val="bg1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6240689" y="6066190"/>
              <a:ext cx="377372" cy="377372"/>
              <a:chOff x="1037620" y="1291771"/>
              <a:chExt cx="377372" cy="377372"/>
            </a:xfrm>
          </p:grpSpPr>
          <p:grpSp>
            <p:nvGrpSpPr>
              <p:cNvPr id="25" name="组合 24"/>
              <p:cNvGrpSpPr/>
              <p:nvPr/>
            </p:nvGrpSpPr>
            <p:grpSpPr>
              <a:xfrm rot="8100000">
                <a:off x="1140094" y="1347780"/>
                <a:ext cx="172424" cy="172424"/>
                <a:chOff x="740743" y="1686221"/>
                <a:chExt cx="432048" cy="432048"/>
              </a:xfrm>
            </p:grpSpPr>
            <p:cxnSp>
              <p:nvCxnSpPr>
                <p:cNvPr id="27" name="直接连接符 26"/>
                <p:cNvCxnSpPr/>
                <p:nvPr/>
              </p:nvCxnSpPr>
              <p:spPr>
                <a:xfrm>
                  <a:off x="740743" y="1686221"/>
                  <a:ext cx="432048" cy="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连接符 27"/>
                <p:cNvCxnSpPr/>
                <p:nvPr/>
              </p:nvCxnSpPr>
              <p:spPr>
                <a:xfrm rot="5400000">
                  <a:off x="956767" y="1902245"/>
                  <a:ext cx="432048" cy="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6" name="椭圆 25"/>
              <p:cNvSpPr/>
              <p:nvPr/>
            </p:nvSpPr>
            <p:spPr>
              <a:xfrm rot="8100000">
                <a:off x="1037620" y="1291771"/>
                <a:ext cx="377372" cy="377372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4" name="毕业答辩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-816284"/>
            <a:ext cx="609600" cy="6096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48790" y="1167765"/>
            <a:ext cx="9502140" cy="17303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9600">
                <a:latin typeface="华文新魏" panose="02010800040101010101" charset="-122"/>
                <a:ea typeface="华文新魏" panose="02010800040101010101" charset="-122"/>
              </a:rPr>
              <a:t>大数据工匠工坊</a:t>
            </a:r>
            <a:endParaRPr lang="zh-CN" altLang="en-US" sz="9600">
              <a:latin typeface="华文新魏" panose="02010800040101010101" charset="-122"/>
              <a:ea typeface="华文新魏" panose="02010800040101010101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audio>
              <p:cMediaNode vol="80000" numSld="999" showWhenStopped="0">
                <p:cTn id="2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54" y="0"/>
            <a:ext cx="4905623" cy="7232650"/>
            <a:chOff x="0" y="0"/>
            <a:chExt cx="4651513" cy="6858000"/>
          </a:xfrm>
          <a:solidFill>
            <a:srgbClr val="0F3568"/>
          </a:solidFill>
        </p:grpSpPr>
        <p:grpSp>
          <p:nvGrpSpPr>
            <p:cNvPr id="13" name="组合 12"/>
            <p:cNvGrpSpPr/>
            <p:nvPr/>
          </p:nvGrpSpPr>
          <p:grpSpPr>
            <a:xfrm>
              <a:off x="0" y="0"/>
              <a:ext cx="4651513" cy="6858000"/>
              <a:chOff x="0" y="0"/>
              <a:chExt cx="4651513" cy="6858000"/>
            </a:xfrm>
            <a:grpFill/>
          </p:grpSpPr>
          <p:sp>
            <p:nvSpPr>
              <p:cNvPr id="5" name="矩形 4"/>
              <p:cNvSpPr/>
              <p:nvPr/>
            </p:nvSpPr>
            <p:spPr>
              <a:xfrm>
                <a:off x="0" y="0"/>
                <a:ext cx="4651513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6456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900" dirty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3605247" y="4081670"/>
                <a:ext cx="913745" cy="2544418"/>
              </a:xfrm>
              <a:prstGeom prst="rect">
                <a:avLst/>
              </a:prstGeom>
              <a:grpFill/>
            </p:spPr>
            <p:txBody>
              <a:bodyPr vert="eaVert" wrap="square" rtlCol="0">
                <a:spAutoFit/>
              </a:bodyPr>
              <a:lstStyle/>
              <a:p>
                <a:pPr algn="ctr" defTabSz="96456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5060" b="1" dirty="0">
                    <a:solidFill>
                      <a:prstClr val="white"/>
                    </a:solidFill>
                    <a:latin typeface="等线" panose="02010600030101010101" charset="-122"/>
                    <a:ea typeface="等线" panose="02010600030101010101" charset="-122"/>
                  </a:rPr>
                  <a:t>Content</a:t>
                </a:r>
                <a:endParaRPr lang="zh-CN" altLang="en-US" sz="5060" b="1" dirty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  <p:sp>
          <p:nvSpPr>
            <p:cNvPr id="7" name="矩形 6"/>
            <p:cNvSpPr/>
            <p:nvPr/>
          </p:nvSpPr>
          <p:spPr>
            <a:xfrm>
              <a:off x="808382" y="1782419"/>
              <a:ext cx="3045613" cy="1646581"/>
            </a:xfrm>
            <a:prstGeom prst="rect">
              <a:avLst/>
            </a:prstGeom>
            <a:grp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6456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7595" b="1" dirty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rPr>
                <a:t>目录</a:t>
              </a:r>
              <a:endParaRPr lang="zh-CN" altLang="en-US" sz="7595" b="1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493271" y="1903210"/>
            <a:ext cx="6791578" cy="4143922"/>
            <a:chOff x="5522241" y="1766358"/>
            <a:chExt cx="6791578" cy="4143922"/>
          </a:xfrm>
        </p:grpSpPr>
        <p:grpSp>
          <p:nvGrpSpPr>
            <p:cNvPr id="32" name="组合 31"/>
            <p:cNvGrpSpPr/>
            <p:nvPr/>
          </p:nvGrpSpPr>
          <p:grpSpPr>
            <a:xfrm>
              <a:off x="5534905" y="1766358"/>
              <a:ext cx="6778914" cy="4143922"/>
              <a:chOff x="5247396" y="1663149"/>
              <a:chExt cx="6427767" cy="3929268"/>
            </a:xfrm>
          </p:grpSpPr>
          <p:cxnSp>
            <p:nvCxnSpPr>
              <p:cNvPr id="16" name="直接连接符 15"/>
              <p:cNvCxnSpPr/>
              <p:nvPr/>
            </p:nvCxnSpPr>
            <p:spPr>
              <a:xfrm>
                <a:off x="6481452" y="1663149"/>
                <a:ext cx="0" cy="3929268"/>
              </a:xfrm>
              <a:prstGeom prst="line">
                <a:avLst/>
              </a:prstGeom>
              <a:ln>
                <a:solidFill>
                  <a:srgbClr val="0F356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椭圆 18"/>
              <p:cNvSpPr/>
              <p:nvPr/>
            </p:nvSpPr>
            <p:spPr>
              <a:xfrm>
                <a:off x="6408565" y="2292623"/>
                <a:ext cx="145774" cy="145774"/>
              </a:xfrm>
              <a:prstGeom prst="ellipse">
                <a:avLst/>
              </a:prstGeom>
              <a:solidFill>
                <a:srgbClr val="0F3568"/>
              </a:solidFill>
              <a:ln>
                <a:solidFill>
                  <a:srgbClr val="9B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6456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900">
                  <a:solidFill>
                    <a:srgbClr val="0F3568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5247396" y="2156695"/>
                <a:ext cx="893381" cy="4568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6456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530" b="1" dirty="0">
                    <a:solidFill>
                      <a:srgbClr val="0F3568"/>
                    </a:solidFill>
                    <a:latin typeface="等线" panose="02010600030101010101" charset="-122"/>
                    <a:ea typeface="等线" panose="02010600030101010101" charset="-122"/>
                  </a:rPr>
                  <a:t>01</a:t>
                </a:r>
                <a:endParaRPr lang="zh-CN" altLang="en-US" sz="2530" b="1" dirty="0">
                  <a:solidFill>
                    <a:srgbClr val="0F3568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7168390" y="2156695"/>
                <a:ext cx="4506773" cy="455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6456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530" b="1" dirty="0">
                    <a:solidFill>
                      <a:srgbClr val="0F3568"/>
                    </a:solidFill>
                    <a:latin typeface="等线" panose="02010600030101010101" charset="-122"/>
                    <a:ea typeface="等线" panose="02010600030101010101" charset="-122"/>
                  </a:rPr>
                  <a:t>项目介绍</a:t>
                </a:r>
                <a:endParaRPr lang="zh-CN" altLang="en-US" sz="2530" b="1" dirty="0">
                  <a:solidFill>
                    <a:srgbClr val="0F3568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5534414" y="3217908"/>
              <a:ext cx="5772628" cy="481800"/>
              <a:chOff x="5247397" y="3051218"/>
              <a:chExt cx="5473607" cy="456842"/>
            </a:xfrm>
          </p:grpSpPr>
          <p:sp>
            <p:nvSpPr>
              <p:cNvPr id="20" name="椭圆 19"/>
              <p:cNvSpPr/>
              <p:nvPr/>
            </p:nvSpPr>
            <p:spPr>
              <a:xfrm>
                <a:off x="6408565" y="3209165"/>
                <a:ext cx="145774" cy="145774"/>
              </a:xfrm>
              <a:prstGeom prst="ellipse">
                <a:avLst/>
              </a:prstGeom>
              <a:solidFill>
                <a:srgbClr val="0F3568"/>
              </a:solidFill>
              <a:ln>
                <a:solidFill>
                  <a:srgbClr val="9B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6456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900">
                  <a:solidFill>
                    <a:srgbClr val="0F3568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5247397" y="3051219"/>
                <a:ext cx="893381" cy="456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6456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530" b="1" dirty="0">
                    <a:solidFill>
                      <a:srgbClr val="0F3568"/>
                    </a:solidFill>
                    <a:latin typeface="等线" panose="02010600030101010101" charset="-122"/>
                    <a:ea typeface="等线" panose="02010600030101010101" charset="-122"/>
                  </a:rPr>
                  <a:t>02</a:t>
                </a:r>
                <a:endParaRPr lang="zh-CN" altLang="en-US" sz="2530" b="1" dirty="0">
                  <a:solidFill>
                    <a:srgbClr val="0F3568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7168390" y="3051218"/>
                <a:ext cx="3552614" cy="4551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6456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530" b="1" dirty="0">
                    <a:solidFill>
                      <a:srgbClr val="0F3568"/>
                    </a:solidFill>
                    <a:latin typeface="等线" panose="02010600030101010101" charset="-122"/>
                    <a:ea typeface="等线" panose="02010600030101010101" charset="-122"/>
                  </a:rPr>
                  <a:t>项目实施计划</a:t>
                </a:r>
                <a:endParaRPr lang="zh-CN" altLang="en-US" sz="2530" b="1" dirty="0">
                  <a:solidFill>
                    <a:srgbClr val="0F3568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5522241" y="4161302"/>
              <a:ext cx="5784801" cy="481799"/>
              <a:chOff x="5235855" y="3945743"/>
              <a:chExt cx="5485149" cy="456841"/>
            </a:xfrm>
          </p:grpSpPr>
          <p:sp>
            <p:nvSpPr>
              <p:cNvPr id="21" name="椭圆 20"/>
              <p:cNvSpPr/>
              <p:nvPr/>
            </p:nvSpPr>
            <p:spPr>
              <a:xfrm>
                <a:off x="6408565" y="4103689"/>
                <a:ext cx="145774" cy="145774"/>
              </a:xfrm>
              <a:prstGeom prst="ellipse">
                <a:avLst/>
              </a:prstGeom>
              <a:solidFill>
                <a:srgbClr val="0F3568"/>
              </a:solidFill>
              <a:ln>
                <a:solidFill>
                  <a:srgbClr val="9B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6456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900">
                  <a:solidFill>
                    <a:srgbClr val="0F3568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5235855" y="3945743"/>
                <a:ext cx="893381" cy="456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6456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530" b="1" dirty="0">
                    <a:solidFill>
                      <a:srgbClr val="0F3568"/>
                    </a:solidFill>
                    <a:latin typeface="等线" panose="02010600030101010101" charset="-122"/>
                    <a:ea typeface="等线" panose="02010600030101010101" charset="-122"/>
                  </a:rPr>
                  <a:t>03</a:t>
                </a:r>
                <a:endParaRPr lang="zh-CN" altLang="en-US" sz="2530" b="1" dirty="0">
                  <a:solidFill>
                    <a:srgbClr val="0F3568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7168390" y="3945743"/>
                <a:ext cx="3552614" cy="4551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6456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530" b="1" dirty="0">
                    <a:solidFill>
                      <a:srgbClr val="0F3568"/>
                    </a:solidFill>
                    <a:latin typeface="等线" panose="02010600030101010101" charset="-122"/>
                    <a:ea typeface="等线" panose="02010600030101010101" charset="-122"/>
                  </a:rPr>
                  <a:t>项目过程展示</a:t>
                </a:r>
                <a:endParaRPr lang="zh-CN" altLang="en-US" sz="2530" b="1" dirty="0">
                  <a:solidFill>
                    <a:srgbClr val="0F3568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5534412" y="5104694"/>
              <a:ext cx="5772629" cy="481799"/>
              <a:chOff x="5247396" y="4840267"/>
              <a:chExt cx="5473608" cy="456841"/>
            </a:xfrm>
          </p:grpSpPr>
          <p:sp>
            <p:nvSpPr>
              <p:cNvPr id="22" name="椭圆 21"/>
              <p:cNvSpPr/>
              <p:nvPr/>
            </p:nvSpPr>
            <p:spPr>
              <a:xfrm>
                <a:off x="6408565" y="4976190"/>
                <a:ext cx="145774" cy="145774"/>
              </a:xfrm>
              <a:prstGeom prst="ellipse">
                <a:avLst/>
              </a:prstGeom>
              <a:solidFill>
                <a:srgbClr val="0F3568"/>
              </a:solidFill>
              <a:ln>
                <a:solidFill>
                  <a:srgbClr val="9B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6456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900">
                  <a:solidFill>
                    <a:srgbClr val="0F3568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5247396" y="4840267"/>
                <a:ext cx="893381" cy="456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6456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530" b="1" dirty="0">
                    <a:solidFill>
                      <a:srgbClr val="0F3568"/>
                    </a:solidFill>
                    <a:latin typeface="等线" panose="02010600030101010101" charset="-122"/>
                    <a:ea typeface="等线" panose="02010600030101010101" charset="-122"/>
                  </a:rPr>
                  <a:t>04</a:t>
                </a:r>
                <a:endParaRPr lang="zh-CN" altLang="en-US" sz="2530" b="1" dirty="0">
                  <a:solidFill>
                    <a:srgbClr val="0F3568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7168390" y="4840267"/>
                <a:ext cx="3552614" cy="4551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6456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530" b="1" dirty="0">
                    <a:solidFill>
                      <a:srgbClr val="0F3568"/>
                    </a:solidFill>
                    <a:latin typeface="等线" panose="02010600030101010101" charset="-122"/>
                    <a:ea typeface="等线" panose="02010600030101010101" charset="-122"/>
                  </a:rPr>
                  <a:t>项目总结</a:t>
                </a:r>
                <a:endParaRPr lang="zh-CN" altLang="en-US" sz="2530" b="1" dirty="0">
                  <a:solidFill>
                    <a:srgbClr val="0F3568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353" y="1"/>
            <a:ext cx="4095008" cy="7232650"/>
          </a:xfrm>
          <a:prstGeom prst="rect">
            <a:avLst/>
          </a:prstGeom>
          <a:blipFill>
            <a:blip r:embed="rId2"/>
            <a:stretch>
              <a:fillRect l="-82617" r="-8210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64565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5060" b="1" dirty="0">
              <a:solidFill>
                <a:srgbClr val="4C587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2692507" y="2213472"/>
            <a:ext cx="2805706" cy="2805706"/>
          </a:xfrm>
          <a:prstGeom prst="roundRect">
            <a:avLst/>
          </a:prstGeom>
          <a:solidFill>
            <a:srgbClr val="0F3568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6456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130" b="1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rPr>
              <a:t>01</a:t>
            </a:r>
            <a:endParaRPr lang="zh-CN" altLang="en-US" sz="12130" b="1" dirty="0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800448" y="2925895"/>
            <a:ext cx="6233356" cy="1313123"/>
            <a:chOff x="5618921" y="2764115"/>
            <a:chExt cx="5910469" cy="1245103"/>
          </a:xfrm>
        </p:grpSpPr>
        <p:sp>
          <p:nvSpPr>
            <p:cNvPr id="22" name="文本框 21"/>
            <p:cNvSpPr txBox="1"/>
            <p:nvPr/>
          </p:nvSpPr>
          <p:spPr>
            <a:xfrm>
              <a:off x="5618921" y="2764115"/>
              <a:ext cx="5910469" cy="728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6456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4400" b="1" dirty="0">
                  <a:solidFill>
                    <a:srgbClr val="0F3568"/>
                  </a:solidFill>
                  <a:latin typeface="等线" panose="02010600030101010101" charset="-122"/>
                  <a:ea typeface="等线" panose="02010600030101010101" charset="-122"/>
                </a:rPr>
                <a:t>项目介绍</a:t>
              </a:r>
              <a:endParaRPr lang="zh-CN" altLang="en-US" sz="4400" b="1" dirty="0">
                <a:solidFill>
                  <a:srgbClr val="0F3568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24328" y="3631095"/>
              <a:ext cx="5499653" cy="3781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6456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dirty="0">
                  <a:solidFill>
                    <a:srgbClr val="0F3568"/>
                  </a:solidFill>
                  <a:latin typeface="等线" panose="02010600030101010101" charset="-122"/>
                  <a:ea typeface="等线" panose="02010600030101010101" charset="-122"/>
                </a:rPr>
                <a:t>Project Introduction</a:t>
              </a:r>
              <a:endParaRPr lang="en-US" altLang="zh-CN" sz="2000" dirty="0">
                <a:solidFill>
                  <a:srgbClr val="0F3568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1026" y="880011"/>
            <a:ext cx="12858044" cy="2795227"/>
          </a:xfrm>
          <a:prstGeom prst="rect">
            <a:avLst/>
          </a:prstGeom>
          <a:blipFill>
            <a:blip r:embed="rId2"/>
            <a:stretch>
              <a:fillRect t="-104069" b="-10307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64565" fontAlgn="auto">
              <a:spcBef>
                <a:spcPts val="0"/>
              </a:spcBef>
              <a:spcAft>
                <a:spcPts val="0"/>
              </a:spcAft>
            </a:pPr>
            <a:endParaRPr lang="zh-CN" altLang="en-US" sz="1900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4046" y="880011"/>
            <a:ext cx="6429022" cy="2795227"/>
            <a:chOff x="0" y="1325217"/>
            <a:chExt cx="6096000" cy="2650435"/>
          </a:xfrm>
          <a:solidFill>
            <a:srgbClr val="0F3568"/>
          </a:solidFill>
        </p:grpSpPr>
        <p:sp>
          <p:nvSpPr>
            <p:cNvPr id="10" name="矩形 9"/>
            <p:cNvSpPr/>
            <p:nvPr/>
          </p:nvSpPr>
          <p:spPr>
            <a:xfrm>
              <a:off x="0" y="1325217"/>
              <a:ext cx="6096000" cy="26504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6456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90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530087" y="2174990"/>
              <a:ext cx="3432313" cy="57922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defTabSz="96456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375" b="1" dirty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rPr>
                <a:t>项目背景</a:t>
              </a:r>
              <a:endParaRPr lang="zh-CN" altLang="en-US" sz="3375" b="1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30087" y="2782669"/>
              <a:ext cx="4558747" cy="64064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defTabSz="964565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900" b="1" dirty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rPr>
                <a:t>Project Background  </a:t>
              </a:r>
              <a:br>
                <a:rPr lang="en-US" altLang="zh-CN" sz="1900" b="1" dirty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rPr>
              </a:br>
              <a:endParaRPr lang="zh-CN" altLang="en-US" sz="1900" b="1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72845" y="4264660"/>
            <a:ext cx="1028065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华文楷体" panose="02010600040101010101" charset="-122"/>
                <a:ea typeface="华文楷体" panose="02010600040101010101" charset="-122"/>
              </a:rPr>
              <a:t>        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</a:rPr>
              <a:t>随着在线教育行业快速发展，平台积累的海量用户行为、业务数据亟需高效存储与深度分析，而传统实时处理架构难以满足历史数据挖掘、合规备份等需求。高校教学中，数据相关专业学生缺乏工业级离线数仓全流程实践，且行业对兼具教育业务理解与离线数据处理能力的人才需求迫切。本实训项目聚焦在线教育场景，通过构建离线数仓，让学生掌握数据采集、建模、分析等核心技术，填补理论与实战断层，助力培养适应行业需求的复合型人才。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1026" y="880011"/>
            <a:ext cx="12858044" cy="2795227"/>
          </a:xfrm>
          <a:prstGeom prst="rect">
            <a:avLst/>
          </a:prstGeom>
          <a:blipFill>
            <a:blip r:embed="rId2"/>
            <a:stretch>
              <a:fillRect t="-104069" b="-10307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64565" fontAlgn="auto">
              <a:spcBef>
                <a:spcPts val="0"/>
              </a:spcBef>
              <a:spcAft>
                <a:spcPts val="0"/>
              </a:spcAft>
            </a:pPr>
            <a:endParaRPr lang="zh-CN" altLang="en-US" sz="1900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5240" y="735965"/>
            <a:ext cx="12873990" cy="2925445"/>
            <a:chOff x="0" y="1325217"/>
            <a:chExt cx="6096000" cy="2650435"/>
          </a:xfrm>
          <a:solidFill>
            <a:srgbClr val="0F3568"/>
          </a:solidFill>
        </p:grpSpPr>
        <p:sp>
          <p:nvSpPr>
            <p:cNvPr id="10" name="矩形 9"/>
            <p:cNvSpPr/>
            <p:nvPr/>
          </p:nvSpPr>
          <p:spPr>
            <a:xfrm>
              <a:off x="0" y="1325217"/>
              <a:ext cx="6096000" cy="26504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6456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90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38741" y="1651415"/>
              <a:ext cx="3396188" cy="1547573"/>
            </a:xfrm>
            <a:prstGeom prst="rect">
              <a:avLst/>
            </a:prstGeom>
            <a:grpFill/>
          </p:spPr>
          <p:txBody>
            <a:bodyPr wrap="square" rtlCol="0">
              <a:noAutofit/>
            </a:bodyPr>
            <a:lstStyle/>
            <a:p>
              <a:pPr defTabSz="96456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8800" b="1" dirty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rPr>
                <a:t>项目周期</a:t>
              </a:r>
              <a:endParaRPr lang="zh-CN" altLang="en-US" sz="8800" b="1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710637" y="2760606"/>
              <a:ext cx="2829405" cy="940625"/>
            </a:xfrm>
            <a:prstGeom prst="rect">
              <a:avLst/>
            </a:prstGeom>
            <a:grpFill/>
          </p:spPr>
          <p:txBody>
            <a:bodyPr wrap="square" rtlCol="0">
              <a:noAutofit/>
            </a:bodyPr>
            <a:lstStyle/>
            <a:p>
              <a:pPr defTabSz="964565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4400" b="1" dirty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rPr>
                <a:t>Project Cycle</a:t>
              </a:r>
              <a:r>
                <a:rPr lang="en-US" altLang="zh-CN" sz="1900" b="1" dirty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rPr>
                <a:t>  </a:t>
              </a:r>
              <a:br>
                <a:rPr lang="en-US" altLang="zh-CN" sz="1900" b="1" dirty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rPr>
              </a:br>
              <a:endParaRPr lang="zh-CN" altLang="en-US" sz="1900" b="1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80" y="3616325"/>
            <a:ext cx="12863830" cy="305181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96900" y="4336415"/>
            <a:ext cx="120211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202</a:t>
            </a:r>
            <a:r>
              <a:rPr lang="en-US" altLang="zh-CN" sz="5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5</a:t>
            </a:r>
            <a:r>
              <a:rPr lang="zh-CN" altLang="en-US" sz="5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年</a:t>
            </a:r>
            <a:r>
              <a:rPr lang="en-US" altLang="zh-CN" sz="5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4</a:t>
            </a:r>
            <a:r>
              <a:rPr lang="zh-CN" altLang="en-US" sz="5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月</a:t>
            </a:r>
            <a:r>
              <a:rPr lang="en-US" altLang="zh-CN" sz="5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25</a:t>
            </a:r>
            <a:r>
              <a:rPr lang="zh-CN" altLang="en-US" sz="5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日---202</a:t>
            </a:r>
            <a:r>
              <a:rPr lang="en-US" altLang="zh-CN" sz="5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5</a:t>
            </a:r>
            <a:r>
              <a:rPr lang="zh-CN" altLang="en-US" sz="5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年</a:t>
            </a:r>
            <a:r>
              <a:rPr lang="en-US" altLang="zh-CN" sz="5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6</a:t>
            </a:r>
            <a:r>
              <a:rPr lang="zh-CN" altLang="en-US" sz="5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月</a:t>
            </a:r>
            <a:r>
              <a:rPr lang="en-US" altLang="zh-CN" sz="5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13</a:t>
            </a:r>
            <a:r>
              <a:rPr lang="zh-CN" altLang="en-US" sz="5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日</a:t>
            </a:r>
            <a:endParaRPr lang="zh-CN" altLang="en-US" sz="54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80975" y="376148"/>
            <a:ext cx="4807790" cy="1024416"/>
            <a:chOff x="583096" y="1160645"/>
            <a:chExt cx="4558747" cy="971352"/>
          </a:xfrm>
        </p:grpSpPr>
        <p:sp>
          <p:nvSpPr>
            <p:cNvPr id="8" name="文本框 7"/>
            <p:cNvSpPr txBox="1"/>
            <p:nvPr/>
          </p:nvSpPr>
          <p:spPr>
            <a:xfrm>
              <a:off x="583096" y="1160645"/>
              <a:ext cx="3432313" cy="579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6456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375" b="1" dirty="0">
                  <a:solidFill>
                    <a:srgbClr val="0F3568"/>
                  </a:solidFill>
                  <a:latin typeface="等线" panose="02010600030101010101" charset="-122"/>
                  <a:ea typeface="等线" panose="02010600030101010101" charset="-122"/>
                </a:rPr>
                <a:t>项目流程</a:t>
              </a:r>
              <a:endParaRPr lang="zh-CN" altLang="en-US" sz="3375" b="1" dirty="0">
                <a:solidFill>
                  <a:srgbClr val="0F3568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583096" y="1768324"/>
              <a:ext cx="4558747" cy="363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64565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900" b="1" dirty="0">
                  <a:solidFill>
                    <a:srgbClr val="0F3568"/>
                  </a:solidFill>
                  <a:latin typeface="等线" panose="02010600030101010101" charset="-122"/>
                  <a:ea typeface="等线" panose="02010600030101010101" charset="-122"/>
                </a:rPr>
                <a:t>Environmental Process</a:t>
              </a:r>
              <a:endParaRPr lang="en-US" altLang="zh-CN" sz="1900" b="1" dirty="0">
                <a:solidFill>
                  <a:srgbClr val="0F3568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28445"/>
            <a:ext cx="12049760" cy="4058285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1045" y="3472815"/>
            <a:ext cx="11134725" cy="26803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在线教育离线数仓从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0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到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的构建项目目标，旨在让学生全面熟悉公司具体工作环节。项目核心包括平台搭建、数据处理、指标分析、任务调度和可视化展示。学生将学习搭建离线数仓环境，完成数据采集与清洗，掌握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Hive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、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等工具进行数据建模与指标计算，并通过任务调度工具实现自动化。最终，利用可视化工具将分析结果直观呈现，支持业务决策。这一过程不仅帮助学生理解数据仓库的全生命周期，还能提升其在实际业务场景中的问题解决能力，为未来职业发展奠定基础。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905" y="948055"/>
            <a:ext cx="12473305" cy="192849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0955" y="948055"/>
            <a:ext cx="6111875" cy="1924685"/>
          </a:xfrm>
          <a:prstGeom prst="rect">
            <a:avLst/>
          </a:prstGeom>
          <a:solidFill>
            <a:srgbClr val="0F35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64565" fontAlgn="auto">
              <a:spcBef>
                <a:spcPts val="0"/>
              </a:spcBef>
              <a:spcAft>
                <a:spcPts val="0"/>
              </a:spcAft>
            </a:pPr>
            <a:endParaRPr lang="zh-CN" altLang="en-US" sz="1900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380975" y="1240383"/>
            <a:ext cx="4951935" cy="1024416"/>
            <a:chOff x="446418" y="1160645"/>
            <a:chExt cx="4695425" cy="971352"/>
          </a:xfrm>
        </p:grpSpPr>
        <p:sp>
          <p:nvSpPr>
            <p:cNvPr id="28" name="文本框 27"/>
            <p:cNvSpPr txBox="1"/>
            <p:nvPr/>
          </p:nvSpPr>
          <p:spPr>
            <a:xfrm>
              <a:off x="583096" y="1768324"/>
              <a:ext cx="4558747" cy="363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64565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900" b="1" dirty="0">
                  <a:solidFill>
                    <a:schemeClr val="bg1"/>
                  </a:solidFill>
                  <a:latin typeface="等线" panose="02010600030101010101" charset="-122"/>
                  <a:ea typeface="等线" panose="02010600030101010101" charset="-122"/>
                </a:rPr>
                <a:t>Project objectiv</a:t>
              </a:r>
              <a:endParaRPr lang="en-US" altLang="zh-CN" sz="1900" b="1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46418" y="1160645"/>
              <a:ext cx="3432313" cy="579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6456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375" b="1" dirty="0">
                  <a:solidFill>
                    <a:schemeClr val="bg1"/>
                  </a:solidFill>
                  <a:latin typeface="等线" panose="02010600030101010101" charset="-122"/>
                  <a:ea typeface="等线" panose="02010600030101010101" charset="-122"/>
                </a:rPr>
                <a:t>项目目标</a:t>
              </a:r>
              <a:endParaRPr lang="zh-CN" altLang="en-US" sz="3375" b="1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666990" y="1334135"/>
            <a:ext cx="437896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>
                <a:solidFill>
                  <a:srgbClr val="00B0F0"/>
                </a:solidFill>
              </a:rPr>
              <a:t>BIG DATA</a:t>
            </a:r>
            <a:endParaRPr lang="en-US" altLang="zh-CN" sz="6600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353" y="1"/>
            <a:ext cx="4095008" cy="7232650"/>
          </a:xfrm>
          <a:prstGeom prst="rect">
            <a:avLst/>
          </a:prstGeom>
          <a:blipFill>
            <a:blip r:embed="rId2"/>
            <a:stretch>
              <a:fillRect l="-82617" r="-8210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64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060" b="1" i="0" u="none" strike="noStrike" kern="1200" cap="none" spc="0" normalizeH="0" baseline="0" noProof="0" dirty="0">
              <a:ln>
                <a:noFill/>
              </a:ln>
              <a:solidFill>
                <a:srgbClr val="4C587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2692507" y="2213472"/>
            <a:ext cx="2805706" cy="2805706"/>
          </a:xfrm>
          <a:prstGeom prst="roundRect">
            <a:avLst/>
          </a:prstGeom>
          <a:solidFill>
            <a:srgbClr val="0F3568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64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13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02</a:t>
            </a:r>
            <a:endParaRPr kumimoji="0" lang="zh-CN" altLang="en-US" sz="1213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800448" y="2925895"/>
            <a:ext cx="6233356" cy="1313123"/>
            <a:chOff x="5618921" y="2764115"/>
            <a:chExt cx="5910469" cy="1245103"/>
          </a:xfrm>
        </p:grpSpPr>
        <p:sp>
          <p:nvSpPr>
            <p:cNvPr id="22" name="文本框 21"/>
            <p:cNvSpPr txBox="1"/>
            <p:nvPr/>
          </p:nvSpPr>
          <p:spPr>
            <a:xfrm>
              <a:off x="5618921" y="2764115"/>
              <a:ext cx="5910469" cy="728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6456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4400" b="1" dirty="0">
                  <a:solidFill>
                    <a:srgbClr val="0F3568"/>
                  </a:solidFill>
                  <a:latin typeface="等线" panose="02010600030101010101" charset="-122"/>
                  <a:ea typeface="等线" panose="02010600030101010101" charset="-122"/>
                </a:rPr>
                <a:t>项目实施计划</a:t>
              </a:r>
              <a:endParaRPr lang="zh-CN" altLang="en-US" sz="4400" b="1" dirty="0">
                <a:solidFill>
                  <a:srgbClr val="0F3568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24328" y="3631095"/>
              <a:ext cx="5499653" cy="3781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96456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Project Implementation Plan </a:t>
              </a:r>
              <a:endParaRPr lang="en-US" altLang="zh-CN" sz="2000" dirty="0">
                <a:solidFill>
                  <a:schemeClr val="bg1">
                    <a:lumMod val="50000"/>
                  </a:schemeClr>
                </a:solidFill>
                <a:latin typeface="+mj-lt"/>
              </a:endParaRPr>
            </a:p>
          </p:txBody>
        </p:sp>
      </p:grp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308585" y="303758"/>
            <a:ext cx="4880181" cy="1024416"/>
            <a:chOff x="583096" y="1160645"/>
            <a:chExt cx="4627388" cy="971352"/>
          </a:xfrm>
        </p:grpSpPr>
        <p:sp>
          <p:nvSpPr>
            <p:cNvPr id="31" name="文本框 30"/>
            <p:cNvSpPr txBox="1"/>
            <p:nvPr/>
          </p:nvSpPr>
          <p:spPr>
            <a:xfrm>
              <a:off x="583096" y="1160645"/>
              <a:ext cx="3432313" cy="579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64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375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项目实施计划</a:t>
              </a:r>
              <a:endParaRPr kumimoji="0" lang="zh-CN" altLang="en-US" sz="3375" b="1" i="0" u="none" strike="noStrike" kern="1200" cap="none" spc="0" normalizeH="0" baseline="0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51737" y="1768324"/>
              <a:ext cx="4558747" cy="363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64565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900" dirty="0">
                  <a:solidFill>
                    <a:schemeClr val="bg1">
                      <a:lumMod val="50000"/>
                    </a:schemeClr>
                  </a:solidFill>
                  <a:latin typeface="+mj-lt"/>
                  <a:sym typeface="+mn-ea"/>
                </a:rPr>
                <a:t>Project Implementation Plan</a:t>
              </a:r>
              <a:endPara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graphicFrame>
        <p:nvGraphicFramePr>
          <p:cNvPr id="15" name="表格 14"/>
          <p:cNvGraphicFramePr/>
          <p:nvPr>
            <p:custDataLst>
              <p:tags r:id="rId2"/>
            </p:custDataLst>
          </p:nvPr>
        </p:nvGraphicFramePr>
        <p:xfrm>
          <a:off x="1605280" y="1311910"/>
          <a:ext cx="9226550" cy="5578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4015"/>
                <a:gridCol w="1799590"/>
                <a:gridCol w="4138930"/>
                <a:gridCol w="1644015"/>
              </a:tblGrid>
              <a:tr h="24384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阶段</a:t>
                      </a:r>
                      <a:endParaRPr lang="en-US" altLang="en-US" sz="16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时间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工作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投入人员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071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第一阶段准备期</a:t>
                      </a:r>
                      <a:endParaRPr lang="en-US" altLang="en-US" sz="16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月</a:t>
                      </a: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24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</a:t>
                      </a: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-4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月</a:t>
                      </a: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30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坏境部署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于敬源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吴冠廷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0690">
                <a:tc rowSpan="5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第二阶段启动期</a:t>
                      </a:r>
                      <a:endParaRPr lang="en-US" altLang="en-US" sz="16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月</a:t>
                      </a: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</a:t>
                      </a: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至6月11日</a:t>
                      </a:r>
                      <a:endParaRPr lang="en-US" altLang="en-US" sz="16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指导制作</a:t>
                      </a:r>
                      <a:endParaRPr lang="en-US" altLang="en-US" sz="16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600" b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王少辉</a:t>
                      </a:r>
                      <a:endParaRPr lang="zh-CN" altLang="en-US" sz="1600" b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75360">
                <a:tc vMerge="1">
                  <a:tcPr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6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数据采集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endParaRPr lang="zh-CN" altLang="en-US" sz="1600" kern="120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  <a:sym typeface="+mn-ea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刘欣林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余晨祥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54380">
                <a:tc vMerge="1">
                  <a:tcPr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6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数据仓库</a:t>
                      </a:r>
                      <a:endParaRPr lang="zh-CN" altLang="en-US" sz="16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朱鲁娅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陈奕豪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550">
                <a:tc vMerge="1">
                  <a:tcPr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项目验收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孙永琪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5790">
                <a:tc vMerge="1">
                  <a:tcPr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资源监控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600" dirty="0"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600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王硕</a:t>
                      </a:r>
                      <a:endParaRPr lang="en-US" altLang="zh-CN" sz="16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600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张孝芝</a:t>
                      </a:r>
                      <a:endParaRPr lang="en-US" altLang="zh-CN" sz="16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>
                        <a:buNone/>
                      </a:pPr>
                      <a:endParaRPr lang="zh-CN" altLang="en-US" sz="16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第三阶段测试期</a:t>
                      </a:r>
                      <a:endParaRPr lang="en-US" altLang="en-US" sz="16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6月12日</a:t>
                      </a:r>
                      <a:endParaRPr lang="en-US" altLang="en-US" sz="16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项目测试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: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孙永琪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56261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第四阶段 汇总</a:t>
                      </a:r>
                      <a:endParaRPr lang="en-US" altLang="en-US" sz="16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en-US" sz="16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月</a:t>
                      </a: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13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</a:t>
                      </a:r>
                      <a:endParaRPr lang="en-US" altLang="en-US" sz="16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PPT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制作及汇总</a:t>
                      </a: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: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林鑫垚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236830" y="303758"/>
            <a:ext cx="4807790" cy="1024416"/>
            <a:chOff x="583096" y="1160645"/>
            <a:chExt cx="4558747" cy="971352"/>
          </a:xfrm>
        </p:grpSpPr>
        <p:sp>
          <p:nvSpPr>
            <p:cNvPr id="31" name="文本框 30"/>
            <p:cNvSpPr txBox="1"/>
            <p:nvPr/>
          </p:nvSpPr>
          <p:spPr>
            <a:xfrm>
              <a:off x="583096" y="1160645"/>
              <a:ext cx="3432313" cy="579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64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375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项目人员</a:t>
              </a:r>
              <a:endParaRPr kumimoji="0" lang="zh-CN" altLang="en-US" sz="3375" b="1" i="0" u="none" strike="noStrike" kern="1200" cap="none" spc="0" normalizeH="0" baseline="0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83096" y="1768324"/>
              <a:ext cx="4558747" cy="363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64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900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Project Personnel</a:t>
              </a:r>
              <a:endPara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04601" y="1444214"/>
          <a:ext cx="10552015" cy="5407025"/>
        </p:xfrm>
        <a:graphic>
          <a:graphicData uri="http://schemas.openxmlformats.org/drawingml/2006/table">
            <a:tbl>
              <a:tblPr/>
              <a:tblGrid>
                <a:gridCol w="2638004"/>
                <a:gridCol w="2736215"/>
                <a:gridCol w="2547620"/>
                <a:gridCol w="2630176"/>
              </a:tblGrid>
              <a:tr h="270383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孙永琪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于敬源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朱鲁娅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林鑫垚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319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陈奕豪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余晨祥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刘欣林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吴冠廷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" name="图片 2" descr="01c11d978ce61b52ed29c7b4ee0647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7890" y="4480560"/>
            <a:ext cx="2207895" cy="2263775"/>
          </a:xfrm>
          <a:prstGeom prst="rect">
            <a:avLst/>
          </a:prstGeom>
        </p:spPr>
      </p:pic>
      <p:pic>
        <p:nvPicPr>
          <p:cNvPr id="4" name="图片 3" descr="8313ead85b92a19ebb277e1d706666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085" y="1816100"/>
            <a:ext cx="1908175" cy="2167255"/>
          </a:xfrm>
          <a:prstGeom prst="rect">
            <a:avLst/>
          </a:prstGeom>
        </p:spPr>
      </p:pic>
      <p:pic>
        <p:nvPicPr>
          <p:cNvPr id="5" name="图片 4" descr="a523abd91fcc7d75a15a092fc2a6d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4870" y="1816100"/>
            <a:ext cx="1974215" cy="2216785"/>
          </a:xfrm>
          <a:prstGeom prst="rect">
            <a:avLst/>
          </a:prstGeom>
        </p:spPr>
      </p:pic>
      <p:pic>
        <p:nvPicPr>
          <p:cNvPr id="7" name="图片 6" descr="24a60f1833af5911322b1486fdaea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7260" y="4520565"/>
            <a:ext cx="1956435" cy="2256155"/>
          </a:xfrm>
          <a:prstGeom prst="rect">
            <a:avLst/>
          </a:prstGeom>
        </p:spPr>
      </p:pic>
      <p:pic>
        <p:nvPicPr>
          <p:cNvPr id="8" name="图片 7" descr="96d8db62841906773c98a1be33407bb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3790" y="1816100"/>
            <a:ext cx="1887220" cy="2168525"/>
          </a:xfrm>
          <a:prstGeom prst="rect">
            <a:avLst/>
          </a:prstGeom>
        </p:spPr>
      </p:pic>
      <p:pic>
        <p:nvPicPr>
          <p:cNvPr id="2" name="图片 1" descr="a014e87dbc0868d7359ceae592db8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1816100"/>
            <a:ext cx="1806575" cy="2199005"/>
          </a:xfrm>
          <a:prstGeom prst="rect">
            <a:avLst/>
          </a:prstGeom>
        </p:spPr>
      </p:pic>
      <p:pic>
        <p:nvPicPr>
          <p:cNvPr id="9" name="图片 8" descr="5f5bf52bf20dee8718b188c5893ca7b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9330" y="4520565"/>
            <a:ext cx="1935480" cy="2255520"/>
          </a:xfrm>
          <a:prstGeom prst="rect">
            <a:avLst/>
          </a:prstGeom>
        </p:spPr>
      </p:pic>
      <p:pic>
        <p:nvPicPr>
          <p:cNvPr id="10" name="图片 9" descr="0f8367868253f7f2ffd75b79f3c594c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9950" y="4537075"/>
            <a:ext cx="1749425" cy="2205355"/>
          </a:xfrm>
          <a:prstGeom prst="rect">
            <a:avLst/>
          </a:prstGeom>
        </p:spPr>
      </p:pic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236830" y="303758"/>
            <a:ext cx="4807790" cy="1024416"/>
            <a:chOff x="583096" y="1160645"/>
            <a:chExt cx="4558747" cy="971352"/>
          </a:xfrm>
        </p:grpSpPr>
        <p:sp>
          <p:nvSpPr>
            <p:cNvPr id="31" name="文本框 30"/>
            <p:cNvSpPr txBox="1"/>
            <p:nvPr/>
          </p:nvSpPr>
          <p:spPr>
            <a:xfrm>
              <a:off x="583096" y="1160645"/>
              <a:ext cx="3432313" cy="579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64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375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项目人员</a:t>
              </a:r>
              <a:endParaRPr kumimoji="0" lang="zh-CN" altLang="en-US" sz="3375" b="1" i="0" u="none" strike="noStrike" kern="1200" cap="none" spc="0" normalizeH="0" baseline="0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83096" y="1768324"/>
              <a:ext cx="4558747" cy="363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64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900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Project Personnel</a:t>
              </a:r>
              <a:endPara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aphicFrame>
        <p:nvGraphicFramePr>
          <p:cNvPr id="9" name="表格 8"/>
          <p:cNvGraphicFramePr/>
          <p:nvPr>
            <p:custDataLst>
              <p:tags r:id="rId1"/>
            </p:custDataLst>
          </p:nvPr>
        </p:nvGraphicFramePr>
        <p:xfrm>
          <a:off x="1929130" y="1960245"/>
          <a:ext cx="8737600" cy="3822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8800"/>
                <a:gridCol w="4368800"/>
              </a:tblGrid>
              <a:tr h="38227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3621063" y="2235840"/>
            <a:ext cx="90219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王硕</a:t>
            </a:r>
            <a:endParaRPr lang="en-US" altLang="zh-CN" dirty="0"/>
          </a:p>
        </p:txBody>
      </p:sp>
      <p:sp>
        <p:nvSpPr>
          <p:cNvPr id="11" name="文本框 10"/>
          <p:cNvSpPr txBox="1"/>
          <p:nvPr/>
        </p:nvSpPr>
        <p:spPr>
          <a:xfrm>
            <a:off x="7797527" y="2201659"/>
            <a:ext cx="90219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张孝芝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4185" y="2765425"/>
            <a:ext cx="2441054" cy="272310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455" y="2680221"/>
            <a:ext cx="2317310" cy="2808312"/>
          </a:xfrm>
          <a:prstGeom prst="rect">
            <a:avLst/>
          </a:prstGeom>
        </p:spPr>
      </p:pic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353" y="1"/>
            <a:ext cx="4095008" cy="7232650"/>
          </a:xfrm>
          <a:prstGeom prst="rect">
            <a:avLst/>
          </a:prstGeom>
          <a:blipFill>
            <a:blip r:embed="rId2"/>
            <a:stretch>
              <a:fillRect l="-82617" r="-8210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64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060" b="1" i="0" u="none" strike="noStrike" kern="1200" cap="none" spc="0" normalizeH="0" baseline="0" noProof="0" dirty="0">
              <a:ln>
                <a:noFill/>
              </a:ln>
              <a:solidFill>
                <a:srgbClr val="4C587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2692507" y="2213472"/>
            <a:ext cx="2805706" cy="2805706"/>
          </a:xfrm>
          <a:prstGeom prst="roundRect">
            <a:avLst/>
          </a:prstGeom>
          <a:solidFill>
            <a:srgbClr val="0F3568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64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13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03</a:t>
            </a:r>
            <a:endParaRPr kumimoji="0" lang="zh-CN" altLang="en-US" sz="1213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800448" y="2925895"/>
            <a:ext cx="6233356" cy="1282643"/>
            <a:chOff x="5618921" y="2764115"/>
            <a:chExt cx="5910469" cy="1216202"/>
          </a:xfrm>
        </p:grpSpPr>
        <p:sp>
          <p:nvSpPr>
            <p:cNvPr id="11" name="文本框 10"/>
            <p:cNvSpPr txBox="1"/>
            <p:nvPr/>
          </p:nvSpPr>
          <p:spPr>
            <a:xfrm>
              <a:off x="5618921" y="2764115"/>
              <a:ext cx="5910469" cy="728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6456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4400" b="1" dirty="0">
                  <a:solidFill>
                    <a:srgbClr val="0F3568"/>
                  </a:solidFill>
                  <a:latin typeface="等线" panose="02010600030101010101" charset="-122"/>
                  <a:ea typeface="等线" panose="02010600030101010101" charset="-122"/>
                </a:rPr>
                <a:t>项目过程展示</a:t>
              </a:r>
              <a:endParaRPr lang="zh-CN" altLang="en-US" sz="4400" b="1" dirty="0">
                <a:solidFill>
                  <a:srgbClr val="0F3568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824328" y="3631095"/>
              <a:ext cx="5499653" cy="3492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96456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+mj-lt"/>
                  <a:ea typeface="等线" panose="02010600030101010101" charset="-122"/>
                </a:rPr>
                <a:t>Project Process Display</a:t>
              </a:r>
              <a:endPara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j-lt"/>
                <a:ea typeface="等线" panose="0201060003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5205239" y="3085042"/>
            <a:ext cx="2808312" cy="1023183"/>
            <a:chOff x="202425" y="1134482"/>
            <a:chExt cx="4938643" cy="970183"/>
          </a:xfrm>
        </p:grpSpPr>
        <p:sp>
          <p:nvSpPr>
            <p:cNvPr id="31" name="文本框 30"/>
            <p:cNvSpPr txBox="1"/>
            <p:nvPr/>
          </p:nvSpPr>
          <p:spPr>
            <a:xfrm>
              <a:off x="835584" y="1134482"/>
              <a:ext cx="3924812" cy="580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6456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375" b="1" dirty="0">
                  <a:solidFill>
                    <a:srgbClr val="0F3568"/>
                  </a:solidFill>
                  <a:latin typeface="等线" panose="02010600030101010101" charset="-122"/>
                  <a:ea typeface="等线" panose="02010600030101010101" charset="-122"/>
                </a:rPr>
                <a:t>环境部署</a:t>
              </a:r>
              <a:endParaRPr lang="zh-CN" altLang="en-US" sz="3375" b="1" dirty="0">
                <a:solidFill>
                  <a:srgbClr val="0F3568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202425" y="1739872"/>
              <a:ext cx="4938643" cy="3647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64565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zh-CN" sz="1900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+mj-lt"/>
                  <a:ea typeface="等线" panose="02010600030101010101" charset="-122"/>
                </a:rPr>
                <a:t>Environment deployment</a:t>
              </a:r>
              <a:endPara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+mj-lt"/>
                <a:ea typeface="等线" panose="02010600030101010101" charset="-122"/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164440" y="304393"/>
            <a:ext cx="6359525" cy="1174912"/>
            <a:chOff x="250733" y="672938"/>
            <a:chExt cx="6030102" cy="1114052"/>
          </a:xfrm>
        </p:grpSpPr>
        <p:sp>
          <p:nvSpPr>
            <p:cNvPr id="31" name="文本框 30"/>
            <p:cNvSpPr txBox="1"/>
            <p:nvPr/>
          </p:nvSpPr>
          <p:spPr>
            <a:xfrm>
              <a:off x="250733" y="672938"/>
              <a:ext cx="6030102" cy="728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64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400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环境部署</a:t>
              </a:r>
              <a:r>
                <a:rPr kumimoji="0" lang="en-US" altLang="zh-CN" sz="4400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--</a:t>
              </a:r>
              <a:r>
                <a:rPr kumimoji="0" lang="zh-CN" altLang="en-US" sz="4400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安装</a:t>
              </a:r>
              <a:r>
                <a:rPr kumimoji="0" lang="en-US" altLang="zh-CN" sz="4400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jdk</a:t>
              </a:r>
              <a:endPara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318771" y="1423317"/>
              <a:ext cx="4558747" cy="363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64565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zh-CN" sz="1900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+mj-lt"/>
                  <a:ea typeface="等线" panose="02010600030101010101" charset="-122"/>
                </a:rPr>
                <a:t>Environment Deployment</a:t>
              </a:r>
              <a:endPara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+mj-lt"/>
                <a:ea typeface="等线" panose="02010600030101010101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52755" y="2103755"/>
            <a:ext cx="428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ea typeface="Source Han Sans CN Regular" panose="020B0600000000000000" charset="-122"/>
                <a:cs typeface="+mn-ea"/>
                <a:sym typeface="+mn-ea"/>
              </a:rPr>
              <a:t>1.</a:t>
            </a:r>
            <a:r>
              <a:rPr lang="zh-CN" altLang="en-US" b="1" dirty="0">
                <a:ea typeface="Source Han Sans CN Regular" panose="020B0600000000000000" charset="-122"/>
                <a:cs typeface="+mn-ea"/>
                <a:sym typeface="+mn-ea"/>
              </a:rPr>
              <a:t>先卸载并安装</a:t>
            </a:r>
            <a:r>
              <a:rPr lang="en-US" altLang="zh-CN" b="1" dirty="0">
                <a:ea typeface="Source Han Sans CN Regular" panose="020B0600000000000000" charset="-122"/>
                <a:cs typeface="+mn-ea"/>
                <a:sym typeface="+mn-ea"/>
              </a:rPr>
              <a:t>jdk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996940" y="445135"/>
            <a:ext cx="596201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ea typeface="Source Han Sans CN Regular" panose="020B0600000000000000" charset="-122"/>
                <a:cs typeface="+mn-ea"/>
                <a:sym typeface="+mn-ea"/>
              </a:rPr>
              <a:t>3.</a:t>
            </a:r>
            <a:r>
              <a:rPr lang="zh-CN" altLang="en-US" b="1" dirty="0">
                <a:ea typeface="Source Han Sans CN Regular" panose="020B0600000000000000" charset="-122"/>
                <a:cs typeface="+mn-ea"/>
                <a:sym typeface="+mn-ea"/>
              </a:rPr>
              <a:t>配置</a:t>
            </a:r>
            <a:r>
              <a:rPr lang="en-US" altLang="zh-CN" b="1" dirty="0">
                <a:ea typeface="Source Han Sans CN Regular" panose="020B0600000000000000" charset="-122"/>
                <a:cs typeface="+mn-ea"/>
                <a:sym typeface="+mn-ea"/>
              </a:rPr>
              <a:t>jdk</a:t>
            </a:r>
            <a:r>
              <a:rPr lang="zh-CN" altLang="en-US" b="1" dirty="0">
                <a:ea typeface="Source Han Sans CN Regular" panose="020B0600000000000000" charset="-122"/>
                <a:cs typeface="+mn-ea"/>
                <a:sym typeface="+mn-ea"/>
              </a:rPr>
              <a:t>环境变量并刷新配置使环境变量生效</a:t>
            </a:r>
            <a:endParaRPr lang="zh-CN" altLang="en-US" b="1" dirty="0">
              <a:ea typeface="Source Han Sans CN Regular" panose="020B0600000000000000" charset="-122"/>
              <a:cs typeface="+mn-ea"/>
              <a:sym typeface="+mn-ea"/>
            </a:endParaRPr>
          </a:p>
        </p:txBody>
      </p:sp>
      <p:pic>
        <p:nvPicPr>
          <p:cNvPr id="6" name="图片 5" descr="环境部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1220" y="1486535"/>
            <a:ext cx="4907280" cy="635000"/>
          </a:xfrm>
          <a:prstGeom prst="rect">
            <a:avLst/>
          </a:prstGeom>
        </p:spPr>
      </p:pic>
      <p:pic>
        <p:nvPicPr>
          <p:cNvPr id="12" name="图片 11" descr="屏幕截图 2025-06-09 0931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55" y="4984750"/>
            <a:ext cx="5313680" cy="383540"/>
          </a:xfrm>
          <a:prstGeom prst="rect">
            <a:avLst/>
          </a:prstGeom>
        </p:spPr>
      </p:pic>
      <p:pic>
        <p:nvPicPr>
          <p:cNvPr id="16" name="图片 15" descr="截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30" y="5344795"/>
            <a:ext cx="5323205" cy="157543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7149465" y="2464435"/>
            <a:ext cx="428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4.</a:t>
            </a:r>
            <a:r>
              <a:rPr lang="zh-CN" altLang="en-US"/>
              <a:t>检查是否成功</a:t>
            </a:r>
            <a:endParaRPr lang="zh-CN" altLang="en-US"/>
          </a:p>
        </p:txBody>
      </p:sp>
      <p:pic>
        <p:nvPicPr>
          <p:cNvPr id="19" name="图片 18" descr="屏幕截图 2025-06-09 09350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0270" y="2976880"/>
            <a:ext cx="5130800" cy="5969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7149465" y="3717925"/>
            <a:ext cx="428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5.</a:t>
            </a:r>
            <a:r>
              <a:rPr lang="zh-CN" altLang="en-US"/>
              <a:t>分发</a:t>
            </a:r>
            <a:r>
              <a:rPr lang="en-US" altLang="zh-CN"/>
              <a:t>JDK</a:t>
            </a:r>
            <a:endParaRPr lang="en-US" altLang="zh-CN"/>
          </a:p>
        </p:txBody>
      </p:sp>
      <p:pic>
        <p:nvPicPr>
          <p:cNvPr id="24" name="图片 23" descr="分发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0270" y="4196080"/>
            <a:ext cx="3834130" cy="289560"/>
          </a:xfrm>
          <a:prstGeom prst="rect">
            <a:avLst/>
          </a:prstGeom>
        </p:spPr>
      </p:pic>
      <p:pic>
        <p:nvPicPr>
          <p:cNvPr id="25" name="图片 24" descr="分发环境配置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0270" y="5107940"/>
            <a:ext cx="5418455" cy="383540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7149465" y="4695825"/>
            <a:ext cx="428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6.</a:t>
            </a:r>
            <a:r>
              <a:rPr lang="zh-CN" altLang="en-US"/>
              <a:t>分发环境配置</a:t>
            </a:r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7221220" y="5574665"/>
            <a:ext cx="428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7.</a:t>
            </a:r>
            <a:r>
              <a:rPr lang="zh-CN" altLang="en-US"/>
              <a:t>分别在</a:t>
            </a:r>
            <a:r>
              <a:rPr lang="en-US" altLang="zh-CN"/>
              <a:t>xm102,xm103</a:t>
            </a:r>
            <a:r>
              <a:rPr lang="zh-CN" altLang="en-US"/>
              <a:t>上</a:t>
            </a:r>
            <a:r>
              <a:rPr lang="en-US" altLang="zh-CN"/>
              <a:t>source</a:t>
            </a:r>
            <a:endParaRPr lang="en-US" altLang="zh-CN"/>
          </a:p>
        </p:txBody>
      </p:sp>
      <p:pic>
        <p:nvPicPr>
          <p:cNvPr id="29" name="图片 28" descr="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0270" y="961390"/>
            <a:ext cx="4887595" cy="534670"/>
          </a:xfrm>
          <a:prstGeom prst="rect">
            <a:avLst/>
          </a:prstGeom>
        </p:spPr>
      </p:pic>
      <p:pic>
        <p:nvPicPr>
          <p:cNvPr id="33" name="图片 32" descr="3"/>
          <p:cNvPicPr>
            <a:picLocks noChangeAspect="1"/>
          </p:cNvPicPr>
          <p:nvPr/>
        </p:nvPicPr>
        <p:blipFill>
          <a:blip r:embed="rId8"/>
          <a:srcRect l="2895" r="-1467" b="53875"/>
          <a:stretch>
            <a:fillRect/>
          </a:stretch>
        </p:blipFill>
        <p:spPr>
          <a:xfrm>
            <a:off x="7240270" y="2104390"/>
            <a:ext cx="4964430" cy="238125"/>
          </a:xfrm>
          <a:prstGeom prst="rect">
            <a:avLst/>
          </a:prstGeom>
        </p:spPr>
      </p:pic>
      <p:pic>
        <p:nvPicPr>
          <p:cNvPr id="37" name="图片 36" descr="卸载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4510" y="2464435"/>
            <a:ext cx="6059170" cy="405130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443230" y="3040380"/>
            <a:ext cx="428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2.</a:t>
            </a:r>
            <a:r>
              <a:rPr lang="zh-CN" altLang="en-US"/>
              <a:t>查看是否导入成功）</a:t>
            </a:r>
            <a:endParaRPr lang="zh-CN" altLang="en-US"/>
          </a:p>
        </p:txBody>
      </p:sp>
      <p:pic>
        <p:nvPicPr>
          <p:cNvPr id="40" name="图片 39" descr="查看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2755" y="3408680"/>
            <a:ext cx="5102225" cy="214630"/>
          </a:xfrm>
          <a:prstGeom prst="rect">
            <a:avLst/>
          </a:prstGeom>
        </p:spPr>
      </p:pic>
      <p:pic>
        <p:nvPicPr>
          <p:cNvPr id="41" name="图片 40" descr="安装号的jdk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2755" y="3623310"/>
            <a:ext cx="3900170" cy="333375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452755" y="4336415"/>
            <a:ext cx="428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3.</a:t>
            </a:r>
            <a:r>
              <a:rPr lang="zh-CN" altLang="en-US"/>
              <a:t>解压</a:t>
            </a:r>
            <a:r>
              <a:rPr lang="en-US" altLang="zh-CN"/>
              <a:t>jdk</a:t>
            </a:r>
            <a:endParaRPr lang="en-US" altLang="zh-CN"/>
          </a:p>
        </p:txBody>
      </p:sp>
      <p:pic>
        <p:nvPicPr>
          <p:cNvPr id="43" name="图片 42" descr="source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93610" y="6308090"/>
            <a:ext cx="4576445" cy="272415"/>
          </a:xfrm>
          <a:prstGeom prst="rect">
            <a:avLst/>
          </a:prstGeom>
        </p:spPr>
      </p:pic>
      <p:pic>
        <p:nvPicPr>
          <p:cNvPr id="44" name="图片 43" descr="source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93610" y="6059805"/>
            <a:ext cx="4576445" cy="26924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6339" y="232672"/>
            <a:ext cx="11090672" cy="1397978"/>
          </a:xfrm>
        </p:spPr>
        <p:txBody>
          <a:bodyPr/>
          <a:lstStyle/>
          <a:p>
            <a:r>
              <a:rPr lang="zh-CN" altLang="en-US" sz="44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环境部署</a:t>
            </a:r>
            <a:r>
              <a:rPr lang="en-US" altLang="zh-CN" sz="44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--</a:t>
            </a:r>
            <a:r>
              <a:rPr lang="zh-CN" altLang="en-US" sz="44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安装</a:t>
            </a:r>
            <a:r>
              <a:rPr lang="en-US" altLang="zh-CN" sz="44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MySQL</a:t>
            </a:r>
            <a:br>
              <a:rPr lang="en-US" altLang="zh-CN" sz="32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</a:b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ea typeface="等线" panose="02010600030101010101" charset="-122"/>
                <a:sym typeface="+mn-ea"/>
              </a:rPr>
              <a:t>Environment Deployment</a:t>
            </a:r>
            <a:endParaRPr lang="en-US" altLang="zh-CN" sz="18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034020" y="1450975"/>
            <a:ext cx="428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24510" y="1744345"/>
            <a:ext cx="428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ea typeface="Source Han Sans CN Regular" panose="020B0600000000000000" charset="-122"/>
                <a:cs typeface="+mn-ea"/>
                <a:sym typeface="+mn-ea"/>
              </a:rPr>
              <a:t>1.</a:t>
            </a:r>
            <a:r>
              <a:rPr lang="zh-CN" altLang="en-US" dirty="0">
                <a:ea typeface="Source Han Sans CN Regular" panose="020B0600000000000000" charset="-122"/>
                <a:cs typeface="+mn-ea"/>
                <a:sym typeface="+mn-ea"/>
              </a:rPr>
              <a:t>将</a:t>
            </a:r>
            <a:r>
              <a:rPr lang="en-US" altLang="zh-CN" dirty="0">
                <a:ea typeface="Source Han Sans CN Regular" panose="020B0600000000000000" charset="-122"/>
                <a:cs typeface="+mn-ea"/>
                <a:sym typeface="+mn-ea"/>
              </a:rPr>
              <a:t>MySQL</a:t>
            </a:r>
            <a:r>
              <a:rPr lang="zh-CN" altLang="en-US" dirty="0">
                <a:ea typeface="Source Han Sans CN Regular" panose="020B0600000000000000" charset="-122"/>
                <a:cs typeface="+mn-ea"/>
                <a:sym typeface="+mn-ea"/>
              </a:rPr>
              <a:t>安装文件拷贝到</a:t>
            </a:r>
            <a:r>
              <a:rPr lang="en-US" altLang="zh-CN" dirty="0">
                <a:ea typeface="Source Han Sans CN Regular" panose="020B0600000000000000" charset="-122"/>
                <a:cs typeface="+mn-ea"/>
                <a:sym typeface="+mn-ea"/>
              </a:rPr>
              <a:t>/opt/software</a:t>
            </a:r>
            <a:endParaRPr lang="zh-CN" altLang="en-US"/>
          </a:p>
        </p:txBody>
      </p:sp>
      <p:pic>
        <p:nvPicPr>
          <p:cNvPr id="8" name="图片 7" descr="1.需要的包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410" y="2112645"/>
            <a:ext cx="2364740" cy="140779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52755" y="3616325"/>
            <a:ext cx="4425315" cy="456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lnSpc>
                <a:spcPct val="132000"/>
              </a:lnSpc>
              <a:spcBef>
                <a:spcPts val="1200"/>
              </a:spcBef>
              <a:spcAft>
                <a:spcPts val="320"/>
              </a:spcAft>
              <a:buFont typeface="Wingdings" panose="05000000000000000000" pitchFamily="2" charset="2"/>
              <a:buNone/>
            </a:pPr>
            <a:r>
              <a:rPr lang="en-US" altLang="zh-CN" dirty="0">
                <a:ea typeface="Source Han Sans CN Regular" panose="020B0600000000000000" charset="-122"/>
                <a:cs typeface="+mn-ea"/>
                <a:sym typeface="+mn-ea"/>
              </a:rPr>
              <a:t>2.</a:t>
            </a:r>
            <a:r>
              <a:rPr lang="zh-CN" altLang="en-US" dirty="0">
                <a:ea typeface="Source Han Sans CN Regular" panose="020B0600000000000000" charset="-122"/>
                <a:cs typeface="+mn-ea"/>
                <a:sym typeface="+mn-ea"/>
              </a:rPr>
              <a:t>卸载自带的</a:t>
            </a:r>
            <a:r>
              <a:rPr lang="en-US" altLang="zh-CN" dirty="0">
                <a:ea typeface="Source Han Sans CN Regular" panose="020B0600000000000000" charset="-122"/>
                <a:cs typeface="+mn-ea"/>
                <a:sym typeface="+mn-ea"/>
              </a:rPr>
              <a:t>Mysql-libs</a:t>
            </a:r>
            <a:r>
              <a:rPr lang="zh-CN" altLang="en-US" dirty="0">
                <a:ea typeface="Source Han Sans CN Regular" panose="020B0600000000000000" charset="-122"/>
                <a:cs typeface="+mn-ea"/>
                <a:sym typeface="+mn-ea"/>
              </a:rPr>
              <a:t>并安装</a:t>
            </a:r>
            <a:r>
              <a:rPr lang="en-US" altLang="zh-CN" dirty="0">
                <a:ea typeface="Source Han Sans CN Regular" panose="020B0600000000000000" charset="-122"/>
                <a:cs typeface="+mn-ea"/>
                <a:sym typeface="+mn-ea"/>
              </a:rPr>
              <a:t> MySQL </a:t>
            </a:r>
            <a:r>
              <a:rPr lang="zh-CN" altLang="en-US" dirty="0">
                <a:ea typeface="Source Han Sans CN Regular" panose="020B0600000000000000" charset="-122"/>
                <a:cs typeface="+mn-ea"/>
                <a:sym typeface="+mn-ea"/>
              </a:rPr>
              <a:t>依赖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242175" y="723265"/>
            <a:ext cx="4286250" cy="456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just">
              <a:lnSpc>
                <a:spcPct val="132000"/>
              </a:lnSpc>
              <a:spcBef>
                <a:spcPts val="1200"/>
              </a:spcBef>
              <a:spcAft>
                <a:spcPts val="320"/>
              </a:spcAft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1"/>
                </a:solidFill>
                <a:ea typeface="Source Han Sans CN Regular" panose="020B0600000000000000" charset="-122"/>
                <a:cs typeface="+mn-ea"/>
                <a:sym typeface="+mn-ea"/>
              </a:rPr>
              <a:t>3.</a:t>
            </a:r>
            <a:r>
              <a:rPr lang="zh-CN" altLang="en-US" dirty="0">
                <a:solidFill>
                  <a:schemeClr val="tx1"/>
                </a:solidFill>
                <a:ea typeface="Source Han Sans CN Regular" panose="020B0600000000000000" charset="-122"/>
                <a:cs typeface="+mn-ea"/>
                <a:sym typeface="+mn-ea"/>
              </a:rPr>
              <a:t>启动</a:t>
            </a:r>
            <a:r>
              <a:rPr lang="en-US" altLang="zh-CN" dirty="0">
                <a:solidFill>
                  <a:schemeClr val="tx1"/>
                </a:solidFill>
                <a:ea typeface="Source Han Sans CN Regular" panose="020B0600000000000000" charset="-122"/>
                <a:cs typeface="+mn-ea"/>
                <a:sym typeface="+mn-ea"/>
              </a:rPr>
              <a:t> MySQL</a:t>
            </a:r>
            <a:r>
              <a:rPr lang="zh-CN" altLang="en-US" dirty="0">
                <a:solidFill>
                  <a:schemeClr val="tx1"/>
                </a:solidFill>
                <a:ea typeface="Source Han Sans CN Regular" panose="020B0600000000000000" charset="-122"/>
                <a:cs typeface="+mn-ea"/>
                <a:sym typeface="+mn-ea"/>
              </a:rPr>
              <a:t>并查看密码</a:t>
            </a:r>
            <a:endParaRPr lang="zh-CN" altLang="en-US" dirty="0">
              <a:solidFill>
                <a:schemeClr val="tx1"/>
              </a:solidFill>
              <a:ea typeface="Source Han Sans CN Regular" panose="020B0600000000000000" charset="-122"/>
              <a:cs typeface="+mn-ea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49465" y="3187065"/>
            <a:ext cx="428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ea typeface="Source Han Sans CN Regular" panose="020B0600000000000000" charset="-122"/>
                <a:cs typeface="+mn-ea"/>
                <a:sym typeface="+mn-ea"/>
              </a:rPr>
              <a:t>4.</a:t>
            </a:r>
            <a:r>
              <a:rPr lang="zh-CN" altLang="en-US" dirty="0">
                <a:ea typeface="Source Han Sans CN Regular" panose="020B0600000000000000" charset="-122"/>
                <a:cs typeface="+mn-ea"/>
                <a:sym typeface="+mn-ea"/>
              </a:rPr>
              <a:t>查看</a:t>
            </a:r>
            <a:r>
              <a:rPr lang="en-US" altLang="zh-CN" dirty="0">
                <a:ea typeface="Source Han Sans CN Regular" panose="020B0600000000000000" charset="-122"/>
                <a:cs typeface="+mn-ea"/>
                <a:sym typeface="+mn-ea"/>
              </a:rPr>
              <a:t>mysql</a:t>
            </a:r>
            <a:endParaRPr lang="zh-CN" altLang="en-US"/>
          </a:p>
        </p:txBody>
      </p:sp>
      <p:pic>
        <p:nvPicPr>
          <p:cNvPr id="3" name="图片 2" descr="屏幕截图 2025-06-09 0850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55" y="5704205"/>
            <a:ext cx="4977765" cy="1263015"/>
          </a:xfrm>
          <a:prstGeom prst="rect">
            <a:avLst/>
          </a:prstGeom>
        </p:spPr>
      </p:pic>
      <p:pic>
        <p:nvPicPr>
          <p:cNvPr id="4" name="图片 3" descr="屏幕截图 2025-06-09 0853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120" y="1743710"/>
            <a:ext cx="4238625" cy="1410970"/>
          </a:xfrm>
          <a:prstGeom prst="rect">
            <a:avLst/>
          </a:prstGeom>
        </p:spPr>
      </p:pic>
      <p:pic>
        <p:nvPicPr>
          <p:cNvPr id="5" name="图片 4" descr="1."/>
          <p:cNvPicPr>
            <a:picLocks noChangeAspect="1"/>
          </p:cNvPicPr>
          <p:nvPr/>
        </p:nvPicPr>
        <p:blipFill>
          <a:blip r:embed="rId4"/>
          <a:srcRect t="-42219" b="47959"/>
          <a:stretch>
            <a:fillRect/>
          </a:stretch>
        </p:blipFill>
        <p:spPr>
          <a:xfrm>
            <a:off x="524510" y="3832225"/>
            <a:ext cx="5415915" cy="469265"/>
          </a:xfrm>
          <a:prstGeom prst="rect">
            <a:avLst/>
          </a:prstGeom>
        </p:spPr>
      </p:pic>
      <p:pic>
        <p:nvPicPr>
          <p:cNvPr id="13" name="图片 12" descr="2"/>
          <p:cNvPicPr>
            <a:picLocks noChangeAspect="1"/>
          </p:cNvPicPr>
          <p:nvPr/>
        </p:nvPicPr>
        <p:blipFill>
          <a:blip r:embed="rId5"/>
          <a:srcRect l="-12" t="-67193" r="12" b="67193"/>
          <a:stretch>
            <a:fillRect/>
          </a:stretch>
        </p:blipFill>
        <p:spPr>
          <a:xfrm>
            <a:off x="524510" y="3904615"/>
            <a:ext cx="5415280" cy="563245"/>
          </a:xfrm>
          <a:prstGeom prst="rect">
            <a:avLst/>
          </a:prstGeom>
        </p:spPr>
      </p:pic>
      <p:pic>
        <p:nvPicPr>
          <p:cNvPr id="14" name="图片 13" descr="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695" y="4467860"/>
            <a:ext cx="5459095" cy="349250"/>
          </a:xfrm>
          <a:prstGeom prst="rect">
            <a:avLst/>
          </a:prstGeom>
        </p:spPr>
      </p:pic>
      <p:pic>
        <p:nvPicPr>
          <p:cNvPr id="15" name="图片 14" descr="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120" y="4808855"/>
            <a:ext cx="5487670" cy="330200"/>
          </a:xfrm>
          <a:prstGeom prst="rect">
            <a:avLst/>
          </a:prstGeom>
        </p:spPr>
      </p:pic>
      <p:pic>
        <p:nvPicPr>
          <p:cNvPr id="18" name="图片 17" descr="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510" y="5120005"/>
            <a:ext cx="5459095" cy="234950"/>
          </a:xfrm>
          <a:prstGeom prst="rect">
            <a:avLst/>
          </a:prstGeom>
        </p:spPr>
      </p:pic>
      <p:pic>
        <p:nvPicPr>
          <p:cNvPr id="19" name="图片 18" descr="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875" y="5344795"/>
            <a:ext cx="5459730" cy="330200"/>
          </a:xfrm>
          <a:prstGeom prst="rect">
            <a:avLst/>
          </a:prstGeom>
        </p:spPr>
      </p:pic>
      <p:pic>
        <p:nvPicPr>
          <p:cNvPr id="20" name="图片 19" descr="ff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37120" y="1156335"/>
            <a:ext cx="4235450" cy="349250"/>
          </a:xfrm>
          <a:prstGeom prst="rect">
            <a:avLst/>
          </a:prstGeom>
        </p:spPr>
      </p:pic>
      <p:pic>
        <p:nvPicPr>
          <p:cNvPr id="21" name="图片 20" descr="g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40930" y="1453515"/>
            <a:ext cx="4234815" cy="292100"/>
          </a:xfrm>
          <a:prstGeom prst="rect">
            <a:avLst/>
          </a:prstGeom>
        </p:spPr>
      </p:pic>
      <p:pic>
        <p:nvPicPr>
          <p:cNvPr id="22" name="图片 21" descr="a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37120" y="3772535"/>
            <a:ext cx="3930650" cy="88265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7365365" y="3472180"/>
            <a:ext cx="428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4.1</a:t>
            </a:r>
            <a:r>
              <a:rPr lang="zh-CN" altLang="en-US"/>
              <a:t>降低密码安全等级</a:t>
            </a:r>
            <a:r>
              <a:rPr lang="zh-CN" altLang="en-US"/>
              <a:t>设置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365365" y="4624070"/>
            <a:ext cx="428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4.2</a:t>
            </a:r>
            <a:r>
              <a:rPr lang="zh-CN" altLang="en-US"/>
              <a:t>设置简单的密码</a:t>
            </a:r>
            <a:endParaRPr lang="zh-CN" altLang="en-US"/>
          </a:p>
        </p:txBody>
      </p:sp>
      <p:pic>
        <p:nvPicPr>
          <p:cNvPr id="25" name="图片 24" descr="密码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40930" y="4923155"/>
            <a:ext cx="3257550" cy="254000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7365365" y="5190490"/>
            <a:ext cx="428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4.3</a:t>
            </a:r>
            <a:r>
              <a:rPr lang="zh-CN" altLang="en-US"/>
              <a:t>进入数据库</a:t>
            </a:r>
            <a:endParaRPr lang="zh-CN" altLang="en-US"/>
          </a:p>
        </p:txBody>
      </p:sp>
      <p:pic>
        <p:nvPicPr>
          <p:cNvPr id="27" name="图片 26" descr="用户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37120" y="5516880"/>
            <a:ext cx="1993900" cy="264795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7365365" y="5756910"/>
            <a:ext cx="4267200" cy="375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4.4</a:t>
            </a:r>
            <a:r>
              <a:rPr lang="zh-CN" altLang="en-US"/>
              <a:t>查询</a:t>
            </a:r>
            <a:r>
              <a:rPr lang="en-US" altLang="zh-CN"/>
              <a:t>user</a:t>
            </a:r>
            <a:r>
              <a:rPr lang="zh-CN" altLang="en-US"/>
              <a:t>表</a:t>
            </a:r>
            <a:endParaRPr lang="zh-CN" altLang="en-US"/>
          </a:p>
        </p:txBody>
      </p:sp>
      <p:pic>
        <p:nvPicPr>
          <p:cNvPr id="29" name="图片 28" descr="user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37120" y="6094095"/>
            <a:ext cx="2921000" cy="234950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7386320" y="6330315"/>
            <a:ext cx="428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4.5</a:t>
            </a:r>
            <a:r>
              <a:rPr lang="zh-CN" altLang="en-US"/>
              <a:t>退出</a:t>
            </a:r>
            <a:endParaRPr lang="zh-CN" altLang="en-US"/>
          </a:p>
        </p:txBody>
      </p:sp>
      <p:pic>
        <p:nvPicPr>
          <p:cNvPr id="31" name="图片 30" descr="n'n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40930" y="6748145"/>
            <a:ext cx="2273300" cy="4064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164440" y="304393"/>
            <a:ext cx="6359525" cy="1174912"/>
            <a:chOff x="250733" y="672938"/>
            <a:chExt cx="6030102" cy="1114052"/>
          </a:xfrm>
        </p:grpSpPr>
        <p:sp>
          <p:nvSpPr>
            <p:cNvPr id="31" name="文本框 30"/>
            <p:cNvSpPr txBox="1"/>
            <p:nvPr/>
          </p:nvSpPr>
          <p:spPr>
            <a:xfrm>
              <a:off x="250733" y="672938"/>
              <a:ext cx="6030102" cy="728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64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400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环境部署</a:t>
              </a:r>
              <a:r>
                <a:rPr kumimoji="0" lang="en-US" altLang="zh-CN" sz="4400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--</a:t>
              </a:r>
              <a:r>
                <a:rPr kumimoji="0" lang="zh-CN" altLang="en-US" sz="4400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部署</a:t>
              </a:r>
              <a:r>
                <a:rPr kumimoji="0" lang="en-US" altLang="zh-CN" sz="4400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mock</a:t>
              </a:r>
              <a:endPara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318771" y="1423317"/>
              <a:ext cx="4558747" cy="363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64565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zh-CN" sz="1900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+mj-lt"/>
                  <a:ea typeface="等线" panose="02010600030101010101" charset="-122"/>
                </a:rPr>
                <a:t>Environment Deployment</a:t>
              </a:r>
              <a:endPara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+mj-lt"/>
                <a:ea typeface="等线" panose="02010600030101010101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52755" y="2103755"/>
            <a:ext cx="428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ea typeface="Source Han Sans CN Regular" panose="020B0600000000000000" charset="-122"/>
                <a:cs typeface="+mn-ea"/>
                <a:sym typeface="+mn-ea"/>
              </a:rPr>
              <a:t>1.</a:t>
            </a:r>
            <a:r>
              <a:rPr lang="zh-CN" altLang="en-US" b="1" dirty="0">
                <a:ea typeface="Source Han Sans CN Regular" panose="020B0600000000000000" charset="-122"/>
                <a:cs typeface="+mn-ea"/>
                <a:sym typeface="+mn-ea"/>
              </a:rPr>
              <a:t>创建</a:t>
            </a:r>
            <a:r>
              <a:rPr lang="en-US" altLang="zh-CN" b="1" dirty="0">
                <a:ea typeface="Source Han Sans CN Regular" panose="020B0600000000000000" charset="-122"/>
                <a:cs typeface="+mn-ea"/>
                <a:sym typeface="+mn-ea"/>
              </a:rPr>
              <a:t>mock</a:t>
            </a:r>
            <a:r>
              <a:rPr lang="zh-CN" altLang="en-US" b="1" dirty="0">
                <a:ea typeface="Source Han Sans CN Regular" panose="020B0600000000000000" charset="-122"/>
                <a:cs typeface="+mn-ea"/>
                <a:sym typeface="+mn-ea"/>
              </a:rPr>
              <a:t>路径</a:t>
            </a:r>
            <a:endParaRPr lang="zh-CN" altLang="en-US" b="1" dirty="0">
              <a:ea typeface="Source Han Sans CN Regular" panose="020B0600000000000000" charset="-122"/>
              <a:cs typeface="+mn-ea"/>
              <a:sym typeface="+mn-ea"/>
            </a:endParaRPr>
          </a:p>
        </p:txBody>
      </p:sp>
      <p:sp>
        <p:nvSpPr>
          <p:cNvPr id="38" name="文本框 37"/>
          <p:cNvSpPr txBox="1"/>
          <p:nvPr>
            <p:custDataLst>
              <p:tags r:id="rId1"/>
            </p:custDataLst>
          </p:nvPr>
        </p:nvSpPr>
        <p:spPr>
          <a:xfrm>
            <a:off x="443230" y="3040380"/>
            <a:ext cx="428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2.</a:t>
            </a:r>
            <a:r>
              <a:rPr lang="zh-CN" altLang="en-US"/>
              <a:t>将文件上传</a:t>
            </a:r>
            <a:r>
              <a:rPr lang="en-US" altLang="zh-CN"/>
              <a:t>(Maxwell</a:t>
            </a:r>
            <a:r>
              <a:rPr lang="zh-CN" altLang="en-US"/>
              <a:t>安装包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42" name="文本框 41"/>
          <p:cNvSpPr txBox="1"/>
          <p:nvPr>
            <p:custDataLst>
              <p:tags r:id="rId2"/>
            </p:custDataLst>
          </p:nvPr>
        </p:nvSpPr>
        <p:spPr>
          <a:xfrm>
            <a:off x="452755" y="3580765"/>
            <a:ext cx="4437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3.</a:t>
            </a:r>
            <a:r>
              <a:rPr lang="zh-CN" altLang="en-US"/>
              <a:t>根据需求修改</a:t>
            </a:r>
            <a:r>
              <a:rPr lang="en-US" altLang="zh-CN"/>
              <a:t>application.yml</a:t>
            </a:r>
            <a:r>
              <a:rPr lang="zh-CN" altLang="en-US"/>
              <a:t>文件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30" y="2529205"/>
            <a:ext cx="10257790" cy="3238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145" y="4090035"/>
            <a:ext cx="9342120" cy="288036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4465" y="351155"/>
            <a:ext cx="11090910" cy="1248410"/>
          </a:xfrm>
        </p:spPr>
        <p:txBody>
          <a:bodyPr>
            <a:normAutofit/>
          </a:bodyPr>
          <a:lstStyle/>
          <a:p>
            <a:r>
              <a:rPr lang="zh-CN" altLang="en-US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环境部署</a:t>
            </a:r>
            <a:r>
              <a:rPr lang="en-US" altLang="zh-CN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--</a:t>
            </a:r>
            <a:r>
              <a:rPr lang="zh-CN" altLang="en-US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安装</a:t>
            </a:r>
            <a:r>
              <a:rPr lang="en-US" altLang="zh-CN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hadoop</a:t>
            </a:r>
            <a:br>
              <a:rPr lang="en-US" altLang="zh-CN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</a:br>
            <a:r>
              <a:rPr lang="en-US" altLang="zh-CN" sz="20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ea typeface="等线" panose="02010600030101010101" charset="-122"/>
                <a:sym typeface="+mn-ea"/>
              </a:rPr>
              <a:t>Evinronment Deployment</a:t>
            </a:r>
            <a:endParaRPr lang="zh-CN" altLang="en-US" sz="2000"/>
          </a:p>
        </p:txBody>
      </p:sp>
      <p:sp>
        <p:nvSpPr>
          <p:cNvPr id="5" name="文本框 4"/>
          <p:cNvSpPr txBox="1"/>
          <p:nvPr/>
        </p:nvSpPr>
        <p:spPr>
          <a:xfrm>
            <a:off x="1028700" y="1456055"/>
            <a:ext cx="4286250" cy="347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ts val="2000"/>
              </a:lnSpc>
              <a:buFont typeface="Wingdings" panose="05000000000000000000" charset="0"/>
              <a:buNone/>
            </a:pPr>
            <a:r>
              <a:rPr lang="en-US" altLang="zh-CN" dirty="0">
                <a:latin typeface="Source Han Sans CN Regular" panose="020B0600000000000000" charset="-122"/>
                <a:ea typeface="Source Han Sans CN Regular" panose="020B0600000000000000" charset="-122"/>
                <a:cs typeface="+mn-ea"/>
                <a:sym typeface="+mn-lt"/>
              </a:rPr>
              <a:t>1.</a:t>
            </a:r>
            <a:r>
              <a:rPr lang="zh-CN" altLang="en-US" dirty="0">
                <a:latin typeface="Source Han Sans CN Regular" panose="020B0600000000000000" charset="-122"/>
                <a:ea typeface="Source Han Sans CN Regular" panose="020B0600000000000000" charset="-122"/>
                <a:cs typeface="+mn-ea"/>
                <a:sym typeface="+mn-lt"/>
              </a:rPr>
              <a:t>安装和解压</a:t>
            </a:r>
            <a:r>
              <a:rPr lang="en-US" altLang="zh-CN" dirty="0">
                <a:latin typeface="Source Han Sans CN Regular" panose="020B0600000000000000" charset="-122"/>
                <a:ea typeface="Source Han Sans CN Regular" panose="020B0600000000000000" charset="-122"/>
                <a:cs typeface="+mn-ea"/>
                <a:sym typeface="+mn-lt"/>
              </a:rPr>
              <a:t>hadoop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4555" y="3576955"/>
            <a:ext cx="428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Source Han Sans CN Regular" panose="020B0600000000000000" charset="-122"/>
                <a:ea typeface="Source Han Sans CN Regular" panose="020B0600000000000000" charset="-122"/>
                <a:cs typeface="+mn-ea"/>
                <a:sym typeface="+mn-lt"/>
              </a:rPr>
              <a:t>2.</a:t>
            </a:r>
            <a:r>
              <a:rPr lang="zh-CN" altLang="en-US" dirty="0">
                <a:latin typeface="Source Han Sans CN Regular" panose="020B0600000000000000" charset="-122"/>
                <a:ea typeface="Source Han Sans CN Regular" panose="020B0600000000000000" charset="-122"/>
                <a:cs typeface="+mn-ea"/>
                <a:sym typeface="+mn-lt"/>
              </a:rPr>
              <a:t>设置环境变量并分发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83920" y="5344160"/>
            <a:ext cx="89662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Source Han Sans CN Regular" panose="020B0600000000000000" charset="-122"/>
                <a:ea typeface="Source Han Sans CN Regular" panose="020B0600000000000000" charset="-122"/>
                <a:cs typeface="+mn-ea"/>
                <a:sym typeface="+mn-lt"/>
              </a:rPr>
              <a:t>3.</a:t>
            </a:r>
            <a:r>
              <a:rPr lang="zh-CN" altLang="en-US" sz="1400" dirty="0">
                <a:latin typeface="Source Han Sans CN Regular" panose="020B0600000000000000" charset="-122"/>
                <a:ea typeface="Source Han Sans CN Regular" panose="020B0600000000000000" charset="-122"/>
                <a:cs typeface="+mn-ea"/>
                <a:sym typeface="+mn-lt"/>
              </a:rPr>
              <a:t>配置核心配置文件</a:t>
            </a:r>
            <a:r>
              <a:rPr lang="en-US" altLang="zh-CN" sz="1400" dirty="0">
                <a:latin typeface="Source Han Sans CN Regular" panose="020B0600000000000000" charset="-122"/>
                <a:ea typeface="Source Han Sans CN Regular" panose="020B0600000000000000" charset="-122"/>
                <a:cs typeface="+mn-ea"/>
                <a:sym typeface="+mn-lt"/>
              </a:rPr>
              <a:t>(core-site.xml, hdfs-site.xml,yarn-site.xml)</a:t>
            </a:r>
            <a:endParaRPr lang="zh-CN" altLang="en-US" sz="1400"/>
          </a:p>
        </p:txBody>
      </p:sp>
      <p:pic>
        <p:nvPicPr>
          <p:cNvPr id="13" name="图片 12" descr="3.配置     core-site.xm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845" y="5775960"/>
            <a:ext cx="1547495" cy="1260475"/>
          </a:xfrm>
          <a:prstGeom prst="rect">
            <a:avLst/>
          </a:prstGeom>
        </p:spPr>
      </p:pic>
      <p:pic>
        <p:nvPicPr>
          <p:cNvPr id="14" name="图片 13" descr="4.配置hdfs-site.xm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680" y="5775960"/>
            <a:ext cx="1409700" cy="1247775"/>
          </a:xfrm>
          <a:prstGeom prst="rect">
            <a:avLst/>
          </a:prstGeom>
        </p:spPr>
      </p:pic>
      <p:pic>
        <p:nvPicPr>
          <p:cNvPr id="18" name="图片 17" descr="5.配置yarn-site.xm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760" y="5775960"/>
            <a:ext cx="1442085" cy="124650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437120" y="880110"/>
            <a:ext cx="4286250" cy="347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ts val="2000"/>
              </a:lnSpc>
              <a:buFont typeface="Wingdings" panose="05000000000000000000" charset="0"/>
              <a:buNone/>
            </a:pPr>
            <a:r>
              <a:rPr lang="en-US" altLang="zh-CN" dirty="0">
                <a:latin typeface="Source Han Sans CN Regular" panose="020B0600000000000000" charset="-122"/>
                <a:ea typeface="Source Han Sans CN Regular" panose="020B0600000000000000" charset="-122"/>
                <a:cs typeface="+mn-ea"/>
                <a:sym typeface="+mn-lt"/>
              </a:rPr>
              <a:t>4.</a:t>
            </a:r>
            <a:r>
              <a:rPr lang="zh-CN" altLang="en-US" dirty="0">
                <a:latin typeface="Source Han Sans CN Regular" panose="020B0600000000000000" charset="-122"/>
                <a:ea typeface="Source Han Sans CN Regular" panose="020B0600000000000000" charset="-122"/>
                <a:cs typeface="+mn-ea"/>
                <a:sym typeface="+mn-lt"/>
              </a:rPr>
              <a:t>配置历史服务器和</a:t>
            </a:r>
            <a:r>
              <a:rPr lang="en-US" altLang="zh-CN" dirty="0">
                <a:latin typeface="Source Han Sans CN Regular" panose="020B0600000000000000" charset="-122"/>
                <a:ea typeface="Source Han Sans CN Regular" panose="020B0600000000000000" charset="-122"/>
                <a:cs typeface="+mn-ea"/>
                <a:sym typeface="+mn-lt"/>
              </a:rPr>
              <a:t>workers</a:t>
            </a:r>
            <a:endParaRPr lang="en-US" altLang="zh-CN" dirty="0">
              <a:latin typeface="Source Han Sans CN Regular" panose="020B0600000000000000" charset="-122"/>
              <a:ea typeface="Source Han Sans CN Regular" panose="020B0600000000000000" charset="-122"/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437120" y="3571875"/>
            <a:ext cx="428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Source Han Sans CN Regular" panose="020B0600000000000000" charset="-122"/>
                <a:ea typeface="Source Han Sans CN Regular" panose="020B0600000000000000" charset="-122"/>
                <a:cs typeface="+mn-ea"/>
                <a:sym typeface="+mn-lt"/>
              </a:rPr>
              <a:t>5.</a:t>
            </a:r>
            <a:r>
              <a:rPr lang="zh-CN" altLang="en-US" dirty="0">
                <a:latin typeface="Source Han Sans CN Regular" panose="020B0600000000000000" charset="-122"/>
                <a:ea typeface="Source Han Sans CN Regular" panose="020B0600000000000000" charset="-122"/>
                <a:cs typeface="+mn-ea"/>
                <a:sym typeface="+mn-lt"/>
              </a:rPr>
              <a:t>配置完成便可开启并进行配置集群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7292975" y="5151755"/>
            <a:ext cx="428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ym typeface="+mn-ea"/>
              </a:rPr>
              <a:t>开启</a:t>
            </a:r>
            <a:r>
              <a:rPr lang="en-US" altLang="zh-CN">
                <a:sym typeface="+mn-ea"/>
              </a:rPr>
              <a:t>hadoop</a:t>
            </a:r>
            <a:r>
              <a:rPr lang="zh-CN" altLang="en-US">
                <a:sym typeface="+mn-ea"/>
              </a:rPr>
              <a:t>集群</a:t>
            </a:r>
            <a:endParaRPr lang="zh-CN" altLang="en-US">
              <a:sym typeface="+mn-ea"/>
            </a:endParaRPr>
          </a:p>
        </p:txBody>
      </p:sp>
      <p:pic>
        <p:nvPicPr>
          <p:cNvPr id="26" name="图片 25" descr="11.开启后的样子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9510" y="5602605"/>
            <a:ext cx="4883150" cy="1410970"/>
          </a:xfrm>
          <a:prstGeom prst="rect">
            <a:avLst/>
          </a:prstGeom>
        </p:spPr>
      </p:pic>
      <p:pic>
        <p:nvPicPr>
          <p:cNvPr id="3" name="图片 2" descr="解压完成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2352675"/>
            <a:ext cx="4426585" cy="1202690"/>
          </a:xfrm>
          <a:prstGeom prst="rect">
            <a:avLst/>
          </a:prstGeom>
        </p:spPr>
      </p:pic>
      <p:pic>
        <p:nvPicPr>
          <p:cNvPr id="4" name="图片 3" descr="环境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310" y="4086860"/>
            <a:ext cx="4887595" cy="725805"/>
          </a:xfrm>
          <a:prstGeom prst="rect">
            <a:avLst/>
          </a:prstGeom>
        </p:spPr>
      </p:pic>
      <p:pic>
        <p:nvPicPr>
          <p:cNvPr id="10" name="图片 9" descr="mapre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9510" y="1617345"/>
            <a:ext cx="2288540" cy="1898015"/>
          </a:xfrm>
          <a:prstGeom prst="rect">
            <a:avLst/>
          </a:prstGeom>
        </p:spPr>
      </p:pic>
      <p:pic>
        <p:nvPicPr>
          <p:cNvPr id="12" name="图片 11" descr="worker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98050" y="1656080"/>
            <a:ext cx="2635885" cy="1859280"/>
          </a:xfrm>
          <a:prstGeom prst="rect">
            <a:avLst/>
          </a:prstGeom>
        </p:spPr>
      </p:pic>
      <p:pic>
        <p:nvPicPr>
          <p:cNvPr id="23" name="图片 22" descr="屏幕截图 2025-06-09 09180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9510" y="1240155"/>
            <a:ext cx="4349750" cy="254000"/>
          </a:xfrm>
          <a:prstGeom prst="rect">
            <a:avLst/>
          </a:prstGeom>
        </p:spPr>
      </p:pic>
      <p:pic>
        <p:nvPicPr>
          <p:cNvPr id="24" name="图片 23" descr="屏幕截图 2025-06-09 09490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1795780"/>
            <a:ext cx="5890895" cy="605790"/>
          </a:xfrm>
          <a:prstGeom prst="rect">
            <a:avLst/>
          </a:prstGeom>
        </p:spPr>
      </p:pic>
      <p:pic>
        <p:nvPicPr>
          <p:cNvPr id="27" name="图片 26" descr="2"/>
          <p:cNvPicPr>
            <a:picLocks noChangeAspect="1"/>
          </p:cNvPicPr>
          <p:nvPr/>
        </p:nvPicPr>
        <p:blipFill>
          <a:blip r:embed="rId11"/>
          <a:srcRect t="-100726" b="47636"/>
          <a:stretch>
            <a:fillRect/>
          </a:stretch>
        </p:blipFill>
        <p:spPr>
          <a:xfrm>
            <a:off x="956310" y="3576955"/>
            <a:ext cx="4887595" cy="534670"/>
          </a:xfrm>
          <a:prstGeom prst="rect">
            <a:avLst/>
          </a:prstGeom>
        </p:spPr>
      </p:pic>
      <p:pic>
        <p:nvPicPr>
          <p:cNvPr id="33" name="图片 32" descr="3"/>
          <p:cNvPicPr>
            <a:picLocks noChangeAspect="1"/>
          </p:cNvPicPr>
          <p:nvPr/>
        </p:nvPicPr>
        <p:blipFill>
          <a:blip r:embed="rId12"/>
          <a:srcRect l="2895" r="-1467" b="53875"/>
          <a:stretch>
            <a:fillRect/>
          </a:stretch>
        </p:blipFill>
        <p:spPr>
          <a:xfrm>
            <a:off x="956310" y="4812030"/>
            <a:ext cx="4964430" cy="238125"/>
          </a:xfrm>
          <a:prstGeom prst="rect">
            <a:avLst/>
          </a:prstGeom>
        </p:spPr>
      </p:pic>
      <p:pic>
        <p:nvPicPr>
          <p:cNvPr id="28" name="图片 27" descr="集群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37120" y="3984625"/>
            <a:ext cx="4686300" cy="152400"/>
          </a:xfrm>
          <a:prstGeom prst="rect">
            <a:avLst/>
          </a:prstGeom>
        </p:spPr>
      </p:pic>
      <p:pic>
        <p:nvPicPr>
          <p:cNvPr id="30" name="图片 29" descr="集群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02195" y="4111625"/>
            <a:ext cx="4721225" cy="329565"/>
          </a:xfrm>
          <a:prstGeom prst="rect">
            <a:avLst/>
          </a:prstGeom>
        </p:spPr>
      </p:pic>
      <p:pic>
        <p:nvPicPr>
          <p:cNvPr id="31" name="图片 30" descr="集群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37755" y="4408805"/>
            <a:ext cx="4686300" cy="274320"/>
          </a:xfrm>
          <a:prstGeom prst="rect">
            <a:avLst/>
          </a:prstGeom>
        </p:spPr>
      </p:pic>
      <p:pic>
        <p:nvPicPr>
          <p:cNvPr id="32" name="图片 31" descr="集群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37755" y="4656455"/>
            <a:ext cx="4700905" cy="20955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829" y="304427"/>
            <a:ext cx="11090672" cy="1397978"/>
          </a:xfrm>
        </p:spPr>
        <p:txBody>
          <a:bodyPr/>
          <a:lstStyle/>
          <a:p>
            <a:r>
              <a:rPr lang="zh-CN" altLang="en-US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环境部署</a:t>
            </a:r>
            <a:r>
              <a:rPr lang="en-US" altLang="zh-CN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--</a:t>
            </a:r>
            <a:r>
              <a:rPr lang="zh-CN" altLang="en-US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安装</a:t>
            </a:r>
            <a:r>
              <a:rPr lang="en-US" altLang="zh-CN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zookeeper</a:t>
            </a:r>
            <a:br>
              <a:rPr lang="en-US" altLang="zh-CN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</a:b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ea typeface="等线" panose="02010600030101010101" charset="-122"/>
                <a:sym typeface="+mn-ea"/>
              </a:rPr>
              <a:t>Environment Deployment</a:t>
            </a:r>
            <a:endParaRPr lang="zh-CN" altLang="en-US" sz="1800"/>
          </a:p>
        </p:txBody>
      </p:sp>
      <p:sp>
        <p:nvSpPr>
          <p:cNvPr id="4" name="文本框 3"/>
          <p:cNvSpPr txBox="1"/>
          <p:nvPr/>
        </p:nvSpPr>
        <p:spPr>
          <a:xfrm>
            <a:off x="740410" y="1456055"/>
            <a:ext cx="428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ym typeface="+mn-lt"/>
              </a:rPr>
              <a:t>1.</a:t>
            </a:r>
            <a:r>
              <a:rPr lang="zh-CN" dirty="0">
                <a:sym typeface="+mn-lt"/>
              </a:rPr>
              <a:t>安装</a:t>
            </a:r>
            <a:r>
              <a:rPr lang="en-US" altLang="zh-CN" dirty="0">
                <a:sym typeface="+mn-lt"/>
              </a:rPr>
              <a:t>zookeeper</a:t>
            </a:r>
            <a:r>
              <a:rPr lang="zh-CN" altLang="en-US" dirty="0">
                <a:sym typeface="+mn-lt"/>
              </a:rPr>
              <a:t>并进行改名</a:t>
            </a:r>
            <a:endParaRPr lang="zh-CN" altLang="en-US" dirty="0"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6390" y="3544570"/>
            <a:ext cx="6400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ym typeface="+mn-ea"/>
              </a:rPr>
              <a:t>2.</a:t>
            </a:r>
            <a:r>
              <a:rPr lang="zh-CN" altLang="en-US">
                <a:sym typeface="+mn-ea"/>
              </a:rPr>
              <a:t>在目录</a:t>
            </a:r>
            <a:r>
              <a:rPr lang="en-US" altLang="zh-CN">
                <a:sym typeface="+mn-ea"/>
              </a:rPr>
              <a:t>zookeeper</a:t>
            </a:r>
            <a:r>
              <a:rPr lang="zh-CN" altLang="en-US">
                <a:sym typeface="+mn-ea"/>
              </a:rPr>
              <a:t>下创建</a:t>
            </a:r>
            <a:r>
              <a:rPr lang="en-US" altLang="zh-CN">
                <a:sym typeface="+mn-ea"/>
              </a:rPr>
              <a:t>zKData</a:t>
            </a:r>
            <a:r>
              <a:rPr lang="zh-CN" altLang="en-US">
                <a:sym typeface="+mn-ea"/>
              </a:rPr>
              <a:t>目录后在其创建</a:t>
            </a:r>
            <a:r>
              <a:rPr lang="en-US" altLang="zh-CN">
                <a:sym typeface="+mn-ea"/>
              </a:rPr>
              <a:t>myid</a:t>
            </a:r>
            <a:r>
              <a:rPr lang="zh-CN" altLang="en-US">
                <a:sym typeface="+mn-ea"/>
              </a:rPr>
              <a:t>的文件</a:t>
            </a:r>
            <a:endParaRPr lang="zh-CN" altLang="en-US"/>
          </a:p>
        </p:txBody>
      </p:sp>
      <p:pic>
        <p:nvPicPr>
          <p:cNvPr id="13" name="图片 12" descr="2.在zookeeper目录下建zkData的文件myid用于对应相应的编号"/>
          <p:cNvPicPr>
            <a:picLocks noChangeAspect="1"/>
          </p:cNvPicPr>
          <p:nvPr/>
        </p:nvPicPr>
        <p:blipFill>
          <a:blip r:embed="rId1"/>
          <a:srcRect l="-2216" t="72832" r="2216" b="6280"/>
          <a:stretch>
            <a:fillRect/>
          </a:stretch>
        </p:blipFill>
        <p:spPr>
          <a:xfrm>
            <a:off x="884555" y="4480560"/>
            <a:ext cx="4874895" cy="5048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365365" y="1816100"/>
            <a:ext cx="42862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ym typeface="+mn-lt"/>
              </a:rPr>
              <a:t>3.</a:t>
            </a:r>
            <a:r>
              <a:rPr lang="zh-CN" dirty="0">
                <a:sym typeface="+mn-lt"/>
              </a:rPr>
              <a:t>配置完成</a:t>
            </a:r>
            <a:r>
              <a:rPr lang="en-US" altLang="zh-CN" dirty="0">
                <a:sym typeface="+mn-lt"/>
              </a:rPr>
              <a:t>zoo.cfg</a:t>
            </a:r>
            <a:r>
              <a:rPr lang="zh-CN" altLang="en-US" dirty="0">
                <a:sym typeface="+mn-lt"/>
              </a:rPr>
              <a:t>文件后，开启</a:t>
            </a:r>
            <a:r>
              <a:rPr lang="en-US" altLang="zh-CN" dirty="0">
                <a:sym typeface="+mn-lt"/>
              </a:rPr>
              <a:t>zookeeper</a:t>
            </a:r>
            <a:endParaRPr lang="en-US" altLang="zh-CN" dirty="0">
              <a:sym typeface="+mn-lt"/>
            </a:endParaRPr>
          </a:p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077075" y="5272405"/>
            <a:ext cx="4286250" cy="624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sym typeface="+mn-ea"/>
              </a:rPr>
              <a:t>5.</a:t>
            </a:r>
            <a:r>
              <a:rPr lang="zh-CN" altLang="zh-CN" dirty="0">
                <a:sym typeface="+mn-ea"/>
              </a:rPr>
              <a:t>集群开启</a:t>
            </a:r>
            <a:r>
              <a:rPr lang="en-US" altLang="zh-CN" dirty="0">
                <a:sym typeface="+mn-ea"/>
              </a:rPr>
              <a:t>zookeeper</a:t>
            </a:r>
            <a:r>
              <a:rPr lang="zh-CN" altLang="en-US" dirty="0">
                <a:sym typeface="+mn-ea"/>
              </a:rPr>
              <a:t>后的截图</a:t>
            </a:r>
            <a:endParaRPr lang="zh-CN" altLang="zh-CN" dirty="0"/>
          </a:p>
          <a:p>
            <a:pPr>
              <a:lnSpc>
                <a:spcPts val="2000"/>
              </a:lnSpc>
            </a:pPr>
            <a:endParaRPr lang="zh-CN" altLang="en-US"/>
          </a:p>
        </p:txBody>
      </p:sp>
      <p:pic>
        <p:nvPicPr>
          <p:cNvPr id="25" name="图片 24" descr="屏幕截图 2025-06-05 1637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270" y="5992495"/>
            <a:ext cx="5568950" cy="971550"/>
          </a:xfrm>
          <a:prstGeom prst="rect">
            <a:avLst/>
          </a:prstGeom>
        </p:spPr>
      </p:pic>
      <p:pic>
        <p:nvPicPr>
          <p:cNvPr id="3" name="图片 2" descr="解压完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310" y="2104390"/>
            <a:ext cx="5554980" cy="975360"/>
          </a:xfrm>
          <a:prstGeom prst="rect">
            <a:avLst/>
          </a:prstGeom>
        </p:spPr>
      </p:pic>
      <p:pic>
        <p:nvPicPr>
          <p:cNvPr id="8" name="图片 7" descr="屏幕截图 2025-06-09 0922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195" y="3943350"/>
            <a:ext cx="4813935" cy="50673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40410" y="5024755"/>
            <a:ext cx="428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3.</a:t>
            </a:r>
            <a:r>
              <a:rPr lang="zh-CN" dirty="0">
                <a:sym typeface="+mn-lt"/>
              </a:rPr>
              <a:t>配置完成</a:t>
            </a:r>
            <a:r>
              <a:rPr lang="en-US" altLang="zh-CN" dirty="0">
                <a:sym typeface="+mn-lt"/>
              </a:rPr>
              <a:t>zoo.cfg</a:t>
            </a:r>
            <a:r>
              <a:rPr lang="zh-CN" altLang="en-US" dirty="0">
                <a:sym typeface="+mn-lt"/>
              </a:rPr>
              <a:t>文件</a:t>
            </a:r>
            <a:endParaRPr lang="en-US" altLang="zh-CN"/>
          </a:p>
        </p:txBody>
      </p:sp>
      <p:pic>
        <p:nvPicPr>
          <p:cNvPr id="10" name="图片 9" descr="zo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310" y="5379085"/>
            <a:ext cx="5163820" cy="1823720"/>
          </a:xfrm>
          <a:prstGeom prst="rect">
            <a:avLst/>
          </a:prstGeom>
        </p:spPr>
      </p:pic>
      <p:pic>
        <p:nvPicPr>
          <p:cNvPr id="14" name="图片 13" descr="屏幕截图 2025-06-09 0953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310" y="1786255"/>
            <a:ext cx="5554980" cy="366395"/>
          </a:xfrm>
          <a:prstGeom prst="rect">
            <a:avLst/>
          </a:prstGeom>
        </p:spPr>
      </p:pic>
      <p:pic>
        <p:nvPicPr>
          <p:cNvPr id="16" name="图片 15" descr="屏幕截图 2025-06-09 0954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310" y="3081655"/>
            <a:ext cx="5554980" cy="327660"/>
          </a:xfrm>
          <a:prstGeom prst="rect">
            <a:avLst/>
          </a:prstGeom>
        </p:spPr>
      </p:pic>
      <p:pic>
        <p:nvPicPr>
          <p:cNvPr id="18" name="图片 17" descr="开启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6185" y="2104390"/>
            <a:ext cx="4750435" cy="160655"/>
          </a:xfrm>
          <a:prstGeom prst="rect">
            <a:avLst/>
          </a:prstGeom>
        </p:spPr>
      </p:pic>
      <p:pic>
        <p:nvPicPr>
          <p:cNvPr id="19" name="图片 18" descr="开启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1265" y="2265045"/>
            <a:ext cx="4745990" cy="154940"/>
          </a:xfrm>
          <a:prstGeom prst="rect">
            <a:avLst/>
          </a:prstGeom>
        </p:spPr>
      </p:pic>
      <p:pic>
        <p:nvPicPr>
          <p:cNvPr id="20" name="图片 19" descr="开启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81265" y="2419985"/>
            <a:ext cx="4688840" cy="19685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7365365" y="2771775"/>
            <a:ext cx="428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4.</a:t>
            </a:r>
            <a:r>
              <a:rPr lang="zh-CN" altLang="en-US"/>
              <a:t>查看状态</a:t>
            </a:r>
            <a:endParaRPr lang="zh-CN" altLang="en-US"/>
          </a:p>
        </p:txBody>
      </p:sp>
      <p:pic>
        <p:nvPicPr>
          <p:cNvPr id="23" name="图片 22" descr="状态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09510" y="3140075"/>
            <a:ext cx="4692650" cy="476250"/>
          </a:xfrm>
          <a:prstGeom prst="rect">
            <a:avLst/>
          </a:prstGeom>
        </p:spPr>
      </p:pic>
      <p:pic>
        <p:nvPicPr>
          <p:cNvPr id="24" name="图片 23" descr="状态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90460" y="3646805"/>
            <a:ext cx="4711700" cy="495300"/>
          </a:xfrm>
          <a:prstGeom prst="rect">
            <a:avLst/>
          </a:prstGeom>
        </p:spPr>
      </p:pic>
      <p:pic>
        <p:nvPicPr>
          <p:cNvPr id="26" name="图片 25" descr="状态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09510" y="4209415"/>
            <a:ext cx="4747895" cy="4572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4584" y="376182"/>
            <a:ext cx="11090672" cy="1397978"/>
          </a:xfrm>
        </p:spPr>
        <p:txBody>
          <a:bodyPr/>
          <a:lstStyle/>
          <a:p>
            <a:r>
              <a:rPr lang="zh-CN" altLang="en-US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环境部署</a:t>
            </a:r>
            <a:r>
              <a:rPr lang="en-US" altLang="zh-CN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--</a:t>
            </a:r>
            <a:r>
              <a:rPr lang="zh-CN" altLang="en-US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安装</a:t>
            </a:r>
            <a:r>
              <a:rPr lang="en-US" altLang="zh-CN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kafka</a:t>
            </a:r>
            <a:br>
              <a:rPr lang="en-US" altLang="zh-CN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</a:b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ea typeface="等线" panose="02010600030101010101" charset="-122"/>
                <a:sym typeface="+mn-ea"/>
              </a:rPr>
              <a:t>Environment Deployment</a:t>
            </a:r>
            <a:endParaRPr lang="en-US" altLang="zh-CN" sz="18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ea typeface="等线" panose="0201060003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2711" y="1774160"/>
            <a:ext cx="4697095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tabLst>
                <a:tab pos="198120" algn="l"/>
              </a:tabLst>
            </a:pPr>
            <a:r>
              <a:rPr lang="en-US" altLang="zh-CN" kern="100" dirty="0">
                <a:cs typeface="Times New Roman" panose="02020603050405020304" pitchFamily="18" charset="0"/>
                <a:sym typeface="+mn-ea"/>
              </a:rPr>
              <a:t>1.</a:t>
            </a:r>
            <a:r>
              <a:rPr lang="zh-CN" altLang="en-US" kern="100" dirty="0">
                <a:cs typeface="Times New Roman" panose="02020603050405020304" pitchFamily="18" charset="0"/>
                <a:sym typeface="+mn-ea"/>
              </a:rPr>
              <a:t>在</a:t>
            </a:r>
            <a:r>
              <a:rPr lang="en-US" altLang="zh-CN" kern="100" dirty="0">
                <a:cs typeface="Times New Roman" panose="02020603050405020304" pitchFamily="18" charset="0"/>
                <a:sym typeface="+mn-ea"/>
              </a:rPr>
              <a:t>software</a:t>
            </a:r>
            <a:r>
              <a:rPr lang="zh-CN" altLang="en-US" kern="100" dirty="0">
                <a:cs typeface="Times New Roman" panose="02020603050405020304" pitchFamily="18" charset="0"/>
                <a:sym typeface="+mn-ea"/>
              </a:rPr>
              <a:t>目录下解压安装包到</a:t>
            </a:r>
            <a:r>
              <a:rPr lang="en-US" altLang="zh-CN" kern="100" dirty="0">
                <a:cs typeface="Times New Roman" panose="02020603050405020304" pitchFamily="18" charset="0"/>
                <a:sym typeface="+mn-ea"/>
              </a:rPr>
              <a:t>module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36475" y="2849558"/>
            <a:ext cx="42862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altLang="zh-CN" dirty="0">
                <a:sym typeface="+mn-ea"/>
              </a:rPr>
              <a:t>2.</a:t>
            </a:r>
            <a:r>
              <a:rPr lang="zh-CN" altLang="en-US" dirty="0">
                <a:sym typeface="+mn-ea"/>
              </a:rPr>
              <a:t>进入到目录后，修改配置文件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7" name="图片 6" descr="2.进入到目录后，修改配置文件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475" y="3326835"/>
            <a:ext cx="5604014" cy="3674041"/>
          </a:xfrm>
          <a:prstGeom prst="rect">
            <a:avLst/>
          </a:prstGeom>
        </p:spPr>
      </p:pic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407261" y="1385565"/>
          <a:ext cx="4729480" cy="386080"/>
        </p:xfrm>
        <a:graphic>
          <a:graphicData uri="http://schemas.openxmlformats.org/drawingml/2006/table">
            <a:tbl>
              <a:tblPr/>
              <a:tblGrid>
                <a:gridCol w="4729480"/>
              </a:tblGrid>
              <a:tr h="386080">
                <a:tc>
                  <a:txBody>
                    <a:bodyPr/>
                    <a:lstStyle/>
                    <a:p>
                      <a:pPr indent="0">
                        <a:buFont typeface="Wingdings" panose="05000000000000000000" pitchFamily="2" charset="2"/>
                        <a:buNone/>
                      </a:pPr>
                      <a:r>
                        <a:rPr lang="en-US" altLang="zh-CN" sz="1400" dirty="0"/>
                        <a:t>3.</a:t>
                      </a:r>
                      <a:r>
                        <a:rPr lang="zh-CN" altLang="en-US" sz="1400" dirty="0"/>
                        <a:t>配置环境变量</a:t>
                      </a:r>
                      <a:endParaRPr lang="zh-CN" altLang="en-US" sz="14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6407261" y="3254394"/>
            <a:ext cx="42862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ym typeface="+mn-ea"/>
              </a:rPr>
              <a:t>4.</a:t>
            </a:r>
            <a:r>
              <a:rPr lang="zh-CN" altLang="en-US" dirty="0">
                <a:sym typeface="+mn-ea"/>
              </a:rPr>
              <a:t>最后启动</a:t>
            </a:r>
            <a:r>
              <a:rPr lang="en-US" altLang="zh-CN" dirty="0" err="1">
                <a:sym typeface="+mn-ea"/>
              </a:rPr>
              <a:t>kafka</a:t>
            </a:r>
            <a:r>
              <a:rPr lang="zh-CN" altLang="en-US" dirty="0">
                <a:sym typeface="+mn-ea"/>
              </a:rPr>
              <a:t>查看是否成功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3794760"/>
            <a:ext cx="6048672" cy="48584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4404211"/>
            <a:ext cx="2657846" cy="212437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75" y="2374527"/>
            <a:ext cx="5619661" cy="28936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75" y="2120765"/>
            <a:ext cx="4153480" cy="75258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75" y="1749937"/>
            <a:ext cx="5887481" cy="21223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/>
        </p:nvSpPr>
        <p:spPr>
          <a:xfrm>
            <a:off x="128389" y="448572"/>
            <a:ext cx="11090672" cy="13979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环境部署</a:t>
            </a:r>
            <a:r>
              <a:rPr lang="en-US" altLang="zh-CN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--</a:t>
            </a:r>
            <a:r>
              <a:rPr lang="zh-CN" altLang="en-US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安装</a:t>
            </a:r>
            <a:r>
              <a:rPr lang="en-US" altLang="zh-CN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hive</a:t>
            </a:r>
            <a:br>
              <a:rPr lang="en-US" altLang="zh-CN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</a:b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ea typeface="等线" panose="02010600030101010101" charset="-122"/>
                <a:sym typeface="+mn-ea"/>
              </a:rPr>
              <a:t>Environment Deployment</a:t>
            </a:r>
            <a:endParaRPr lang="en-US" altLang="zh-CN" sz="18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ea typeface="等线" panose="0201060003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84555" y="1816100"/>
            <a:ext cx="4286250" cy="373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kern="100" dirty="0">
                <a:ea typeface="微软雅黑" panose="020B0503020204020204" pitchFamily="34" charset="-122"/>
                <a:sym typeface="+mn-lt"/>
              </a:rPr>
              <a:t>1.</a:t>
            </a:r>
            <a:r>
              <a:rPr lang="zh-CN" altLang="en-US" kern="100" dirty="0">
                <a:ea typeface="微软雅黑" panose="020B0503020204020204" pitchFamily="34" charset="-122"/>
                <a:sym typeface="+mn-lt"/>
              </a:rPr>
              <a:t>安装</a:t>
            </a:r>
            <a:r>
              <a:rPr lang="en-US" altLang="zh-CN" kern="100" dirty="0">
                <a:ea typeface="微软雅黑" panose="020B0503020204020204" pitchFamily="34" charset="-122"/>
                <a:sym typeface="+mn-lt"/>
              </a:rPr>
              <a:t>hive</a:t>
            </a:r>
            <a:r>
              <a:rPr lang="zh-CN" altLang="en-US" kern="100" dirty="0">
                <a:ea typeface="微软雅黑" panose="020B0503020204020204" pitchFamily="34" charset="-122"/>
                <a:sym typeface="+mn-lt"/>
              </a:rPr>
              <a:t>并改名</a:t>
            </a:r>
            <a:endParaRPr lang="en-US" altLang="zh-CN" kern="100" dirty="0">
              <a:latin typeface="Calibri" panose="020F0502020204030204" pitchFamily="34" charset="0"/>
              <a:ea typeface="微软雅黑" panose="020B0503020204020204" pitchFamily="34" charset="-122"/>
              <a:sym typeface="+mn-lt"/>
            </a:endParaRPr>
          </a:p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12800" y="2752090"/>
            <a:ext cx="42862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altLang="zh-CN" kern="100" dirty="0">
                <a:ea typeface="微软雅黑" panose="020B0503020204020204" pitchFamily="34" charset="-122"/>
                <a:sym typeface="+mn-lt"/>
              </a:rPr>
              <a:t>2.</a:t>
            </a:r>
            <a:r>
              <a:rPr lang="zh-CN" altLang="en-US" kern="100" dirty="0">
                <a:ea typeface="微软雅黑" panose="020B0503020204020204" pitchFamily="34" charset="-122"/>
                <a:sym typeface="+mn-lt"/>
              </a:rPr>
              <a:t>配置环境变量</a:t>
            </a:r>
            <a:endParaRPr lang="zh-CN" altLang="en-US" kern="100" dirty="0">
              <a:latin typeface="Calibri" panose="020F0502020204030204" pitchFamily="34" charset="0"/>
              <a:ea typeface="微软雅黑" panose="020B0503020204020204" pitchFamily="34" charset="-122"/>
              <a:sym typeface="+mn-lt"/>
            </a:endParaRPr>
          </a:p>
          <a:p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40410" y="5128260"/>
            <a:ext cx="42862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kern="100" dirty="0">
                <a:ea typeface="微软雅黑" panose="020B0503020204020204" pitchFamily="34" charset="-122"/>
                <a:sym typeface="+mn-lt"/>
              </a:rPr>
              <a:t>3.1</a:t>
            </a:r>
            <a:r>
              <a:rPr lang="zh-CN" altLang="en-US" kern="100" dirty="0">
                <a:ea typeface="微软雅黑" panose="020B0503020204020204" pitchFamily="34" charset="-122"/>
                <a:sym typeface="+mn-lt"/>
              </a:rPr>
              <a:t>在</a:t>
            </a:r>
            <a:r>
              <a:rPr lang="en-US" altLang="zh-CN" kern="100" dirty="0">
                <a:ea typeface="微软雅黑" panose="020B0503020204020204" pitchFamily="34" charset="-122"/>
                <a:sym typeface="+mn-lt"/>
              </a:rPr>
              <a:t>conf</a:t>
            </a:r>
            <a:r>
              <a:rPr lang="zh-CN" altLang="en-US" kern="100" dirty="0">
                <a:ea typeface="微软雅黑" panose="020B0503020204020204" pitchFamily="34" charset="-122"/>
                <a:sym typeface="+mn-lt"/>
              </a:rPr>
              <a:t>目录下新建</a:t>
            </a:r>
            <a:r>
              <a:rPr lang="en-US" altLang="zh-CN" kern="100" dirty="0">
                <a:ea typeface="微软雅黑" panose="020B0503020204020204" pitchFamily="34" charset="-122"/>
                <a:sym typeface="+mn-lt"/>
              </a:rPr>
              <a:t>hive-site.xml</a:t>
            </a:r>
            <a:r>
              <a:rPr lang="zh-CN" altLang="en-US" kern="100" dirty="0">
                <a:ea typeface="微软雅黑" panose="020B0503020204020204" pitchFamily="34" charset="-122"/>
                <a:sym typeface="+mn-lt"/>
              </a:rPr>
              <a:t>文件</a:t>
            </a:r>
            <a:endParaRPr lang="zh-CN" altLang="en-US" kern="100" dirty="0">
              <a:latin typeface="Calibri" panose="020F0502020204030204" pitchFamily="34" charset="0"/>
              <a:ea typeface="微软雅黑" panose="020B0503020204020204" pitchFamily="34" charset="-122"/>
              <a:sym typeface="+mn-lt"/>
            </a:endParaRPr>
          </a:p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645275" y="3112135"/>
            <a:ext cx="42862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kern="100" dirty="0">
                <a:ea typeface="微软雅黑" panose="020B0503020204020204" pitchFamily="34" charset="-122"/>
                <a:sym typeface="+mn-ea"/>
              </a:rPr>
              <a:t>4.</a:t>
            </a:r>
            <a:r>
              <a:rPr lang="zh-CN" altLang="en-US" kern="100" dirty="0">
                <a:ea typeface="微软雅黑" panose="020B0503020204020204" pitchFamily="34" charset="-122"/>
                <a:sym typeface="+mn-ea"/>
              </a:rPr>
              <a:t>初始化元数据库</a:t>
            </a:r>
            <a:endParaRPr lang="zh-CN" altLang="en-US" kern="100" dirty="0">
              <a:latin typeface="Calibri" panose="020F0502020204030204" pitchFamily="34" charset="0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645275" y="5070475"/>
            <a:ext cx="42862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ym typeface="+mn-ea"/>
              </a:rPr>
              <a:t>5.</a:t>
            </a:r>
            <a:r>
              <a:rPr lang="zh-CN" altLang="en-US">
                <a:sym typeface="+mn-ea"/>
              </a:rPr>
              <a:t>开启</a:t>
            </a:r>
            <a:r>
              <a:rPr lang="en-US" altLang="zh-CN">
                <a:sym typeface="+mn-ea"/>
              </a:rPr>
              <a:t>hive</a:t>
            </a:r>
            <a:r>
              <a:rPr lang="zh-CN" altLang="en-US">
                <a:sym typeface="+mn-ea"/>
              </a:rPr>
              <a:t>客户端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2" name="图片 1" descr="屏幕截图 2025-06-09 0958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2176145"/>
            <a:ext cx="4852035" cy="223520"/>
          </a:xfrm>
          <a:prstGeom prst="rect">
            <a:avLst/>
          </a:prstGeom>
        </p:spPr>
      </p:pic>
      <p:pic>
        <p:nvPicPr>
          <p:cNvPr id="3" name="图片 2" descr="改名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165" y="2399665"/>
            <a:ext cx="4852670" cy="265430"/>
          </a:xfrm>
          <a:prstGeom prst="rect">
            <a:avLst/>
          </a:prstGeom>
        </p:spPr>
      </p:pic>
      <p:pic>
        <p:nvPicPr>
          <p:cNvPr id="29" name="图片 28" descr="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83890"/>
            <a:ext cx="4887595" cy="534670"/>
          </a:xfrm>
          <a:prstGeom prst="rect">
            <a:avLst/>
          </a:prstGeom>
        </p:spPr>
      </p:pic>
      <p:pic>
        <p:nvPicPr>
          <p:cNvPr id="4" name="图片 3" descr="屏幕截图 2025-06-09 1002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410" y="3716020"/>
            <a:ext cx="4925060" cy="1068705"/>
          </a:xfrm>
          <a:prstGeom prst="rect">
            <a:avLst/>
          </a:prstGeom>
        </p:spPr>
      </p:pic>
      <p:pic>
        <p:nvPicPr>
          <p:cNvPr id="33" name="图片 32" descr="3"/>
          <p:cNvPicPr>
            <a:picLocks noChangeAspect="1"/>
          </p:cNvPicPr>
          <p:nvPr/>
        </p:nvPicPr>
        <p:blipFill>
          <a:blip r:embed="rId5"/>
          <a:srcRect l="2895" r="-1467" b="53875"/>
          <a:stretch>
            <a:fillRect/>
          </a:stretch>
        </p:blipFill>
        <p:spPr>
          <a:xfrm>
            <a:off x="777240" y="4791710"/>
            <a:ext cx="4964430" cy="238125"/>
          </a:xfrm>
          <a:prstGeom prst="rect">
            <a:avLst/>
          </a:prstGeom>
        </p:spPr>
      </p:pic>
      <p:pic>
        <p:nvPicPr>
          <p:cNvPr id="17" name="图片 16" descr="配置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555" y="5488305"/>
            <a:ext cx="4216400" cy="1711325"/>
          </a:xfrm>
          <a:prstGeom prst="rect">
            <a:avLst/>
          </a:prstGeom>
        </p:spPr>
      </p:pic>
      <p:pic>
        <p:nvPicPr>
          <p:cNvPr id="19" name="图片 18" descr="配置2、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3175" y="910590"/>
            <a:ext cx="5820410" cy="214439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6789420" y="3472180"/>
            <a:ext cx="428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4.1</a:t>
            </a:r>
            <a:r>
              <a:rPr lang="zh-CN" altLang="en-US"/>
              <a:t>新建数据库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6861175" y="4401185"/>
            <a:ext cx="428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4.2</a:t>
            </a:r>
            <a:r>
              <a:rPr lang="zh-CN" altLang="en-US"/>
              <a:t>初始化数据库</a:t>
            </a:r>
            <a:endParaRPr lang="zh-CN" altLang="en-US"/>
          </a:p>
        </p:txBody>
      </p:sp>
      <p:pic>
        <p:nvPicPr>
          <p:cNvPr id="22" name="图片 21" descr="数据库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1175" y="3757295"/>
            <a:ext cx="3820795" cy="668655"/>
          </a:xfrm>
          <a:prstGeom prst="rect">
            <a:avLst/>
          </a:prstGeom>
        </p:spPr>
      </p:pic>
      <p:pic>
        <p:nvPicPr>
          <p:cNvPr id="23" name="图片 22" descr="屏幕截图 2025-06-09 10160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1175" y="4780915"/>
            <a:ext cx="5340350" cy="27813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61175" y="5437505"/>
            <a:ext cx="2495550" cy="19685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6645275" y="5634355"/>
            <a:ext cx="428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6.</a:t>
            </a:r>
            <a:r>
              <a:rPr lang="zh-CN" altLang="en-US"/>
              <a:t>查看数据库</a:t>
            </a:r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61175" y="6045200"/>
            <a:ext cx="3416300" cy="9271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501765" y="393700"/>
            <a:ext cx="428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spark</a:t>
            </a:r>
            <a:r>
              <a:rPr lang="zh-CN" altLang="en-US"/>
              <a:t>端口号、</a:t>
            </a:r>
            <a:r>
              <a:rPr lang="en-US" altLang="zh-CN"/>
              <a:t>hive</a:t>
            </a:r>
            <a:r>
              <a:rPr lang="zh-CN" altLang="en-US"/>
              <a:t>执行引擎</a:t>
            </a:r>
            <a:r>
              <a:rPr lang="zh-CN" altLang="en-US"/>
              <a:t>等</a:t>
            </a:r>
            <a:endParaRPr lang="zh-CN" altLang="en-US"/>
          </a:p>
        </p:txBody>
      </p:sp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380975" y="710247"/>
            <a:ext cx="4807790" cy="962205"/>
            <a:chOff x="387411" y="1057771"/>
            <a:chExt cx="4558747" cy="912364"/>
          </a:xfrm>
        </p:grpSpPr>
        <p:sp>
          <p:nvSpPr>
            <p:cNvPr id="31" name="文本框 30"/>
            <p:cNvSpPr txBox="1"/>
            <p:nvPr/>
          </p:nvSpPr>
          <p:spPr>
            <a:xfrm>
              <a:off x="387411" y="1057771"/>
              <a:ext cx="4506090" cy="5800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6456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zh-CN" altLang="en-US" sz="3375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环境部署</a:t>
              </a:r>
              <a:r>
                <a:rPr kumimoji="0" lang="en-US" altLang="zh-CN" sz="3375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--</a:t>
              </a:r>
              <a:r>
                <a:rPr lang="zh-CN" altLang="en-US" sz="3375" b="1" dirty="0">
                  <a:solidFill>
                    <a:srgbClr val="0F3568"/>
                  </a:solidFill>
                  <a:latin typeface="等线" panose="02010600030101010101" charset="-122"/>
                  <a:ea typeface="等线" panose="02010600030101010101" charset="-122"/>
                </a:rPr>
                <a:t>部署</a:t>
              </a:r>
              <a:r>
                <a:rPr lang="en-US" sz="3375" b="1" dirty="0" err="1">
                  <a:solidFill>
                    <a:srgbClr val="0F3568"/>
                  </a:solidFill>
                  <a:latin typeface="等线" panose="02010600030101010101" charset="-122"/>
                  <a:ea typeface="等线" panose="02010600030101010101" charset="-122"/>
                </a:rPr>
                <a:t>DataX</a:t>
              </a:r>
              <a:endParaRPr kumimoji="0" lang="zh-CN" altLang="en-US" sz="3375" b="1" i="0" u="none" strike="noStrike" kern="1200" cap="none" spc="0" normalizeH="0" baseline="0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387411" y="1606462"/>
              <a:ext cx="4558747" cy="363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64565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zh-CN" sz="1900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+mj-lt"/>
                  <a:ea typeface="等线" panose="02010600030101010101" charset="-122"/>
                </a:rPr>
                <a:t>Environment Deployment</a:t>
              </a:r>
              <a:endPara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+mj-lt"/>
                <a:ea typeface="等线" panose="02010600030101010101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49201" y="2035336"/>
            <a:ext cx="52713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kern="1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1.</a:t>
            </a:r>
            <a:r>
              <a:rPr lang="zh-CN" altLang="en-US" sz="1600" kern="1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下载</a:t>
            </a:r>
            <a:r>
              <a:rPr lang="en-US" sz="1600" kern="100" dirty="0" err="1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DataX</a:t>
            </a:r>
            <a:r>
              <a:rPr lang="zh-CN" altLang="en-US" sz="1600" kern="1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安装包并上传到</a:t>
            </a:r>
            <a:r>
              <a:rPr lang="en-US" sz="1600" kern="1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hadoop102</a:t>
            </a:r>
            <a:r>
              <a:rPr lang="zh-CN" altLang="en-US" sz="1600" kern="1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的</a:t>
            </a:r>
            <a:r>
              <a:rPr lang="en-US" altLang="zh-CN" sz="1600" kern="1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/</a:t>
            </a:r>
            <a:r>
              <a:rPr lang="en-US" sz="1600" kern="1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opt/software</a:t>
            </a:r>
            <a:endParaRPr lang="en-US" sz="1600" kern="100" dirty="0">
              <a:effectLst/>
              <a:latin typeface="Aptos" panose="020B0004020202020204" pitchFamily="34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201" y="2752229"/>
            <a:ext cx="5271335" cy="343150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925319" y="1832944"/>
            <a:ext cx="3142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kern="100" dirty="0"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2.</a:t>
            </a:r>
            <a:r>
              <a:rPr lang="zh-CN" altLang="en-US" sz="1600" kern="100" dirty="0"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解压</a:t>
            </a:r>
            <a:r>
              <a:rPr lang="en-US" sz="1600" kern="100" dirty="0"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datax.tar.gz</a:t>
            </a:r>
            <a:r>
              <a:rPr lang="zh-CN" altLang="en-US" sz="1600" kern="100" dirty="0"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到</a:t>
            </a:r>
            <a:r>
              <a:rPr lang="en-US" altLang="zh-CN" sz="1600" kern="100" dirty="0"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/</a:t>
            </a:r>
            <a:r>
              <a:rPr lang="en-US" sz="1600" kern="100" dirty="0"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opt/module</a:t>
            </a:r>
            <a:endParaRPr lang="en-US" sz="1600" kern="100" dirty="0">
              <a:latin typeface="Aptos" panose="020B0004020202020204" pitchFamily="34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algn="just"/>
            <a:endParaRPr lang="en-US" sz="1600" kern="100" dirty="0">
              <a:effectLst/>
              <a:latin typeface="Aptos" panose="020B0004020202020204" pitchFamily="34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319" y="2373890"/>
            <a:ext cx="6085616" cy="28134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948054" y="288540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1600" kern="100" dirty="0"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3.</a:t>
            </a:r>
            <a:r>
              <a:rPr lang="zh-CN" altLang="en-US" sz="1600" kern="100" dirty="0"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自检，执行如下命令</a:t>
            </a:r>
            <a:endParaRPr lang="zh-CN" altLang="en-US" sz="1600" kern="100" dirty="0">
              <a:latin typeface="Aptos" panose="020B0004020202020204" pitchFamily="34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9" y="3424533"/>
            <a:ext cx="6096000" cy="383584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953847" y="4151654"/>
            <a:ext cx="6096000" cy="425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600" kern="1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4.</a:t>
            </a:r>
            <a:r>
              <a:rPr lang="zh-CN" altLang="en-US" sz="1600" kern="1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出现如下内容，则表明安装成功</a:t>
            </a:r>
            <a:endParaRPr lang="zh-CN" altLang="en-US" sz="1600" kern="100" dirty="0">
              <a:effectLst/>
              <a:latin typeface="Aptos" panose="020B0004020202020204" pitchFamily="34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 descr="文本&#10;&#10;描述已自动生成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7327" y="4624437"/>
            <a:ext cx="5274310" cy="190627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361186" y="835414"/>
            <a:ext cx="5060077" cy="891939"/>
            <a:chOff x="368647" y="1176454"/>
            <a:chExt cx="4797966" cy="845738"/>
          </a:xfrm>
        </p:grpSpPr>
        <p:sp>
          <p:nvSpPr>
            <p:cNvPr id="31" name="文本框 30"/>
            <p:cNvSpPr txBox="1"/>
            <p:nvPr/>
          </p:nvSpPr>
          <p:spPr>
            <a:xfrm>
              <a:off x="368647" y="1176454"/>
              <a:ext cx="4797966" cy="5800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64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375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环境部署</a:t>
              </a:r>
              <a:r>
                <a:rPr lang="en-US" altLang="zh-CN" sz="3375" b="1" dirty="0">
                  <a:solidFill>
                    <a:srgbClr val="0F3568"/>
                  </a:solidFill>
                  <a:latin typeface="等线" panose="02010600030101010101" charset="-122"/>
                  <a:ea typeface="等线" panose="02010600030101010101" charset="-122"/>
                </a:rPr>
                <a:t>--</a:t>
              </a:r>
              <a:r>
                <a:rPr kumimoji="0" lang="zh-CN" altLang="en-US" sz="3375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部署</a:t>
              </a:r>
              <a:r>
                <a:rPr kumimoji="0" lang="en-US" altLang="zh-CN" sz="3375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Maxwell</a:t>
              </a:r>
              <a:endParaRPr kumimoji="0" lang="zh-CN" altLang="en-US" sz="3375" b="1" i="0" u="none" strike="noStrike" kern="1200" cap="none" spc="0" normalizeH="0" baseline="0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368647" y="1658519"/>
              <a:ext cx="4558747" cy="363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64565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zh-CN" sz="1900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+mj-lt"/>
                  <a:ea typeface="等线" panose="02010600030101010101" charset="-122"/>
                </a:rPr>
                <a:t>Environment Deployment</a:t>
              </a:r>
              <a:endPara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+mj-lt"/>
                <a:ea typeface="等线" panose="02010600030101010101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61330" y="1614173"/>
            <a:ext cx="6097348" cy="346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32000"/>
              </a:lnSpc>
              <a:spcBef>
                <a:spcPts val="1200"/>
              </a:spcBef>
              <a:spcAft>
                <a:spcPts val="320"/>
              </a:spcAft>
              <a:buFont typeface="Wingdings" panose="05000000000000000000" pitchFamily="2" charset="2"/>
              <a:buChar char="Ø"/>
            </a:pPr>
            <a:r>
              <a:rPr lang="zh-CN" altLang="en-US" sz="1400" dirty="0">
                <a:ea typeface="Source Han Sans CN Regular" panose="020B0600000000000000" charset="-122"/>
                <a:cs typeface="+mn-ea"/>
              </a:rPr>
              <a:t>安装</a:t>
            </a:r>
            <a:r>
              <a:rPr lang="en-US" altLang="zh-CN" sz="1400" dirty="0">
                <a:ea typeface="Source Han Sans CN Regular" panose="020B0600000000000000" charset="-122"/>
                <a:cs typeface="+mn-ea"/>
              </a:rPr>
              <a:t>Maxwell</a:t>
            </a:r>
            <a:endParaRPr lang="zh-CN" altLang="zh-CN" sz="1400" dirty="0">
              <a:ea typeface="Source Han Sans CN Regular" panose="020B0600000000000000" charset="-122"/>
              <a:cs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38452" y="3439629"/>
            <a:ext cx="6097348" cy="353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32000"/>
              </a:lnSpc>
              <a:spcBef>
                <a:spcPts val="1200"/>
              </a:spcBef>
              <a:spcAft>
                <a:spcPts val="320"/>
              </a:spcAft>
              <a:buFont typeface="Wingdings" panose="05000000000000000000" pitchFamily="2" charset="2"/>
              <a:buChar char="Ø"/>
            </a:pPr>
            <a:r>
              <a:rPr lang="zh-CN" sz="14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启用</a:t>
            </a:r>
            <a:r>
              <a:rPr lang="en-US" sz="14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MySQL </a:t>
            </a:r>
            <a:r>
              <a:rPr lang="en-US" sz="1400" dirty="0" err="1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Binlog</a:t>
            </a:r>
            <a:endParaRPr lang="en-US" altLang="zh-CN" sz="1400" dirty="0">
              <a:ea typeface="Source Han Sans CN Regular" panose="020B0600000000000000" charset="-122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51377" y="958338"/>
            <a:ext cx="5978164" cy="353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32000"/>
              </a:lnSpc>
              <a:spcBef>
                <a:spcPts val="1200"/>
              </a:spcBef>
              <a:spcAft>
                <a:spcPts val="320"/>
              </a:spcAft>
              <a:buFont typeface="Wingdings" panose="05000000000000000000" pitchFamily="2" charset="2"/>
              <a:buChar char="Ø"/>
            </a:pPr>
            <a:r>
              <a:rPr lang="zh-CN" sz="14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创建</a:t>
            </a:r>
            <a:r>
              <a:rPr lang="en-US" sz="14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Maxwell</a:t>
            </a:r>
            <a:r>
              <a:rPr lang="zh-CN" sz="14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所需数据库和用户</a:t>
            </a:r>
            <a:endParaRPr lang="en-US" sz="1400" dirty="0"/>
          </a:p>
        </p:txBody>
      </p:sp>
      <p:sp>
        <p:nvSpPr>
          <p:cNvPr id="9" name="文本框 8"/>
          <p:cNvSpPr txBox="1"/>
          <p:nvPr/>
        </p:nvSpPr>
        <p:spPr>
          <a:xfrm>
            <a:off x="6289721" y="3246216"/>
            <a:ext cx="5978164" cy="353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32000"/>
              </a:lnSpc>
              <a:spcBef>
                <a:spcPts val="1200"/>
              </a:spcBef>
              <a:spcAft>
                <a:spcPts val="320"/>
              </a:spcAft>
              <a:buFont typeface="Wingdings" panose="05000000000000000000" pitchFamily="2" charset="2"/>
              <a:buChar char="Ø"/>
            </a:pPr>
            <a:r>
              <a:rPr lang="zh-CN" altLang="en-US" sz="1400" dirty="0"/>
              <a:t>配置</a:t>
            </a:r>
            <a:r>
              <a:rPr lang="en-US" altLang="zh-CN" sz="1400" dirty="0"/>
              <a:t>Maxwell</a:t>
            </a:r>
            <a:endParaRPr lang="en-US" sz="1400" dirty="0"/>
          </a:p>
        </p:txBody>
      </p:sp>
      <p:sp>
        <p:nvSpPr>
          <p:cNvPr id="10" name="文本框 9"/>
          <p:cNvSpPr txBox="1"/>
          <p:nvPr/>
        </p:nvSpPr>
        <p:spPr>
          <a:xfrm>
            <a:off x="529029" y="1909541"/>
            <a:ext cx="1944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1.</a:t>
            </a:r>
            <a:r>
              <a:rPr lang="zh-CN" altLang="en-US" sz="1200" dirty="0"/>
              <a:t>下载安装包</a:t>
            </a:r>
            <a:endParaRPr lang="en-US" altLang="zh-CN" sz="1200" dirty="0"/>
          </a:p>
        </p:txBody>
      </p:sp>
      <p:sp>
        <p:nvSpPr>
          <p:cNvPr id="11" name="文本框 10"/>
          <p:cNvSpPr txBox="1"/>
          <p:nvPr/>
        </p:nvSpPr>
        <p:spPr>
          <a:xfrm>
            <a:off x="526977" y="2127539"/>
            <a:ext cx="5689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地址：</a:t>
            </a:r>
            <a:r>
              <a:rPr lang="en-US" sz="1200" u="sng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hlinkClick r:id="rId1"/>
              </a:rPr>
              <a:t>https://github.com/zendesk/maxwell/releases/download/v1.29.2/maxwell-1.29.2.tar.gz</a:t>
            </a:r>
            <a:endParaRPr lang="en-US" sz="1200" dirty="0"/>
          </a:p>
        </p:txBody>
      </p:sp>
      <p:sp>
        <p:nvSpPr>
          <p:cNvPr id="12" name="文本框 11"/>
          <p:cNvSpPr txBox="1"/>
          <p:nvPr/>
        </p:nvSpPr>
        <p:spPr>
          <a:xfrm>
            <a:off x="509862" y="2541638"/>
            <a:ext cx="36455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将安装包上传到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节点的</a:t>
            </a:r>
            <a:r>
              <a:rPr 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/opt/software</a:t>
            </a:r>
            <a:r>
              <a:rPr 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</a:t>
            </a:r>
            <a:endParaRPr lang="en-US" sz="1200" dirty="0"/>
          </a:p>
        </p:txBody>
      </p:sp>
      <p:sp>
        <p:nvSpPr>
          <p:cNvPr id="13" name="文本框 12"/>
          <p:cNvSpPr txBox="1"/>
          <p:nvPr/>
        </p:nvSpPr>
        <p:spPr>
          <a:xfrm>
            <a:off x="509862" y="2772168"/>
            <a:ext cx="21643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CN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将安装包解压至</a:t>
            </a:r>
            <a:r>
              <a:rPr lang="en-US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/opt/module</a:t>
            </a:r>
            <a:endParaRPr lang="en-US" sz="1200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00" y="3049167"/>
            <a:ext cx="5222276" cy="156428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00" y="3252630"/>
            <a:ext cx="3980267" cy="175998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509862" y="3793059"/>
            <a:ext cx="2566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1.</a:t>
            </a:r>
            <a:r>
              <a:rPr lang="zh-CN" altLang="en-US" sz="1200" dirty="0"/>
              <a:t>修改</a:t>
            </a:r>
            <a:r>
              <a:rPr lang="en-US" altLang="zh-CN" sz="1200" dirty="0" err="1"/>
              <a:t>Mysql</a:t>
            </a:r>
            <a:r>
              <a:rPr lang="zh-CN" altLang="en-US" sz="1200" dirty="0"/>
              <a:t>配置文件</a:t>
            </a:r>
            <a:r>
              <a:rPr lang="en-US" altLang="zh-CN" sz="1200" dirty="0"/>
              <a:t>/</a:t>
            </a:r>
            <a:r>
              <a:rPr lang="en-US" altLang="zh-CN" sz="1200" dirty="0" err="1"/>
              <a:t>etc</a:t>
            </a:r>
            <a:r>
              <a:rPr lang="en-US" altLang="zh-CN" sz="1200" dirty="0"/>
              <a:t>/</a:t>
            </a:r>
            <a:r>
              <a:rPr lang="en-US" altLang="zh-CN" sz="1200" dirty="0" err="1"/>
              <a:t>my.cnf</a:t>
            </a:r>
            <a:endParaRPr lang="en-US" altLang="zh-CN" sz="1200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900" y="4089137"/>
            <a:ext cx="3664674" cy="189916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509862" y="4325923"/>
            <a:ext cx="2566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2.</a:t>
            </a:r>
            <a:r>
              <a:rPr lang="zh-CN" altLang="en-US" sz="1200" dirty="0"/>
              <a:t>增加如下配置</a:t>
            </a:r>
            <a:endParaRPr lang="en-US" altLang="zh-CN" sz="1200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375" y="4617969"/>
            <a:ext cx="3558037" cy="1470920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6558678" y="1308620"/>
            <a:ext cx="1944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1.</a:t>
            </a:r>
            <a:r>
              <a:rPr lang="zh-CN" altLang="en-US" sz="1200" dirty="0"/>
              <a:t>创建数据库</a:t>
            </a:r>
            <a:endParaRPr lang="en-US" altLang="zh-CN" sz="1200" dirty="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8822" y="1562940"/>
            <a:ext cx="2506857" cy="197390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6560811" y="1775510"/>
            <a:ext cx="21728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2.</a:t>
            </a:r>
            <a:r>
              <a:rPr lang="zh-CN" altLang="en-US" sz="1200" dirty="0"/>
              <a:t>调整</a:t>
            </a:r>
            <a:r>
              <a:rPr lang="en-US" altLang="zh-CN" sz="1200" dirty="0" err="1"/>
              <a:t>Mysql</a:t>
            </a:r>
            <a:r>
              <a:rPr lang="zh-CN" altLang="en-US" sz="1200" dirty="0"/>
              <a:t>数据库密码级别</a:t>
            </a:r>
            <a:endParaRPr lang="en-US" altLang="zh-CN" sz="1200" dirty="0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7753" y="2063546"/>
            <a:ext cx="3806858" cy="173354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7753" y="2231597"/>
            <a:ext cx="3806858" cy="175270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6560811" y="2423961"/>
            <a:ext cx="2748884" cy="274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3.</a:t>
            </a:r>
            <a:r>
              <a:rPr lang="zh-CN" altLang="en-US" sz="1200" dirty="0"/>
              <a:t>创建</a:t>
            </a:r>
            <a:r>
              <a:rPr lang="en-US" altLang="zh-CN" sz="1200" dirty="0"/>
              <a:t>Maxwell </a:t>
            </a:r>
            <a:r>
              <a:rPr lang="zh-CN" altLang="en-US" sz="1200" dirty="0"/>
              <a:t>用户并赋予其必要权限</a:t>
            </a:r>
            <a:endParaRPr lang="en-US" altLang="zh-CN" sz="1200" dirty="0"/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7753" y="2704709"/>
            <a:ext cx="4236118" cy="147772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57753" y="2847271"/>
            <a:ext cx="4040647" cy="163618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57753" y="3005108"/>
            <a:ext cx="5560174" cy="200487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6569914" y="3503003"/>
            <a:ext cx="2748884" cy="274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1.</a:t>
            </a:r>
            <a:r>
              <a:rPr lang="zh-CN" altLang="en-US" sz="1200" dirty="0"/>
              <a:t>修改</a:t>
            </a:r>
            <a:r>
              <a:rPr lang="en-US" altLang="zh-CN" sz="1200" dirty="0"/>
              <a:t>Maxwell</a:t>
            </a:r>
            <a:r>
              <a:rPr lang="zh-CN" altLang="en-US" sz="1200" dirty="0"/>
              <a:t>配置文件</a:t>
            </a:r>
            <a:endParaRPr lang="en-US" altLang="zh-CN" sz="1200" dirty="0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57753" y="3742023"/>
            <a:ext cx="4308126" cy="228820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57753" y="3963504"/>
            <a:ext cx="5560174" cy="207919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6569914" y="4192320"/>
            <a:ext cx="2748884" cy="274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2.</a:t>
            </a:r>
            <a:r>
              <a:rPr lang="zh-CN" altLang="en-US" sz="1200" dirty="0"/>
              <a:t>修改</a:t>
            </a:r>
            <a:r>
              <a:rPr lang="en-US" altLang="zh-CN" sz="1200" dirty="0"/>
              <a:t>Maxwell</a:t>
            </a:r>
            <a:r>
              <a:rPr lang="zh-CN" altLang="en-US" sz="1200" dirty="0"/>
              <a:t>配置文件</a:t>
            </a:r>
            <a:endParaRPr lang="en-US" altLang="zh-CN" sz="1200" dirty="0"/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77457" y="4545821"/>
            <a:ext cx="4783175" cy="220545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380975" y="723636"/>
            <a:ext cx="5688360" cy="1131079"/>
            <a:chOff x="387411" y="1070465"/>
            <a:chExt cx="4558747" cy="1072490"/>
          </a:xfrm>
        </p:grpSpPr>
        <p:sp>
          <p:nvSpPr>
            <p:cNvPr id="31" name="文本框 30"/>
            <p:cNvSpPr txBox="1"/>
            <p:nvPr/>
          </p:nvSpPr>
          <p:spPr>
            <a:xfrm>
              <a:off x="387411" y="1070465"/>
              <a:ext cx="4363062" cy="1072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64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375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环境部署</a:t>
              </a:r>
              <a:r>
                <a:rPr kumimoji="0" lang="en-US" altLang="zh-CN" sz="3375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—Flume</a:t>
              </a:r>
              <a:r>
                <a:rPr kumimoji="0" lang="zh-CN" altLang="en-US" sz="3375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安装部署</a:t>
              </a:r>
              <a:endParaRPr kumimoji="0" lang="zh-CN" altLang="en-US" sz="3375" b="1" i="0" u="none" strike="noStrike" kern="1200" cap="none" spc="0" normalizeH="0" baseline="0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387411" y="1755681"/>
              <a:ext cx="4558747" cy="363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64565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zh-CN" sz="1900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+mj-lt"/>
                  <a:ea typeface="等线" panose="02010600030101010101" charset="-122"/>
                </a:rPr>
                <a:t>Environment Deployment</a:t>
              </a:r>
              <a:endPara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+mj-lt"/>
                <a:ea typeface="等线" panose="02010600030101010101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98110" y="1855163"/>
            <a:ext cx="5069410" cy="375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400" b="1" dirty="0">
                <a:ea typeface="Source Han Sans CN Regular" panose="020B0600000000000000" charset="-122"/>
                <a:cs typeface="+mn-ea"/>
              </a:rPr>
              <a:t>Flume</a:t>
            </a:r>
            <a:r>
              <a:rPr lang="zh-CN" altLang="en-US" sz="1400" b="1" dirty="0">
                <a:ea typeface="Source Han Sans CN Regular" panose="020B0600000000000000" charset="-122"/>
                <a:cs typeface="+mn-ea"/>
              </a:rPr>
              <a:t>安装部署</a:t>
            </a:r>
            <a:endParaRPr lang="zh-CN" altLang="zh-CN" sz="1400" b="1" dirty="0">
              <a:ea typeface="Source Han Sans CN Regular" panose="020B0600000000000000" charset="-122"/>
              <a:cs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6966" y="2152923"/>
            <a:ext cx="6514259" cy="423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6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1.</a:t>
            </a:r>
            <a:r>
              <a:rPr lang="zh-CN" sz="16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将</a:t>
            </a:r>
            <a:r>
              <a:rPr lang="en-US" sz="16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apache-flume-1.7.0-bin.tar.gz</a:t>
            </a:r>
            <a:r>
              <a:rPr lang="zh-CN" sz="16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上传到</a:t>
            </a:r>
            <a:r>
              <a:rPr lang="en-US" sz="1600" dirty="0" err="1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linux</a:t>
            </a:r>
            <a:r>
              <a:rPr lang="zh-CN" sz="16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的</a:t>
            </a:r>
            <a:r>
              <a:rPr lang="en-US" sz="16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/opt/software</a:t>
            </a:r>
            <a:r>
              <a:rPr lang="zh-CN" sz="16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目录下</a:t>
            </a:r>
            <a:endParaRPr lang="zh-CN" altLang="zh-CN" sz="1600" b="1" dirty="0">
              <a:ea typeface="Source Han Sans CN Regular" panose="020B0600000000000000" charset="-122"/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6967" y="271358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tabLst>
                <a:tab pos="933450" algn="l"/>
              </a:tabLst>
            </a:pPr>
            <a:r>
              <a:rPr lang="en-US" altLang="zh-CN" sz="1600" kern="1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2.</a:t>
            </a:r>
            <a:r>
              <a:rPr lang="zh-CN" altLang="en-US" sz="1600" kern="1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解压</a:t>
            </a:r>
            <a:r>
              <a:rPr lang="en-US" sz="1600" kern="1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apache-flume-1.7.0-bin.tar.gz</a:t>
            </a:r>
            <a:r>
              <a:rPr lang="zh-CN" altLang="en-US" sz="1600" kern="1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到</a:t>
            </a:r>
            <a:r>
              <a:rPr lang="en-US" altLang="zh-CN" sz="1600" kern="1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/</a:t>
            </a:r>
            <a:r>
              <a:rPr lang="en-US" sz="1600" kern="1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opt/module/</a:t>
            </a:r>
            <a:r>
              <a:rPr lang="zh-CN" altLang="en-US" sz="1600" kern="1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目录下</a:t>
            </a:r>
            <a:endParaRPr lang="zh-CN" altLang="en-US" sz="1600" kern="100" dirty="0">
              <a:effectLst/>
              <a:latin typeface="Aptos" panose="020B0004020202020204" pitchFamily="34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6966" y="371008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3.</a:t>
            </a:r>
            <a:r>
              <a:rPr lang="zh-CN" sz="16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修改</a:t>
            </a:r>
            <a:r>
              <a:rPr lang="en-US" sz="16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apache-flume-1.7.0-bin</a:t>
            </a:r>
            <a:r>
              <a:rPr lang="zh-CN" sz="16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的名称为</a:t>
            </a:r>
            <a:r>
              <a:rPr lang="en-US" altLang="zh-CN" sz="16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flume</a:t>
            </a:r>
            <a:endParaRPr lang="en-US" sz="1600" dirty="0"/>
          </a:p>
        </p:txBody>
      </p:sp>
      <p:sp>
        <p:nvSpPr>
          <p:cNvPr id="8" name="文本框 7"/>
          <p:cNvSpPr txBox="1"/>
          <p:nvPr/>
        </p:nvSpPr>
        <p:spPr>
          <a:xfrm>
            <a:off x="506966" y="4883769"/>
            <a:ext cx="609600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4.</a:t>
            </a:r>
            <a:r>
              <a:rPr lang="zh-CN" sz="16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将</a:t>
            </a:r>
            <a:r>
              <a:rPr lang="en-US" sz="16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flume/conf</a:t>
            </a:r>
            <a:r>
              <a:rPr lang="zh-CN" sz="16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下的</a:t>
            </a:r>
            <a:r>
              <a:rPr lang="en-US" sz="16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flume-</a:t>
            </a:r>
            <a:r>
              <a:rPr lang="en-US" sz="1600" dirty="0" err="1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env.sh.template</a:t>
            </a:r>
            <a:r>
              <a:rPr lang="zh-CN" sz="16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文件修改为</a:t>
            </a:r>
            <a:r>
              <a:rPr lang="en-US" sz="16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flume-env.sh,</a:t>
            </a:r>
            <a:r>
              <a:rPr lang="zh-CN" sz="16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并配置</a:t>
            </a:r>
            <a:r>
              <a:rPr lang="en-US" sz="16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flume-env.sh</a:t>
            </a:r>
            <a:r>
              <a:rPr lang="zh-CN" sz="16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文件</a:t>
            </a:r>
            <a:r>
              <a:rPr lang="en-US" altLang="zh-CN" sz="16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   </a:t>
            </a:r>
            <a:r>
              <a:rPr lang="zh-CN" altLang="en-US" sz="16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将</a:t>
            </a:r>
            <a:r>
              <a:rPr lang="en-US" altLang="zh-CN" sz="16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jdk</a:t>
            </a:r>
            <a:r>
              <a:rPr lang="zh-CN" altLang="en-US" sz="16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添加到</a:t>
            </a:r>
            <a:r>
              <a:rPr lang="zh-CN" altLang="en-US" sz="1600" dirty="0">
                <a:effectLst/>
                <a:latin typeface="Aptos" panose="020B0004020202020204" pitchFamily="34" charset="0"/>
                <a:ea typeface="等线" panose="02010600030101010101" charset="-122"/>
                <a:cs typeface="Times New Roman" panose="02020603050405020304" pitchFamily="18" charset="0"/>
              </a:rPr>
              <a:t>配置文件中</a:t>
            </a:r>
            <a:endParaRPr lang="zh-CN" altLang="en-US" sz="1600" dirty="0">
              <a:effectLst/>
              <a:latin typeface="Aptos" panose="020B0004020202020204" pitchFamily="34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endParaRPr lang="zh-CN" altLang="en-US" sz="1600" dirty="0">
              <a:effectLst/>
              <a:latin typeface="Aptos" panose="020B0004020202020204" pitchFamily="34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975" y="3238838"/>
            <a:ext cx="9307224" cy="314369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75" y="4193150"/>
            <a:ext cx="8476386" cy="338554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66" y="5631405"/>
            <a:ext cx="8714627" cy="338554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966" y="6309574"/>
            <a:ext cx="6338910" cy="34870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966" y="5969959"/>
            <a:ext cx="5859578" cy="338554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5205239" y="3112635"/>
            <a:ext cx="2592288" cy="994410"/>
            <a:chOff x="202425" y="1160645"/>
            <a:chExt cx="4558747" cy="942900"/>
          </a:xfrm>
        </p:grpSpPr>
        <p:sp>
          <p:nvSpPr>
            <p:cNvPr id="31" name="文本框 30"/>
            <p:cNvSpPr txBox="1"/>
            <p:nvPr/>
          </p:nvSpPr>
          <p:spPr>
            <a:xfrm>
              <a:off x="583096" y="1160645"/>
              <a:ext cx="3432313" cy="579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64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375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数据</a:t>
              </a:r>
              <a:r>
                <a:rPr kumimoji="0" lang="zh-CN" altLang="en-US" sz="3375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生成</a:t>
              </a:r>
              <a:endParaRPr kumimoji="0" lang="zh-CN" altLang="en-US" sz="3375" b="1" i="0" u="none" strike="noStrike" kern="1200" cap="none" spc="0" normalizeH="0" baseline="0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202425" y="1739872"/>
              <a:ext cx="4558747" cy="363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64565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zh-CN" sz="1900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+mj-lt"/>
                  <a:ea typeface="等线" panose="02010600030101010101" charset="-122"/>
                </a:rPr>
                <a:t>    Data generator</a:t>
              </a:r>
              <a:endPara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+mj-lt"/>
                <a:ea typeface="等线" panose="0201060003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9733" y="152157"/>
            <a:ext cx="1253904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利用</a:t>
            </a:r>
            <a:r>
              <a:rPr lang="en-US" altLang="zh-CN" dirty="0"/>
              <a:t> java -jar edu2025-mock-2025-04-11.jar </a:t>
            </a:r>
            <a:r>
              <a:rPr lang="zh-CN" altLang="en-US" dirty="0"/>
              <a:t>生成数据</a:t>
            </a:r>
            <a:r>
              <a:rPr lang="en-US" altLang="zh-CN" dirty="0"/>
              <a:t> 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755" y="664210"/>
            <a:ext cx="11427460" cy="5509895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9733" y="152157"/>
            <a:ext cx="1253904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编写脚本</a:t>
            </a:r>
            <a:r>
              <a:rPr lang="en-US" altLang="zh-CN" dirty="0"/>
              <a:t> 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365" y="664210"/>
            <a:ext cx="6446520" cy="55905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221220" y="231775"/>
            <a:ext cx="4528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3.</a:t>
            </a:r>
            <a:r>
              <a:rPr lang="zh-CN" altLang="en-US" dirty="0"/>
              <a:t>执行脚本</a:t>
            </a:r>
            <a:r>
              <a:rPr lang="en-US" altLang="zh-CN" dirty="0"/>
              <a:t> </a:t>
            </a:r>
            <a:r>
              <a:rPr lang="zh-CN" altLang="en-US" dirty="0"/>
              <a:t>，</a:t>
            </a:r>
            <a:r>
              <a:rPr lang="zh-CN" altLang="en-US" dirty="0"/>
              <a:t>生成数据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3610" y="808355"/>
            <a:ext cx="4953000" cy="5238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3610" y="2896235"/>
            <a:ext cx="4970145" cy="258699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221220" y="2536190"/>
            <a:ext cx="233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4.</a:t>
            </a:r>
            <a:r>
              <a:rPr lang="zh-CN" altLang="en-US" dirty="0"/>
              <a:t>验证</a:t>
            </a:r>
            <a:r>
              <a:rPr lang="zh-CN" altLang="en-US" dirty="0"/>
              <a:t>数据</a:t>
            </a:r>
            <a:endParaRPr lang="zh-CN" altLang="en-US" dirty="0"/>
          </a:p>
        </p:txBody>
      </p:sp>
    </p:spTree>
  </p:cSld>
  <p:clrMapOvr>
    <a:masterClrMapping/>
  </p:clrMapOvr>
  <p:transition spd="slow">
    <p:cover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5205239" y="3112635"/>
            <a:ext cx="2592288" cy="994410"/>
            <a:chOff x="202425" y="1160645"/>
            <a:chExt cx="4558747" cy="942900"/>
          </a:xfrm>
        </p:grpSpPr>
        <p:sp>
          <p:nvSpPr>
            <p:cNvPr id="31" name="文本框 30"/>
            <p:cNvSpPr txBox="1"/>
            <p:nvPr/>
          </p:nvSpPr>
          <p:spPr>
            <a:xfrm>
              <a:off x="583096" y="1160645"/>
              <a:ext cx="3432313" cy="579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64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375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数据同步</a:t>
              </a:r>
              <a:endParaRPr kumimoji="0" lang="zh-CN" altLang="en-US" sz="3375" b="1" i="0" u="none" strike="noStrike" kern="1200" cap="none" spc="0" normalizeH="0" baseline="0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202425" y="1739872"/>
              <a:ext cx="4558747" cy="363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64565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900" b="1" dirty="0">
                  <a:solidFill>
                    <a:srgbClr val="0F3568"/>
                  </a:solidFill>
                  <a:latin typeface="+mj-lt"/>
                  <a:ea typeface="等线" panose="02010600030101010101" charset="-122"/>
                </a:rPr>
                <a:t>Data synchronization</a:t>
              </a:r>
              <a:endPara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+mj-lt"/>
                <a:ea typeface="等线" panose="0201060003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9733" y="152157"/>
            <a:ext cx="125390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  全量数据同步</a:t>
            </a:r>
            <a:endParaRPr lang="en-US" altLang="zh-CN" dirty="0"/>
          </a:p>
          <a:p>
            <a:r>
              <a:rPr lang="en-US" altLang="zh-CN" dirty="0"/>
              <a:t>(1) </a:t>
            </a:r>
            <a:r>
              <a:rPr lang="zh-CN" altLang="en-US" dirty="0"/>
              <a:t>利用</a:t>
            </a:r>
            <a:r>
              <a:rPr lang="en-US" altLang="zh-CN" dirty="0"/>
              <a:t> Python ./bin/datax.py -r </a:t>
            </a:r>
            <a:r>
              <a:rPr lang="en-US" altLang="zh-CN" dirty="0" err="1"/>
              <a:t>mysqlreader</a:t>
            </a:r>
            <a:r>
              <a:rPr lang="en-US" altLang="zh-CN" dirty="0"/>
              <a:t> -w </a:t>
            </a:r>
            <a:endParaRPr lang="en-US" altLang="zh-CN" dirty="0"/>
          </a:p>
          <a:p>
            <a:r>
              <a:rPr lang="en-US" altLang="zh-CN" dirty="0" err="1"/>
              <a:t>hdfswriter</a:t>
            </a:r>
            <a:r>
              <a:rPr lang="en-US" altLang="zh-CN" dirty="0"/>
              <a:t> </a:t>
            </a:r>
            <a:r>
              <a:rPr lang="zh-CN" altLang="en-US" dirty="0"/>
              <a:t>命令生成</a:t>
            </a:r>
            <a:r>
              <a:rPr lang="en-US" altLang="zh-CN" dirty="0" err="1"/>
              <a:t>datax</a:t>
            </a:r>
            <a:r>
              <a:rPr lang="zh-CN" altLang="en-US" dirty="0"/>
              <a:t>的</a:t>
            </a:r>
            <a:r>
              <a:rPr lang="en-US" altLang="zh-CN" dirty="0" err="1"/>
              <a:t>json</a:t>
            </a:r>
            <a:r>
              <a:rPr lang="zh-CN" altLang="en-US" dirty="0"/>
              <a:t>配置文件模板</a:t>
            </a:r>
            <a:endParaRPr lang="zh-CN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892" y="1134715"/>
            <a:ext cx="5013708" cy="593665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213351" y="73086"/>
            <a:ext cx="6840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(2) </a:t>
            </a:r>
            <a:r>
              <a:rPr lang="zh-CN" altLang="en-US" dirty="0"/>
              <a:t>填入对应的</a:t>
            </a:r>
            <a:r>
              <a:rPr lang="en-US" altLang="zh-CN" dirty="0" err="1"/>
              <a:t>mysql</a:t>
            </a:r>
            <a:r>
              <a:rPr lang="zh-CN" altLang="en-US" dirty="0"/>
              <a:t>和</a:t>
            </a:r>
            <a:r>
              <a:rPr lang="en-US" altLang="zh-CN" dirty="0" err="1"/>
              <a:t>hdfs</a:t>
            </a:r>
            <a:r>
              <a:rPr lang="zh-CN" altLang="en-US" dirty="0"/>
              <a:t>的信息参数</a:t>
            </a: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605" y="434384"/>
            <a:ext cx="6193412" cy="362612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605" y="3431084"/>
            <a:ext cx="6193412" cy="3640289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9733" y="152157"/>
            <a:ext cx="125390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(3) Python ./bin/datax.py ./job/</a:t>
            </a:r>
            <a:r>
              <a:rPr lang="en-US" altLang="zh-CN" dirty="0" err="1"/>
              <a:t>edu</a:t>
            </a:r>
            <a:r>
              <a:rPr lang="en-US" altLang="zh-CN" dirty="0"/>
              <a:t>/import/</a:t>
            </a:r>
            <a:r>
              <a:rPr lang="en-US" altLang="zh-CN" dirty="0" err="1"/>
              <a:t>edu.cart_info.json</a:t>
            </a:r>
            <a:endParaRPr lang="en-US" altLang="zh-CN" dirty="0"/>
          </a:p>
          <a:p>
            <a:r>
              <a:rPr lang="zh-CN" altLang="en-US" dirty="0"/>
              <a:t>运行</a:t>
            </a:r>
            <a:r>
              <a:rPr lang="en-US" altLang="zh-CN" dirty="0" err="1"/>
              <a:t>datax</a:t>
            </a:r>
            <a:r>
              <a:rPr lang="zh-CN" altLang="en-US" dirty="0"/>
              <a:t>进行全量数据同步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710" y="798488"/>
            <a:ext cx="10672365" cy="6282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9733" y="152157"/>
            <a:ext cx="12539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(4)</a:t>
            </a:r>
            <a:r>
              <a:rPr lang="zh-CN" altLang="en-US" dirty="0"/>
              <a:t>编写</a:t>
            </a:r>
            <a:r>
              <a:rPr lang="en-US" altLang="zh-CN" dirty="0" err="1"/>
              <a:t>datax</a:t>
            </a:r>
            <a:r>
              <a:rPr lang="zh-CN" altLang="en-US" dirty="0"/>
              <a:t>脚本自动生成文件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11" y="591989"/>
            <a:ext cx="8382431" cy="80649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59733" y="1600101"/>
            <a:ext cx="12539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脚本生成结果展示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11" y="1969433"/>
            <a:ext cx="10690098" cy="40231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9733" y="152157"/>
            <a:ext cx="12539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(5) </a:t>
            </a:r>
            <a:r>
              <a:rPr lang="zh-CN" altLang="en-US" dirty="0"/>
              <a:t>有了</a:t>
            </a:r>
            <a:r>
              <a:rPr lang="en-US" altLang="zh-CN" dirty="0" err="1"/>
              <a:t>datax</a:t>
            </a:r>
            <a:r>
              <a:rPr lang="zh-CN" altLang="en-US" dirty="0"/>
              <a:t>脚本自动生成文件一个一个执行太过于繁琐浪费时间因此</a:t>
            </a:r>
            <a:r>
              <a:rPr lang="en-US" altLang="zh-CN" dirty="0"/>
              <a:t>,</a:t>
            </a:r>
            <a:r>
              <a:rPr lang="zh-CN" altLang="en-US" dirty="0"/>
              <a:t>编写脚本</a:t>
            </a:r>
            <a:r>
              <a:rPr lang="en-US" altLang="zh-CN" dirty="0"/>
              <a:t>mysql_to_hdfs.sh</a:t>
            </a:r>
            <a:endParaRPr lang="en-US" altLang="zh-CN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733" y="536435"/>
            <a:ext cx="10966186" cy="64393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9733" y="152157"/>
            <a:ext cx="12539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(6) /home/hadoop/bin/mysql_to_hdfs.sh all </a:t>
            </a:r>
            <a:r>
              <a:rPr lang="zh-CN" altLang="en-US" dirty="0"/>
              <a:t>运行脚本</a:t>
            </a:r>
            <a:r>
              <a:rPr lang="en-US" altLang="zh-CN" dirty="0"/>
              <a:t>,</a:t>
            </a:r>
            <a:r>
              <a:rPr lang="zh-CN" altLang="en-US" dirty="0"/>
              <a:t>执行完成后全量同步成功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712" y="554693"/>
            <a:ext cx="10729192" cy="64614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700905" y="2464435"/>
            <a:ext cx="4842510" cy="972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 b="1">
                <a:solidFill>
                  <a:schemeClr val="accent1">
                    <a:lumMod val="75000"/>
                  </a:schemeClr>
                </a:solidFill>
                <a:latin typeface="等线" panose="02010600030101010101" charset="-122"/>
                <a:ea typeface="等线" panose="02010600030101010101" charset="-122"/>
              </a:rPr>
              <a:t>数据采集</a:t>
            </a:r>
            <a:endParaRPr lang="zh-CN" altLang="en-US" sz="4000" b="1">
              <a:solidFill>
                <a:schemeClr val="accent1">
                  <a:lumMod val="75000"/>
                </a:schemeClr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060950" y="3400425"/>
            <a:ext cx="428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>
                <a:solidFill>
                  <a:schemeClr val="accent1">
                    <a:lumMod val="75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标题" charset="0"/>
              </a:rPr>
              <a:t>Data Collection</a:t>
            </a:r>
            <a:endParaRPr lang="en-US" altLang="zh-CN" sz="1800" b="1">
              <a:solidFill>
                <a:schemeClr val="accent1">
                  <a:lumMod val="75000"/>
                </a:schemeClr>
              </a:solidFill>
              <a:latin typeface="等线 Light" panose="02010600030101010101" charset="-122"/>
              <a:ea typeface="等线 Light" panose="02010600030101010101" charset="-122"/>
              <a:cs typeface="标题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84759" y="562747"/>
            <a:ext cx="8798560" cy="4933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600" b="1">
                <a:latin typeface="Times New Roman" panose="02020603050405020304"/>
                <a:sym typeface="+mn-ea"/>
              </a:rPr>
              <a:t>Flume配置文件</a:t>
            </a:r>
            <a:endParaRPr kumimoji="0" lang="zh-CN" altLang="en-US" sz="2600" b="1" i="0" u="none" strike="noStrike" kern="1200" cap="none" spc="0" normalizeH="0" baseline="0">
              <a:latin typeface="Times New Roman" panose="02020603050405020304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759" y="1240061"/>
            <a:ext cx="4032448" cy="425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231" y="1240061"/>
            <a:ext cx="5760640" cy="4469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0485" y="1383665"/>
            <a:ext cx="3806825" cy="3542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215" y="1383665"/>
            <a:ext cx="4070985" cy="3427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45" y="1383665"/>
            <a:ext cx="4148455" cy="3385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0485" y="3616325"/>
            <a:ext cx="3721100" cy="344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510" y="4834255"/>
            <a:ext cx="8011160" cy="231838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884555" y="460375"/>
            <a:ext cx="9836785" cy="646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FontTx/>
            </a:pPr>
            <a:r>
              <a:rPr lang="zh-CN" altLang="en-US" sz="2600" b="1" dirty="0">
                <a:latin typeface="Times New Roman" panose="02020603050405020304"/>
                <a:sym typeface="+mn-ea"/>
              </a:rPr>
              <a:t>在idea中编写ETL拦截器  打包并放入flume/lib目录下</a:t>
            </a:r>
            <a:endParaRPr kumimoji="0" lang="zh-CN" altLang="en-US" sz="2600" b="1" i="0" u="none" strike="noStrike" kern="1200" cap="none" spc="0" normalizeH="0" baseline="0" dirty="0">
              <a:latin typeface="Times New Roman" panose="02020603050405020304"/>
              <a:cs typeface="+mn-cs"/>
            </a:endParaRPr>
          </a:p>
          <a:p>
            <a:endParaRPr lang="zh-CN" altLang="en-US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9733" y="1052671"/>
            <a:ext cx="125390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Both"/>
            </a:pPr>
            <a:r>
              <a:rPr lang="en-US" altLang="zh-CN" dirty="0"/>
              <a:t>/opt/module/maxwell-1.29.2/bin/maxwell </a:t>
            </a:r>
            <a:endParaRPr lang="en-US" altLang="zh-CN" dirty="0"/>
          </a:p>
          <a:p>
            <a:r>
              <a:rPr lang="en-US" altLang="zh-CN" dirty="0"/>
              <a:t>–daemon /opt/module/maxwell-1.29.2/</a:t>
            </a:r>
            <a:r>
              <a:rPr lang="en-US" altLang="zh-CN" dirty="0" err="1"/>
              <a:t>config.properties</a:t>
            </a:r>
            <a:endParaRPr lang="en-US" altLang="zh-CN" dirty="0"/>
          </a:p>
          <a:p>
            <a:r>
              <a:rPr lang="zh-CN" altLang="en-US" dirty="0"/>
              <a:t>启动</a:t>
            </a:r>
            <a:r>
              <a:rPr lang="en-US" altLang="zh-CN" dirty="0"/>
              <a:t>maxwell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711" y="1976001"/>
            <a:ext cx="5274310" cy="10642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59732" y="3688333"/>
            <a:ext cx="125390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(2) maxwell-bootstrap –database </a:t>
            </a:r>
            <a:r>
              <a:rPr lang="en-US" altLang="zh-CN" dirty="0" err="1"/>
              <a:t>edu</a:t>
            </a:r>
            <a:r>
              <a:rPr lang="en-US" altLang="zh-CN" dirty="0"/>
              <a:t> –table </a:t>
            </a:r>
            <a:r>
              <a:rPr lang="en-US" altLang="zh-CN" dirty="0" err="1"/>
              <a:t>cart_info</a:t>
            </a:r>
            <a:r>
              <a:rPr lang="en-US" altLang="zh-CN" dirty="0"/>
              <a:t> </a:t>
            </a:r>
            <a:endParaRPr lang="en-US" altLang="zh-CN" dirty="0"/>
          </a:p>
          <a:p>
            <a:r>
              <a:rPr lang="en-US" altLang="zh-CN" dirty="0"/>
              <a:t> --config </a:t>
            </a:r>
            <a:r>
              <a:rPr lang="en-US" altLang="zh-CN" dirty="0" err="1"/>
              <a:t>config.properties</a:t>
            </a:r>
            <a:r>
              <a:rPr lang="zh-CN" altLang="en-US" dirty="0"/>
              <a:t>运行</a:t>
            </a:r>
            <a:r>
              <a:rPr lang="en-US" altLang="zh-CN" dirty="0"/>
              <a:t>maxwell</a:t>
            </a:r>
            <a:endParaRPr lang="en-US" altLang="zh-CN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878" y="4408413"/>
            <a:ext cx="11698333" cy="10288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9733" y="152157"/>
            <a:ext cx="1253904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(4) </a:t>
            </a:r>
            <a:r>
              <a:rPr lang="zh-CN" altLang="en-US" dirty="0"/>
              <a:t>由于数据库中表过多为了方便</a:t>
            </a:r>
            <a:r>
              <a:rPr lang="en-US" altLang="zh-CN" dirty="0"/>
              <a:t>,</a:t>
            </a:r>
            <a:r>
              <a:rPr lang="zh-CN" altLang="en-US" dirty="0"/>
              <a:t>编写脚本</a:t>
            </a:r>
            <a:r>
              <a:rPr lang="en-US" altLang="zh-CN" dirty="0"/>
              <a:t>mysql_to_kafka_inc_init.sh   </a:t>
            </a:r>
            <a:r>
              <a:rPr lang="zh-CN" altLang="en-US" dirty="0"/>
              <a:t>执行首日全量</a:t>
            </a:r>
            <a:r>
              <a:rPr lang="zh-CN" altLang="en-US" dirty="0"/>
              <a:t>同步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733" y="663997"/>
            <a:ext cx="11593543" cy="38962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48790" y="591820"/>
            <a:ext cx="9598660" cy="1125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600" b="1" dirty="0">
                <a:latin typeface="Times New Roman" panose="02020603050405020304"/>
                <a:sym typeface="+mn-ea"/>
              </a:rPr>
              <a:t>编写</a:t>
            </a:r>
            <a:r>
              <a:rPr lang="en-US" altLang="zh-CN" sz="2600" b="1" dirty="0">
                <a:latin typeface="Times New Roman" panose="02020603050405020304"/>
                <a:sym typeface="+mn-ea"/>
              </a:rPr>
              <a:t>flume</a:t>
            </a:r>
            <a:r>
              <a:rPr lang="zh-CN" altLang="en-US" sz="2600" b="1" dirty="0">
                <a:latin typeface="Times New Roman" panose="02020603050405020304"/>
                <a:sym typeface="+mn-ea"/>
              </a:rPr>
              <a:t>时间过滤器，放到flume/lib目录下。   </a:t>
            </a:r>
            <a:r>
              <a:rPr kumimoji="0" lang="zh-CN" altLang="en-US" sz="2600" b="1" i="0" u="none" strike="noStrike" kern="1200" cap="none" spc="0" normalizeH="0" baseline="0" dirty="0">
                <a:latin typeface="Times New Roman" panose="02020603050405020304"/>
                <a:cs typeface="+mn-cs"/>
              </a:rPr>
              <a:t>Flume配置文件编写创建文件夹 编辑之后在flume-1.9.0下启动 命令：./bin/flume-ng agent --name a1 --conf-file job/kakfa-flume-hdfs.conf -Dflume.root.logger=console,INFO</a:t>
            </a:r>
            <a:endParaRPr lang="zh-CN" altLang="en-US" sz="2600" b="1" dirty="0">
              <a:latin typeface="Times New Roman" panose="02020603050405020304"/>
            </a:endParaRPr>
          </a:p>
        </p:txBody>
      </p:sp>
      <p:pic>
        <p:nvPicPr>
          <p:cNvPr id="3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5" y="2320181"/>
            <a:ext cx="5612690" cy="214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845" y="4480560"/>
            <a:ext cx="5468620" cy="266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136" y="2306102"/>
            <a:ext cx="6124614" cy="483955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11275" y="296545"/>
            <a:ext cx="10828020" cy="8420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defTabSz="266700">
              <a:spcBef>
                <a:spcPts val="0"/>
              </a:spcBef>
              <a:buClrTx/>
              <a:buSzTx/>
              <a:buNone/>
            </a:pPr>
            <a:r>
              <a:rPr lang="zh-CN" altLang="en-US" sz="2600" b="1" dirty="0">
                <a:latin typeface="Times New Roman" panose="02020603050405020304"/>
                <a:sym typeface="+mn-ea"/>
              </a:rPr>
              <a:t>创建相应对应的jar包 编写flume时间戳 并配置flume文件 最后进行跑数据   要用文件日志中的时间戳</a:t>
            </a:r>
            <a:endParaRPr kumimoji="0" lang="zh-CN" altLang="en-US" sz="2600" b="1" i="0" u="none" strike="noStrike" kern="1200" cap="none" spc="0" normalizeH="0" baseline="0" dirty="0">
              <a:latin typeface="Times New Roman" panose="02020603050405020304"/>
              <a:cs typeface="+mn-cs"/>
            </a:endParaRPr>
          </a:p>
          <a:p>
            <a:endParaRPr lang="zh-CN" altLang="en-US" dirty="0"/>
          </a:p>
        </p:txBody>
      </p:sp>
      <p:pic>
        <p:nvPicPr>
          <p:cNvPr id="3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939915" y="1211580"/>
            <a:ext cx="5175250" cy="3823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355" y="1211580"/>
            <a:ext cx="5619750" cy="3823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" y="3112135"/>
            <a:ext cx="4241800" cy="369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2650" y="3112770"/>
            <a:ext cx="4366895" cy="371983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4510" y="3112135"/>
            <a:ext cx="4477385" cy="369887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9733" y="152157"/>
            <a:ext cx="12539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(5) /home/hadoop/bin/mysql_to_kafka_inc_init.sh all</a:t>
            </a:r>
            <a:r>
              <a:rPr lang="zh-CN" altLang="en-US" dirty="0"/>
              <a:t>运行脚本</a:t>
            </a:r>
            <a:r>
              <a:rPr lang="en-US" altLang="zh-CN" dirty="0"/>
              <a:t>,</a:t>
            </a:r>
            <a:r>
              <a:rPr lang="zh-CN" altLang="en-US" dirty="0"/>
              <a:t>执行完成后增量同步成功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733" y="591989"/>
            <a:ext cx="8445906" cy="64243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5421704" y="3112635"/>
            <a:ext cx="1951752" cy="958850"/>
            <a:chOff x="583096" y="1160645"/>
            <a:chExt cx="3432313" cy="909182"/>
          </a:xfrm>
        </p:grpSpPr>
        <p:sp>
          <p:nvSpPr>
            <p:cNvPr id="31" name="文本框 30"/>
            <p:cNvSpPr txBox="1"/>
            <p:nvPr/>
          </p:nvSpPr>
          <p:spPr>
            <a:xfrm>
              <a:off x="583096" y="1160645"/>
              <a:ext cx="3432313" cy="6701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64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784102" y="1706154"/>
              <a:ext cx="3009503" cy="363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64565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zh-CN" sz="1900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+mj-lt"/>
                  <a:ea typeface="等线" panose="02010600030101010101" charset="-122"/>
                </a:rPr>
                <a:t>Hive On Spark</a:t>
              </a:r>
              <a:endPara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+mj-lt"/>
                <a:ea typeface="等线" panose="02010600030101010101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247640" y="2896235"/>
            <a:ext cx="22879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sym typeface="+mn-ea"/>
              </a:rPr>
              <a:t>数据仓库</a:t>
            </a:r>
            <a:endParaRPr lang="zh-CN" altLang="en-US" sz="40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  <p:transition spd="slow" advClick="0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4950" y="114935"/>
            <a:ext cx="9374505" cy="101473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3375" b="1" noProof="0" dirty="0">
                <a:ln w="15875"/>
                <a:gradFill>
                  <a:gsLst>
                    <a:gs pos="0">
                      <a:schemeClr val="accent1">
                        <a:lumOff val="-19986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86"/>
                      </a:schemeClr>
                    </a:gs>
                  </a:gsLst>
                  <a:lin ang="0" scaled="0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数据仓库Hive On Spark的搭建</a:t>
            </a:r>
            <a:r>
              <a:rPr lang="zh-CN" altLang="en-US" sz="3375" b="1" noProof="0" dirty="0">
                <a:ln w="15875"/>
                <a:gradFill>
                  <a:gsLst>
                    <a:gs pos="0">
                      <a:schemeClr val="accent1">
                        <a:lumOff val="-19986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86"/>
                      </a:schemeClr>
                    </a:gs>
                  </a:gsLst>
                  <a:lin ang="0" scaled="0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--hive环境搭建</a:t>
            </a:r>
            <a:endParaRPr lang="zh-CN" altLang="en-US" sz="3375" b="1" noProof="0" dirty="0">
              <a:ln w="15875"/>
              <a:gradFill>
                <a:gsLst>
                  <a:gs pos="0">
                    <a:schemeClr val="accent1">
                      <a:lumOff val="-19986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86"/>
                    </a:schemeClr>
                  </a:gs>
                </a:gsLst>
                <a:lin ang="0" scaled="0"/>
              </a:gra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36855" y="1311910"/>
            <a:ext cx="42862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1.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去Spark官网选择</a:t>
            </a: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 without-hadoop 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没有集成</a:t>
            </a: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 Hadoop 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的</a:t>
            </a: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 Spark 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版本进行下载</a:t>
            </a:r>
            <a:endParaRPr lang="zh-CN" altLang="en-US" sz="18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36855" y="3111500"/>
            <a:ext cx="1489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2.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解压Spar</a:t>
            </a: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k</a:t>
            </a:r>
            <a:endParaRPr lang="en-US" altLang="zh-CN" sz="18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34950" y="4336415"/>
            <a:ext cx="1843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3.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配置环境变量</a:t>
            </a:r>
            <a:endParaRPr lang="zh-CN" altLang="en-US" sz="18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293610" y="1311910"/>
            <a:ext cx="1736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4.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刷新环境变量</a:t>
            </a:r>
            <a:endParaRPr lang="zh-CN" altLang="en-US" sz="18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221855" y="2608580"/>
            <a:ext cx="3294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5.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在</a:t>
            </a: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hive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中创建</a:t>
            </a: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spark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配置文件</a:t>
            </a:r>
            <a:endParaRPr lang="zh-CN" altLang="en-US" sz="18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19" name="内容占位符 18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6855" y="2139315"/>
            <a:ext cx="6102350" cy="78994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55" y="3662045"/>
            <a:ext cx="6038215" cy="4419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55" y="4836795"/>
            <a:ext cx="6038215" cy="35623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355" y="5488940"/>
            <a:ext cx="6038850" cy="94869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3610" y="1765300"/>
            <a:ext cx="4020185" cy="37401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3610" y="3256280"/>
            <a:ext cx="4864735" cy="50165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3610" y="4874895"/>
            <a:ext cx="5321300" cy="1264285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7293610" y="4048125"/>
            <a:ext cx="42265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添加如下内容（在执行任务时，会根据如下参数执行）</a:t>
            </a:r>
            <a:endParaRPr lang="zh-CN" altLang="en-US" sz="18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8" grpId="0"/>
      <p:bldP spid="9" grpId="0"/>
      <p:bldP spid="12" grpId="0"/>
      <p:bldP spid="14" grpId="0"/>
      <p:bldP spid="2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95300" y="1456055"/>
            <a:ext cx="3576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6.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在</a:t>
            </a: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HDFS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创建如下路径，用于存储历史日志</a:t>
            </a:r>
            <a:endParaRPr lang="zh-CN" altLang="en-US" sz="18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2104390"/>
            <a:ext cx="5499735" cy="40195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25145" y="2788285"/>
            <a:ext cx="3291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7.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上传并解压</a:t>
            </a: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spark-3.0.0-bin-without-hadoop.tgz</a:t>
            </a:r>
            <a:endParaRPr lang="en-US" altLang="zh-CN" sz="18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3435985"/>
            <a:ext cx="5934710" cy="45021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55" y="4785360"/>
            <a:ext cx="3997960" cy="37973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495300" y="4120515"/>
            <a:ext cx="3291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8.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上传</a:t>
            </a: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Spark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纯净版</a:t>
            </a: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jar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包到</a:t>
            </a: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HDFS</a:t>
            </a:r>
            <a:endParaRPr lang="en-US" altLang="zh-CN" sz="18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755" y="5488940"/>
            <a:ext cx="5935345" cy="48704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005955" y="1459230"/>
            <a:ext cx="35763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9.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修改</a:t>
            </a: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hive-site.xml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文件</a:t>
            </a:r>
            <a:endParaRPr lang="zh-CN" altLang="en-US" sz="18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5955" y="2032000"/>
            <a:ext cx="5318760" cy="63373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5955" y="2870200"/>
            <a:ext cx="5770245" cy="2139950"/>
          </a:xfrm>
          <a:prstGeom prst="rect">
            <a:avLst/>
          </a:prstGeom>
        </p:spPr>
      </p:pic>
      <p:sp>
        <p:nvSpPr>
          <p:cNvPr id="19" name="标题 18"/>
          <p:cNvSpPr>
            <a:spLocks noGrp="1"/>
          </p:cNvSpPr>
          <p:nvPr>
            <p:ph type="title"/>
          </p:nvPr>
        </p:nvSpPr>
        <p:spPr>
          <a:xfrm>
            <a:off x="236855" y="88265"/>
            <a:ext cx="9210675" cy="1048385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3375" b="1" noProof="0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数据仓库Hive On Spark的搭建--hive环境搭建</a:t>
            </a:r>
            <a:endParaRPr lang="zh-CN" altLang="en-US" sz="3375" b="1" noProof="0" dirty="0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3" grpId="0"/>
      <p:bldP spid="15" grpId="0"/>
      <p:bldP spid="1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8"/>
          <p:cNvSpPr>
            <a:spLocks noGrp="1"/>
          </p:cNvSpPr>
          <p:nvPr>
            <p:ph type="title"/>
          </p:nvPr>
        </p:nvSpPr>
        <p:spPr>
          <a:xfrm>
            <a:off x="309245" y="88265"/>
            <a:ext cx="8437245" cy="108712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3375" b="1" noProof="0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数据仓库Hive On Spark</a:t>
            </a:r>
            <a:r>
              <a:rPr lang="zh-CN" altLang="en-US" sz="3375" b="1" noProof="0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--hive环境</a:t>
            </a:r>
            <a:r>
              <a:rPr lang="zh-CN" altLang="en-US" sz="3375" b="1" noProof="0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测试</a:t>
            </a:r>
            <a:endParaRPr lang="zh-CN" altLang="en-US" sz="3375" b="1" noProof="0" dirty="0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637530" y="1583055"/>
            <a:ext cx="2362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3.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通过</a:t>
            </a: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insert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测试效果</a:t>
            </a:r>
            <a:endParaRPr lang="zh-CN" altLang="en-US" sz="18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2032635"/>
            <a:ext cx="4846320" cy="19729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95300" y="4192905"/>
            <a:ext cx="2081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2.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创建一张测试表</a:t>
            </a:r>
            <a:endParaRPr lang="zh-CN" altLang="en-US" sz="18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4783455"/>
            <a:ext cx="4760595" cy="10401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22300" y="1583055"/>
            <a:ext cx="2081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1.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启动</a:t>
            </a: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hive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客户端</a:t>
            </a:r>
            <a:endParaRPr lang="zh-CN" altLang="en-US" sz="18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530" y="2032000"/>
            <a:ext cx="6773545" cy="4386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9" grpId="0"/>
      <p:bldP spid="5" grpId="0"/>
      <p:bldP spid="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8"/>
          <p:cNvSpPr>
            <a:spLocks noGrp="1"/>
          </p:cNvSpPr>
          <p:nvPr>
            <p:ph type="title"/>
          </p:nvPr>
        </p:nvSpPr>
        <p:spPr>
          <a:xfrm>
            <a:off x="495300" y="88265"/>
            <a:ext cx="6055360" cy="102616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3375" b="1" noProof="0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数据仓库Hive On Spark的搭建</a:t>
            </a:r>
            <a:endParaRPr lang="zh-CN" altLang="en-US" sz="3375" b="1" noProof="0" dirty="0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2755" y="2104390"/>
            <a:ext cx="3787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1.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增加</a:t>
            </a: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ApplicationMast</a:t>
            </a:r>
            <a:r>
              <a:rPr lang="en-US" altLang="zh-CN" sz="1800" b="1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er</a:t>
            </a:r>
            <a:r>
              <a:rPr lang="zh-CN" altLang="en-US" sz="1800" b="1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资源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比例</a:t>
            </a:r>
            <a:endParaRPr lang="zh-CN" altLang="en-US" sz="18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755" y="2613660"/>
            <a:ext cx="4796155" cy="6223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55" y="4048125"/>
            <a:ext cx="4796790" cy="112014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41045" y="5272405"/>
            <a:ext cx="4218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2.</a:t>
            </a: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sym typeface="+mn-ea"/>
              </a:rPr>
              <a:t>分发capacity-scheduler.xml配置文件</a:t>
            </a:r>
            <a:endParaRPr lang="zh-CN" altLang="en-US" sz="18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5848350"/>
            <a:ext cx="4796155" cy="50609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82600" y="6568440"/>
            <a:ext cx="4796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3.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关闭正在运行的任务，重新启动</a:t>
            </a: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yarn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集群</a:t>
            </a:r>
            <a:endParaRPr lang="zh-CN" altLang="en-US" sz="18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96900" y="1240155"/>
            <a:ext cx="20516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noProof="0" dirty="0">
                <a:ln w="15875"/>
                <a:gradFill>
                  <a:gsLst>
                    <a:gs pos="0">
                      <a:schemeClr val="accent1">
                        <a:lumOff val="-19986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86"/>
                      </a:schemeClr>
                    </a:gs>
                  </a:gsLst>
                  <a:lin ang="0" scaled="0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sym typeface="+mn-ea"/>
              </a:rPr>
              <a:t>Yarn环境配置</a:t>
            </a:r>
            <a:endParaRPr lang="zh-CN" altLang="en-US" sz="2400" b="1" noProof="0" dirty="0">
              <a:ln w="15875"/>
              <a:gradFill>
                <a:gsLst>
                  <a:gs pos="0">
                    <a:schemeClr val="accent1">
                      <a:lumOff val="-19986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86"/>
                    </a:schemeClr>
                  </a:gs>
                </a:gsLst>
                <a:lin ang="0" scaled="0"/>
              </a:gradFill>
              <a:effectLst/>
              <a:uLnTx/>
              <a:uFillTx/>
              <a:latin typeface="等线" panose="02010600030101010101" charset="-122"/>
              <a:ea typeface="等线" panose="02010600030101010101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572885" y="1255395"/>
            <a:ext cx="2051685" cy="421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noProof="0" dirty="0">
                <a:ln w="15875"/>
                <a:gradFill>
                  <a:gsLst>
                    <a:gs pos="0">
                      <a:schemeClr val="accent1">
                        <a:lumOff val="-19986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86"/>
                      </a:schemeClr>
                    </a:gs>
                  </a:gsLst>
                  <a:lin ang="0" scaled="0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sym typeface="+mn-ea"/>
              </a:rPr>
              <a:t>开发环境</a:t>
            </a:r>
            <a:endParaRPr lang="zh-CN" altLang="en-US" sz="2400" b="1" noProof="0" dirty="0">
              <a:ln w="15875"/>
              <a:gradFill>
                <a:gsLst>
                  <a:gs pos="0">
                    <a:schemeClr val="accent1">
                      <a:lumOff val="-19986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86"/>
                    </a:schemeClr>
                  </a:gs>
                </a:gsLst>
                <a:lin ang="0" scaled="0"/>
              </a:gradFill>
              <a:effectLst/>
              <a:uLnTx/>
              <a:uFillTx/>
              <a:latin typeface="等线" panose="02010600030101010101" charset="-122"/>
              <a:ea typeface="等线" panose="02010600030101010101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71920" y="2032635"/>
            <a:ext cx="3787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1.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启动</a:t>
            </a: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HiveServer2</a:t>
            </a:r>
            <a:endParaRPr lang="en-US" altLang="zh-CN" sz="18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660" y="2823845"/>
            <a:ext cx="5581650" cy="167005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429375" y="5085080"/>
            <a:ext cx="5581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2.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要等两个</a:t>
            </a: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Hive Session ID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出现才能连接成功</a:t>
            </a:r>
            <a:endParaRPr lang="zh-CN" altLang="en-US" sz="18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6900" y="3457575"/>
            <a:ext cx="428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0F3568"/>
                </a:solidFill>
              </a:rPr>
              <a:t>增加资源占比的参数</a:t>
            </a:r>
            <a:endParaRPr lang="zh-CN" altLang="en-US" b="1">
              <a:solidFill>
                <a:srgbClr val="0F356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9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1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3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5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9" grpId="0"/>
      <p:bldP spid="7" grpId="0"/>
      <p:bldP spid="10" grpId="0"/>
      <p:bldP spid="11" grpId="0"/>
      <p:bldP spid="12" grpId="0"/>
      <p:bldP spid="13" grpId="0"/>
      <p:bldP spid="1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8"/>
          <p:cNvSpPr>
            <a:spLocks noGrp="1"/>
          </p:cNvSpPr>
          <p:nvPr/>
        </p:nvSpPr>
        <p:spPr>
          <a:xfrm>
            <a:off x="165100" y="160020"/>
            <a:ext cx="6579235" cy="783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3375" b="1" noProof="0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数据仓库</a:t>
            </a:r>
            <a:r>
              <a:rPr lang="zh-CN" altLang="en-US" sz="3375" b="1" noProof="0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Hive On Spark--</a:t>
            </a:r>
            <a:r>
              <a:rPr lang="zh-CN" altLang="en-US" sz="3375" b="1" noProof="0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开发环境</a:t>
            </a:r>
            <a:endParaRPr lang="zh-CN" altLang="en-US" sz="3375" b="1" noProof="0" dirty="0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5100" y="1312545"/>
            <a:ext cx="33286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3.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sym typeface="+mn-ea"/>
              </a:rPr>
              <a:t>配置DataGrip连接</a:t>
            </a:r>
            <a:endParaRPr lang="zh-CN" altLang="en-US" sz="18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245" y="1888490"/>
            <a:ext cx="5439410" cy="37369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985" y="1600200"/>
            <a:ext cx="6049010" cy="495109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429375" y="1058545"/>
            <a:ext cx="4699000" cy="4273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点击Test</a:t>
            </a: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Connection测试连接成功后点击OK</a:t>
            </a:r>
            <a:endParaRPr lang="zh-CN" altLang="en-US" sz="18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7" grpId="0"/>
      <p:bldP spid="1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文本框 71"/>
          <p:cNvSpPr txBox="1"/>
          <p:nvPr/>
        </p:nvSpPr>
        <p:spPr>
          <a:xfrm>
            <a:off x="165100" y="88265"/>
            <a:ext cx="6432550" cy="49784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3375" b="1" noProof="0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Hive on Spark 数据仓库</a:t>
            </a:r>
            <a:r>
              <a:rPr lang="en-US" altLang="zh-CN" sz="3375" b="1" noProof="0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-ods</a:t>
            </a:r>
            <a:r>
              <a:rPr lang="zh-CN" altLang="en-US" sz="3375" b="1" noProof="0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层</a:t>
            </a:r>
            <a:r>
              <a:rPr lang="zh-CN" altLang="en-US" sz="3375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
</a:t>
            </a:r>
            <a:endParaRPr lang="zh-CN" altLang="en-US" sz="3375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2" name="图片 1" descr="244f4f2a-fb81-43b9-96ce-557314fba11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245" y="2176145"/>
            <a:ext cx="3585845" cy="3543935"/>
          </a:xfrm>
          <a:prstGeom prst="rect">
            <a:avLst/>
          </a:prstGeom>
          <a:effectLst>
            <a:softEdge rad="12700"/>
          </a:effectLst>
        </p:spPr>
      </p:pic>
      <p:sp>
        <p:nvSpPr>
          <p:cNvPr id="5" name="文本框 4"/>
          <p:cNvSpPr txBox="1"/>
          <p:nvPr/>
        </p:nvSpPr>
        <p:spPr>
          <a:xfrm>
            <a:off x="164465" y="880110"/>
            <a:ext cx="12435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accent1">
                    <a:lumMod val="50000"/>
                  </a:schemeClr>
                </a:solidFill>
              </a:rPr>
              <a:t>   </a:t>
            </a:r>
            <a:r>
              <a:rPr lang="zh-CN" altLang="en-US">
                <a:solidFill>
                  <a:schemeClr val="accent1">
                    <a:lumMod val="50000"/>
                  </a:schemeClr>
                </a:solidFill>
              </a:rPr>
              <a:t>存储原始数据，不对数据做任何处理，采用压缩减少磁盘使用空间，当下游数据出现问题的时候，直接对数据进行</a:t>
            </a:r>
            <a:r>
              <a:rPr lang="zh-CN" altLang="en-US">
                <a:solidFill>
                  <a:schemeClr val="accent1">
                    <a:lumMod val="50000"/>
                  </a:schemeClr>
                </a:solidFill>
              </a:rPr>
              <a:t>恢复</a:t>
            </a:r>
            <a:endParaRPr lang="zh-CN" altLang="en-US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385" y="2464435"/>
            <a:ext cx="7147560" cy="45027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015" y="1528445"/>
            <a:ext cx="6324600" cy="40513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72" grpId="1"/>
      <p:bldP spid="5" grpId="0"/>
      <p:bldP spid="5" grpId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755" y="1381760"/>
            <a:ext cx="7543800" cy="4941570"/>
          </a:xfrm>
          <a:prstGeom prst="rect">
            <a:avLst/>
          </a:prstGeom>
        </p:spPr>
      </p:pic>
      <p:sp>
        <p:nvSpPr>
          <p:cNvPr id="72" name="文本框 71"/>
          <p:cNvSpPr txBox="1"/>
          <p:nvPr/>
        </p:nvSpPr>
        <p:spPr>
          <a:xfrm>
            <a:off x="165100" y="88265"/>
            <a:ext cx="6432550" cy="49784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3375" b="1" noProof="0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Hive on Spark 数据仓库</a:t>
            </a:r>
            <a:r>
              <a:rPr lang="en-US" altLang="zh-CN" sz="3375" b="1" noProof="0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-dim</a:t>
            </a:r>
            <a:r>
              <a:rPr lang="zh-CN" altLang="en-US" sz="3375" b="1" noProof="0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层</a:t>
            </a:r>
            <a:r>
              <a:rPr lang="zh-CN" altLang="en-US" sz="3375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
</a:t>
            </a:r>
            <a:endParaRPr lang="zh-CN" altLang="en-US" sz="3375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2710" y="880110"/>
            <a:ext cx="8220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accent1">
                    <a:lumMod val="50000"/>
                  </a:schemeClr>
                </a:solidFill>
              </a:rPr>
              <a:t>存储维度数据的独立层，维度是分析数据的</a:t>
            </a:r>
            <a:r>
              <a:rPr lang="en-US" altLang="zh-CN">
                <a:solidFill>
                  <a:schemeClr val="accent1">
                    <a:lumMod val="50000"/>
                  </a:schemeClr>
                </a:solidFill>
              </a:rPr>
              <a:t> “</a:t>
            </a:r>
            <a:r>
              <a:rPr lang="zh-CN" altLang="en-US">
                <a:solidFill>
                  <a:schemeClr val="accent1">
                    <a:lumMod val="50000"/>
                  </a:schemeClr>
                </a:solidFill>
              </a:rPr>
              <a:t>视角</a:t>
            </a:r>
            <a:r>
              <a:rPr lang="en-US" altLang="zh-CN">
                <a:solidFill>
                  <a:schemeClr val="accent1">
                    <a:lumMod val="50000"/>
                  </a:schemeClr>
                </a:solidFill>
              </a:rPr>
              <a:t>”</a:t>
            </a:r>
            <a:r>
              <a:rPr lang="zh-CN" altLang="en-US">
                <a:solidFill>
                  <a:schemeClr val="accent1">
                    <a:lumMod val="50000"/>
                  </a:schemeClr>
                </a:solidFill>
              </a:rPr>
              <a:t>（如时间、地域、用户信息等）</a:t>
            </a:r>
            <a:endParaRPr lang="zh-CN" altLang="en-US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595" y="1248410"/>
            <a:ext cx="5907405" cy="50812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430" y="1384300"/>
            <a:ext cx="6958965" cy="4810125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文本框 71"/>
          <p:cNvSpPr txBox="1"/>
          <p:nvPr/>
        </p:nvSpPr>
        <p:spPr>
          <a:xfrm>
            <a:off x="92710" y="160020"/>
            <a:ext cx="6432550" cy="52705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3375" b="1" noProof="0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Hive on Spark 数据仓库</a:t>
            </a:r>
            <a:r>
              <a:rPr lang="en-US" altLang="zh-CN" sz="3375" b="1" noProof="0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-dwd</a:t>
            </a:r>
            <a:r>
              <a:rPr lang="zh-CN" altLang="en-US" sz="3375" b="1" noProof="0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层</a:t>
            </a:r>
            <a:r>
              <a:rPr lang="zh-CN" altLang="en-US" sz="3375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
</a:t>
            </a:r>
            <a:endParaRPr lang="zh-CN" altLang="en-US" sz="3375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7" name="图片 6" descr="abd91c16-78ee-4e4f-b5e9-f7342643307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1435" y="1433830"/>
            <a:ext cx="4457065" cy="46716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4465" y="880110"/>
            <a:ext cx="8220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accent1">
                    <a:lumMod val="50000"/>
                  </a:schemeClr>
                </a:solidFill>
              </a:rPr>
              <a:t>基于</a:t>
            </a:r>
            <a:r>
              <a:rPr lang="en-US" altLang="zh-CN">
                <a:solidFill>
                  <a:schemeClr val="accent1">
                    <a:lumMod val="50000"/>
                  </a:schemeClr>
                </a:solidFill>
              </a:rPr>
              <a:t> ODS </a:t>
            </a:r>
            <a:r>
              <a:rPr lang="zh-CN" altLang="en-US">
                <a:solidFill>
                  <a:schemeClr val="accent1">
                    <a:lumMod val="50000"/>
                  </a:schemeClr>
                </a:solidFill>
              </a:rPr>
              <a:t>数据进行清洗、转换后的明细数据层，是数据仓库的核心基础。</a:t>
            </a:r>
            <a:endParaRPr lang="zh-CN" altLang="en-US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图片 3" descr="dd8bb221-55fa-43bd-828c-af83bdbf16e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1248410"/>
            <a:ext cx="4843145" cy="59309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700" y="1816100"/>
            <a:ext cx="7512050" cy="4476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文本框 71"/>
          <p:cNvSpPr txBox="1"/>
          <p:nvPr/>
        </p:nvSpPr>
        <p:spPr>
          <a:xfrm>
            <a:off x="92710" y="160020"/>
            <a:ext cx="6432550" cy="50736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3375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Hive on Spark 数据仓库</a:t>
            </a:r>
            <a:r>
              <a:rPr lang="en-US" altLang="zh-CN" sz="3375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-dws</a:t>
            </a:r>
            <a:r>
              <a:rPr lang="zh-CN" altLang="en-US" sz="3375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层
</a:t>
            </a:r>
            <a:endParaRPr lang="zh-CN" altLang="en-US" sz="3375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4465" y="880110"/>
            <a:ext cx="8220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accent1">
                    <a:lumMod val="50000"/>
                  </a:schemeClr>
                </a:solidFill>
              </a:rPr>
              <a:t>在</a:t>
            </a:r>
            <a:r>
              <a:rPr lang="en-US" altLang="zh-CN">
                <a:solidFill>
                  <a:schemeClr val="accent1">
                    <a:lumMod val="50000"/>
                  </a:schemeClr>
                </a:solidFill>
              </a:rPr>
              <a:t> DWD </a:t>
            </a:r>
            <a:r>
              <a:rPr lang="zh-CN" altLang="en-US">
                <a:solidFill>
                  <a:schemeClr val="accent1">
                    <a:lumMod val="50000"/>
                  </a:schemeClr>
                </a:solidFill>
              </a:rPr>
              <a:t>基础上，按主题、维度进行聚合的轻度汇总层。</a:t>
            </a:r>
            <a:endParaRPr lang="zh-CN" altLang="en-US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610" y="1285875"/>
            <a:ext cx="5306060" cy="25806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" y="3903980"/>
            <a:ext cx="5019675" cy="30181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9330" y="1096010"/>
            <a:ext cx="5956300" cy="5092700"/>
          </a:xfrm>
          <a:prstGeom prst="rect">
            <a:avLst/>
          </a:prstGeom>
        </p:spPr>
      </p:pic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文本框 71"/>
          <p:cNvSpPr txBox="1"/>
          <p:nvPr/>
        </p:nvSpPr>
        <p:spPr>
          <a:xfrm>
            <a:off x="92710" y="160020"/>
            <a:ext cx="6432550" cy="50101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3375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Hive on Spark 数据仓库</a:t>
            </a:r>
            <a:r>
              <a:rPr lang="en-US" altLang="zh-CN" sz="3375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-ads</a:t>
            </a:r>
            <a:r>
              <a:rPr lang="zh-CN" altLang="en-US" sz="3375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层
</a:t>
            </a:r>
            <a:endParaRPr lang="zh-CN" altLang="en-US" sz="3375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4465" y="880110"/>
            <a:ext cx="8220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accent1">
                    <a:lumMod val="50000"/>
                  </a:schemeClr>
                </a:solidFill>
              </a:rPr>
              <a:t>直接面向业务应用的数据层，根据具体需求提供定制化数据服务。</a:t>
            </a:r>
            <a:endParaRPr lang="zh-CN" altLang="en-US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" name="图片 1" descr="916248fc-86a7-4d41-adba-074a7fe3c5e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945" y="1240155"/>
            <a:ext cx="5071745" cy="4320540"/>
          </a:xfrm>
          <a:prstGeom prst="rect">
            <a:avLst/>
          </a:prstGeom>
        </p:spPr>
      </p:pic>
      <p:pic>
        <p:nvPicPr>
          <p:cNvPr id="3" name="图片 2" descr="496a5a94-2264-45ab-9af9-f25d9412850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465" y="520065"/>
            <a:ext cx="4947920" cy="49707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44220" y="6611620"/>
            <a:ext cx="428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55" y="5704840"/>
            <a:ext cx="11918950" cy="1327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文本框 71"/>
          <p:cNvSpPr txBox="1"/>
          <p:nvPr/>
        </p:nvSpPr>
        <p:spPr>
          <a:xfrm>
            <a:off x="92710" y="160020"/>
            <a:ext cx="7805420" cy="50101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3375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Hive on Spark 数据仓库</a:t>
            </a:r>
            <a:r>
              <a:rPr lang="en-US" altLang="zh-CN" sz="3375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-</a:t>
            </a:r>
            <a:r>
              <a:rPr lang="zh-CN" altLang="en-US" sz="3375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数据导出
</a:t>
            </a:r>
            <a:endParaRPr lang="zh-CN" altLang="en-US" sz="3375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10" y="1960245"/>
            <a:ext cx="6355080" cy="35020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09245" y="1386205"/>
            <a:ext cx="2309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1.创建数据库</a:t>
            </a:r>
            <a:endParaRPr lang="zh-CN" altLang="en-US" sz="18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73520" y="1383665"/>
            <a:ext cx="2309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2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.创建表</a:t>
            </a:r>
            <a:endParaRPr lang="zh-CN" altLang="en-US" sz="18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9070" y="1960880"/>
            <a:ext cx="6329680" cy="350202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65100" y="880110"/>
            <a:ext cx="2632075" cy="421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noProof="0" dirty="0">
                <a:ln w="15875"/>
                <a:gradFill>
                  <a:gsLst>
                    <a:gs pos="0">
                      <a:schemeClr val="accent1">
                        <a:lumOff val="-19985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85"/>
                      </a:schemeClr>
                    </a:gs>
                  </a:gsLst>
                  <a:lin ang="0" scaled="0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sym typeface="+mn-ea"/>
              </a:rPr>
              <a:t>MySQL</a:t>
            </a:r>
            <a:r>
              <a:rPr lang="zh-CN" altLang="en-US" sz="2400" b="1" noProof="0" dirty="0">
                <a:ln w="15875"/>
                <a:gradFill>
                  <a:gsLst>
                    <a:gs pos="0">
                      <a:schemeClr val="accent1">
                        <a:lumOff val="-19985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85"/>
                      </a:schemeClr>
                    </a:gs>
                  </a:gsLst>
                  <a:lin ang="0" scaled="0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sym typeface="+mn-ea"/>
              </a:rPr>
              <a:t>建库建表</a:t>
            </a:r>
            <a:endParaRPr lang="zh-CN" altLang="en-US" sz="2400" b="1" noProof="0" dirty="0">
              <a:ln w="15875"/>
              <a:gradFill>
                <a:gsLst>
                  <a:gs pos="0">
                    <a:schemeClr val="accent1">
                      <a:lumOff val="-19985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85"/>
                    </a:schemeClr>
                  </a:gs>
                </a:gsLst>
                <a:lin ang="0" scaled="0"/>
              </a:gradFill>
              <a:effectLst/>
              <a:uLnTx/>
              <a:uFillTx/>
              <a:latin typeface="等线" panose="02010600030101010101" charset="-122"/>
              <a:ea typeface="等线" panose="02010600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5" grpId="0"/>
      <p:bldP spid="6" grpId="0"/>
      <p:bldP spid="1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755" y="1819275"/>
            <a:ext cx="3713480" cy="49720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09245" y="1376045"/>
            <a:ext cx="33223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1.</a:t>
            </a: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DataX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配置文件生成脚本</a:t>
            </a:r>
            <a:endParaRPr lang="zh-CN" altLang="en-US" sz="18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55" y="2391410"/>
            <a:ext cx="6154420" cy="4260215"/>
          </a:xfrm>
          <a:prstGeom prst="rect">
            <a:avLst/>
          </a:prstGeom>
        </p:spPr>
      </p:pic>
      <p:sp>
        <p:nvSpPr>
          <p:cNvPr id="72" name="文本框 71"/>
          <p:cNvSpPr txBox="1"/>
          <p:nvPr/>
        </p:nvSpPr>
        <p:spPr>
          <a:xfrm>
            <a:off x="92710" y="160020"/>
            <a:ext cx="7805420" cy="50101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3375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Hive on Spark 数据仓库</a:t>
            </a:r>
            <a:r>
              <a:rPr lang="en-US" altLang="zh-CN" sz="3375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-</a:t>
            </a:r>
            <a:r>
              <a:rPr lang="zh-CN" altLang="en-US" sz="3375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数据导出</a:t>
            </a:r>
            <a:endParaRPr lang="zh-CN" altLang="en-US" sz="3375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950" y="951865"/>
            <a:ext cx="5748655" cy="44577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09245" y="807720"/>
            <a:ext cx="3430270" cy="421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noProof="0" dirty="0">
                <a:ln w="15875"/>
                <a:gradFill>
                  <a:gsLst>
                    <a:gs pos="0">
                      <a:schemeClr val="accent1">
                        <a:lumOff val="-19985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85"/>
                      </a:schemeClr>
                    </a:gs>
                  </a:gsLst>
                  <a:lin ang="0" scaled="0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sym typeface="+mn-ea"/>
              </a:rPr>
              <a:t>编写</a:t>
            </a:r>
            <a:r>
              <a:rPr lang="en-US" altLang="zh-CN" sz="2400" b="1" noProof="0" dirty="0">
                <a:ln w="15875"/>
                <a:gradFill>
                  <a:gsLst>
                    <a:gs pos="0">
                      <a:schemeClr val="accent1">
                        <a:lumOff val="-19985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85"/>
                      </a:schemeClr>
                    </a:gs>
                  </a:gsLst>
                  <a:lin ang="0" scaled="0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sym typeface="+mn-ea"/>
              </a:rPr>
              <a:t>DataX</a:t>
            </a:r>
            <a:r>
              <a:rPr lang="zh-CN" altLang="en-US" sz="2400" b="1" noProof="0" dirty="0">
                <a:ln w="15875"/>
                <a:gradFill>
                  <a:gsLst>
                    <a:gs pos="0">
                      <a:schemeClr val="accent1">
                        <a:lumOff val="-19985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85"/>
                      </a:schemeClr>
                    </a:gs>
                  </a:gsLst>
                  <a:lin ang="0" scaled="0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sym typeface="+mn-ea"/>
              </a:rPr>
              <a:t>配置文件</a:t>
            </a:r>
            <a:endParaRPr lang="zh-CN" altLang="en-US" sz="2400" b="1" noProof="0" dirty="0">
              <a:ln w="15875"/>
              <a:gradFill>
                <a:gsLst>
                  <a:gs pos="0">
                    <a:schemeClr val="accent1">
                      <a:lumOff val="-19985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85"/>
                    </a:schemeClr>
                  </a:gs>
                </a:gsLst>
                <a:lin ang="0" scaled="0"/>
              </a:gradFill>
              <a:effectLst/>
              <a:uLnTx/>
              <a:uFillTx/>
              <a:latin typeface="等线" panose="02010600030101010101" charset="-122"/>
              <a:ea typeface="等线" panose="02010600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2" grpId="0"/>
      <p:bldP spid="1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文本框 71"/>
          <p:cNvSpPr txBox="1"/>
          <p:nvPr/>
        </p:nvSpPr>
        <p:spPr>
          <a:xfrm>
            <a:off x="92710" y="173355"/>
            <a:ext cx="7773035" cy="4876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3375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Hive on Spark 数据仓库</a:t>
            </a:r>
            <a:r>
              <a:rPr lang="en-US" altLang="zh-CN" sz="3375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-</a:t>
            </a:r>
            <a:r>
              <a:rPr lang="zh-CN" altLang="en-US" sz="3375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数据导出
</a:t>
            </a:r>
            <a:endParaRPr lang="zh-CN" altLang="en-US" sz="3375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5100" y="1024255"/>
            <a:ext cx="33223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2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.安装</a:t>
            </a: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Python Mysql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驱动</a:t>
            </a:r>
            <a:endParaRPr lang="zh-CN" altLang="en-US" sz="18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100" y="1755775"/>
            <a:ext cx="5217160" cy="4838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36855" y="3334385"/>
            <a:ext cx="33223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3.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运行</a:t>
            </a: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datax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批量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文件生成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脚本</a:t>
            </a:r>
            <a:endParaRPr lang="zh-CN" altLang="en-US" sz="18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" y="4048125"/>
            <a:ext cx="5257800" cy="4641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565140" y="1023938"/>
            <a:ext cx="5080000" cy="3683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algn="l">
              <a:buClrTx/>
              <a:buSzTx/>
              <a:buFontTx/>
            </a:pP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4.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创建gen_export_config.sh脚本</a:t>
            </a:r>
            <a:endParaRPr lang="zh-CN" altLang="en-US" sz="18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530" y="1671955"/>
            <a:ext cx="5257800" cy="55435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7530" y="2607945"/>
            <a:ext cx="7172325" cy="41662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9" grpId="0"/>
      <p:bldP spid="5" grpId="0"/>
      <p:bldP spid="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5100" y="888048"/>
            <a:ext cx="5080000" cy="3683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algn="l">
              <a:buClrTx/>
              <a:buSzTx/>
              <a:buFontTx/>
            </a:pP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5.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为gen_export_config.sh脚本增加执行权限</a:t>
            </a:r>
            <a:endParaRPr lang="zh-CN" altLang="en-US" sz="18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92710" y="173355"/>
            <a:ext cx="7773035" cy="4876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3375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Hive on Spark 数据仓库</a:t>
            </a:r>
            <a:r>
              <a:rPr lang="en-US" altLang="zh-CN" sz="3375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-</a:t>
            </a:r>
            <a:r>
              <a:rPr lang="zh-CN" altLang="en-US" sz="3375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数据导出
</a:t>
            </a:r>
            <a:endParaRPr lang="zh-CN" altLang="en-US" sz="3375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100" y="1483995"/>
            <a:ext cx="5520690" cy="4756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36855" y="2103755"/>
            <a:ext cx="226885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6.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编写每日导出脚本</a:t>
            </a:r>
            <a:endParaRPr lang="zh-CN" altLang="en-US" sz="18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" y="2472055"/>
            <a:ext cx="5591810" cy="453707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365365" y="888365"/>
            <a:ext cx="226885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7.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增加脚本执行权限</a:t>
            </a:r>
            <a:endParaRPr lang="zh-CN" altLang="en-US" sz="18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1855" y="1440180"/>
            <a:ext cx="5356225" cy="51943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365365" y="2824480"/>
            <a:ext cx="226885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8</a:t>
            </a:r>
            <a:r>
              <a:rPr lang="zh-CN" altLang="en-US" sz="18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脚本执行</a:t>
            </a:r>
            <a:endParaRPr lang="zh-CN" altLang="en-US" sz="18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710" y="3328035"/>
            <a:ext cx="5515610" cy="565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2" grpId="0"/>
      <p:bldP spid="7" grpId="0"/>
      <p:bldP spid="9" grpId="0"/>
      <p:bldP spid="1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5421704" y="3112635"/>
            <a:ext cx="1951752" cy="1250950"/>
            <a:chOff x="583096" y="1160645"/>
            <a:chExt cx="3432313" cy="1186151"/>
          </a:xfrm>
        </p:grpSpPr>
        <p:sp>
          <p:nvSpPr>
            <p:cNvPr id="31" name="文本框 30"/>
            <p:cNvSpPr txBox="1"/>
            <p:nvPr/>
          </p:nvSpPr>
          <p:spPr>
            <a:xfrm>
              <a:off x="583096" y="1160645"/>
              <a:ext cx="3432313" cy="6701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64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784102" y="1706154"/>
              <a:ext cx="3009503" cy="6406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64565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zh-CN" sz="1900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+mj-lt"/>
                  <a:ea typeface="等线" panose="02010600030101010101" charset="-122"/>
                </a:rPr>
                <a:t>Visualization</a:t>
              </a:r>
              <a:endPara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+mj-lt"/>
                <a:ea typeface="等线" panose="02010600030101010101" charset="-122"/>
              </a:endParaRPr>
            </a:p>
            <a:p>
              <a:pPr lvl="0" defTabSz="964565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+mj-lt"/>
                <a:ea typeface="等线" panose="02010600030101010101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247640" y="2896235"/>
            <a:ext cx="22879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可视化</a:t>
            </a:r>
            <a:endParaRPr lang="zh-CN" altLang="en-US" sz="40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/>
          <p:cNvSpPr txBox="1"/>
          <p:nvPr/>
        </p:nvSpPr>
        <p:spPr>
          <a:xfrm>
            <a:off x="5421630" y="3112770"/>
            <a:ext cx="19519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9090" y="376555"/>
            <a:ext cx="19519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5100" y="160020"/>
            <a:ext cx="22879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可视化</a:t>
            </a:r>
            <a:endParaRPr lang="zh-CN" altLang="en-US" sz="40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7" name="图片 6" descr="61278d1d435755666872712a38c6ba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410" y="866775"/>
            <a:ext cx="11614785" cy="6177280"/>
          </a:xfrm>
          <a:prstGeom prst="rect">
            <a:avLst/>
          </a:prstGeom>
        </p:spPr>
      </p:pic>
    </p:spTree>
  </p:cSld>
  <p:clrMapOvr>
    <a:masterClrMapping/>
  </p:clrMapOvr>
  <p:transition spd="med">
    <p:newsflash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2895600" y="3112770"/>
            <a:ext cx="4478020" cy="1250950"/>
            <a:chOff x="583096" y="1160645"/>
            <a:chExt cx="3432313" cy="1186151"/>
          </a:xfrm>
        </p:grpSpPr>
        <p:sp>
          <p:nvSpPr>
            <p:cNvPr id="31" name="文本框 30"/>
            <p:cNvSpPr txBox="1"/>
            <p:nvPr/>
          </p:nvSpPr>
          <p:spPr>
            <a:xfrm>
              <a:off x="583096" y="1160645"/>
              <a:ext cx="3432313" cy="6701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64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784102" y="1706154"/>
              <a:ext cx="3009503" cy="6406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64565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+mj-lt"/>
                <a:ea typeface="等线" panose="02010600030101010101" charset="-122"/>
              </a:endParaRPr>
            </a:p>
            <a:p>
              <a:pPr lvl="0" defTabSz="964565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+mj-lt"/>
                <a:ea typeface="等线" panose="02010600030101010101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613025" y="2607945"/>
            <a:ext cx="751395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srgbClr val="0F3568"/>
                </a:solidFill>
                <a:latin typeface="等线" panose="02010600030101010101" charset="-122"/>
                <a:ea typeface="等线" panose="02010600030101010101" charset="-122"/>
                <a:sym typeface="+mn-ea"/>
              </a:rPr>
              <a:t>云计算整合大数据监控节点资源</a:t>
            </a:r>
            <a:endParaRPr lang="en-US" altLang="zh-CN" sz="4000" b="1" dirty="0">
              <a:solidFill>
                <a:srgbClr val="0F3568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marR="0" lvl="0" indent="0" algn="l" defTabSz="964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4000" b="1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84780" y="3399790"/>
            <a:ext cx="80391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F3568"/>
                </a:solidFill>
                <a:latin typeface="+mj-lt"/>
                <a:ea typeface="等线" panose="02010600030101010101" charset="-122"/>
                <a:sym typeface="+mn-ea"/>
              </a:rPr>
              <a:t>Cloud computing integrates big data monitoring node resources</a:t>
            </a:r>
            <a:endParaRPr lang="zh-CN" altLang="en-US" b="1" dirty="0">
              <a:solidFill>
                <a:srgbClr val="0F3568"/>
              </a:solidFill>
              <a:latin typeface="+mj-lt"/>
              <a:ea typeface="等线" panose="02010600030101010101" charset="-122"/>
            </a:endParaRPr>
          </a:p>
          <a:p>
            <a:endParaRPr lang="zh-CN" altLang="en-US"/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/>
          <p:cNvSpPr txBox="1"/>
          <p:nvPr/>
        </p:nvSpPr>
        <p:spPr>
          <a:xfrm>
            <a:off x="110258" y="3634042"/>
            <a:ext cx="286273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6456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900" dirty="0">
                <a:latin typeface="+mj-lt"/>
                <a:ea typeface="等线" panose="02010600030101010101" charset="-122"/>
              </a:rPr>
              <a:t>启用红帽软件集合</a:t>
            </a:r>
            <a:endParaRPr lang="zh-CN" altLang="en-US" sz="1900" dirty="0">
              <a:latin typeface="+mj-lt"/>
              <a:ea typeface="等线" panose="0201060003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9090" y="376555"/>
            <a:ext cx="19519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50318"/>
            <a:ext cx="7488411" cy="1159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srgbClr val="0F3568"/>
                </a:solidFill>
                <a:latin typeface="等线" panose="02010600030101010101" charset="-122"/>
                <a:ea typeface="等线" panose="02010600030101010101" charset="-122"/>
              </a:rPr>
              <a:t>云计算整合大数据监控节点资源</a:t>
            </a:r>
            <a:endParaRPr lang="en-US" altLang="zh-CN" sz="4000" b="1" dirty="0">
              <a:solidFill>
                <a:srgbClr val="0F3568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marR="0" lvl="0" indent="0" algn="l" defTabSz="96456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900" b="1" dirty="0">
                <a:solidFill>
                  <a:srgbClr val="0F3568"/>
                </a:solidFill>
                <a:latin typeface="+mj-lt"/>
                <a:ea typeface="等线" panose="02010600030101010101" charset="-122"/>
              </a:rPr>
              <a:t>Cloud computing integrates big data monitoring node resources</a:t>
            </a:r>
            <a:endParaRPr lang="zh-CN" altLang="en-US" sz="1900" b="1" dirty="0">
              <a:solidFill>
                <a:srgbClr val="0F3568"/>
              </a:solidFill>
              <a:latin typeface="+mj-lt"/>
              <a:ea typeface="等线" panose="0201060003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69" y="1930002"/>
            <a:ext cx="9177452" cy="39397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69" y="2320181"/>
            <a:ext cx="9177452" cy="39397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72" y="3283662"/>
            <a:ext cx="5352447" cy="273171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3985095"/>
            <a:ext cx="6012701" cy="127265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42141" y="1445479"/>
            <a:ext cx="7452461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900" dirty="0">
                <a:latin typeface="+mj-lt"/>
                <a:ea typeface="等线" panose="02010600030101010101" charset="-122"/>
              </a:rPr>
              <a:t> </a:t>
            </a:r>
            <a:r>
              <a:rPr lang="zh-CN" altLang="en-US" sz="1900" dirty="0">
                <a:latin typeface="+mj-lt"/>
                <a:ea typeface="等线" panose="02010600030101010101" charset="-122"/>
              </a:rPr>
              <a:t>安装 </a:t>
            </a:r>
            <a:r>
              <a:rPr lang="en-US" altLang="zh-CN" sz="1900" dirty="0">
                <a:latin typeface="+mj-lt"/>
                <a:ea typeface="等线" panose="02010600030101010101" charset="-122"/>
              </a:rPr>
              <a:t>Zabbix </a:t>
            </a:r>
            <a:r>
              <a:rPr lang="zh-CN" altLang="en-US" sz="1900" dirty="0">
                <a:latin typeface="+mj-lt"/>
                <a:ea typeface="等线" panose="02010600030101010101" charset="-122"/>
              </a:rPr>
              <a:t>存储库并将官方源换成阿里云源</a:t>
            </a:r>
            <a:endParaRPr lang="zh-CN" altLang="en-US" sz="1900" dirty="0">
              <a:latin typeface="+mj-lt"/>
              <a:ea typeface="等线" panose="02010600030101010101" charset="-122"/>
            </a:endParaRPr>
          </a:p>
        </p:txBody>
      </p: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0" y="36239"/>
            <a:ext cx="301686" cy="384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0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. 安装 Zabbix 存储库</a:t>
            </a:r>
            <a:endParaRPr kumimoji="0" lang="zh-CN" altLang="zh-CN" sz="100" i="0" u="none" strike="noStrike" cap="none" normalizeH="0" baseline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2"/>
          <p:cNvSpPr>
            <a:spLocks noChangeArrowheads="1"/>
          </p:cNvSpPr>
          <p:nvPr/>
        </p:nvSpPr>
        <p:spPr bwMode="auto">
          <a:xfrm>
            <a:off x="0" y="0"/>
            <a:ext cx="12858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. 安装 Zabbix 存储库</a:t>
            </a:r>
            <a:endParaRPr kumimoji="0" lang="zh-CN" altLang="zh-CN" sz="100" b="1" i="0" u="none" strike="noStrike" cap="none" normalizeH="0" baseline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2141" y="2839490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安装 </a:t>
            </a:r>
            <a:r>
              <a:rPr lang="en-US" altLang="zh-CN" dirty="0"/>
              <a:t>Zabbix </a:t>
            </a:r>
            <a:r>
              <a:rPr lang="zh-CN" altLang="en-US" dirty="0"/>
              <a:t>服务器和代理</a:t>
            </a:r>
            <a:endParaRPr lang="zh-CN" altLang="en-US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3312" y="5710549"/>
            <a:ext cx="6666228" cy="1473319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43"/>
          <a:stretch>
            <a:fillRect/>
          </a:stretch>
        </p:blipFill>
        <p:spPr>
          <a:xfrm>
            <a:off x="108914" y="5774295"/>
            <a:ext cx="5600381" cy="369332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-20161" y="5341217"/>
            <a:ext cx="71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编辑文件 </a:t>
            </a:r>
            <a:r>
              <a:rPr lang="en-US" altLang="zh-CN" dirty="0"/>
              <a:t>/</a:t>
            </a:r>
            <a:r>
              <a:rPr lang="en-US" altLang="zh-CN" dirty="0" err="1"/>
              <a:t>etc</a:t>
            </a:r>
            <a:r>
              <a:rPr lang="en-US" altLang="zh-CN" dirty="0"/>
              <a:t>/</a:t>
            </a:r>
            <a:r>
              <a:rPr lang="en-US" altLang="zh-CN" dirty="0" err="1"/>
              <a:t>yum.repos.d</a:t>
            </a:r>
            <a:r>
              <a:rPr lang="en-US" altLang="zh-CN" dirty="0"/>
              <a:t>/</a:t>
            </a:r>
            <a:r>
              <a:rPr lang="en-US" altLang="zh-CN" dirty="0" err="1"/>
              <a:t>zabbix.repo</a:t>
            </a:r>
            <a:r>
              <a:rPr lang="en-US" altLang="zh-CN" dirty="0"/>
              <a:t> </a:t>
            </a:r>
            <a:r>
              <a:rPr lang="zh-CN" altLang="en-US" dirty="0"/>
              <a:t>并启用 </a:t>
            </a:r>
            <a:r>
              <a:rPr lang="en-US" altLang="zh-CN" dirty="0" err="1"/>
              <a:t>zabbix</a:t>
            </a:r>
            <a:r>
              <a:rPr lang="en-US" altLang="zh-CN" dirty="0"/>
              <a:t>-frontend </a:t>
            </a:r>
            <a:r>
              <a:rPr lang="zh-CN" altLang="en-US" dirty="0"/>
              <a:t>存储库。</a:t>
            </a:r>
            <a:endParaRPr lang="zh-CN" altLang="en-US" dirty="0"/>
          </a:p>
        </p:txBody>
      </p:sp>
    </p:spTree>
  </p:cSld>
  <p:clrMapOvr>
    <a:masterClrMapping/>
  </p:clrMapOvr>
  <p:transition spd="med">
    <p:newsflash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/>
          <p:cNvSpPr txBox="1"/>
          <p:nvPr/>
        </p:nvSpPr>
        <p:spPr>
          <a:xfrm>
            <a:off x="5421630" y="3112770"/>
            <a:ext cx="19519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9090" y="376555"/>
            <a:ext cx="19519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50318"/>
            <a:ext cx="7488411" cy="1159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srgbClr val="0F3568"/>
                </a:solidFill>
                <a:latin typeface="等线" panose="02010600030101010101" charset="-122"/>
                <a:ea typeface="等线" panose="02010600030101010101" charset="-122"/>
              </a:rPr>
              <a:t>云计算整合大数据监控节点资源</a:t>
            </a:r>
            <a:endParaRPr lang="en-US" altLang="zh-CN" sz="4000" b="1" dirty="0">
              <a:solidFill>
                <a:srgbClr val="0F3568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marR="0" lvl="0" indent="0" algn="l" defTabSz="96456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900" b="1" dirty="0">
                <a:solidFill>
                  <a:srgbClr val="0F3568"/>
                </a:solidFill>
                <a:latin typeface="+mj-lt"/>
                <a:ea typeface="等线" panose="02010600030101010101" charset="-122"/>
              </a:rPr>
              <a:t>Cloud computing integrates big data monitoring node resources</a:t>
            </a:r>
            <a:endParaRPr lang="zh-CN" altLang="en-US" sz="1900" b="1" dirty="0">
              <a:solidFill>
                <a:srgbClr val="0F3568"/>
              </a:solidFill>
              <a:latin typeface="+mj-lt"/>
              <a:ea typeface="等线" panose="0201060003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61"/>
          <a:stretch>
            <a:fillRect/>
          </a:stretch>
        </p:blipFill>
        <p:spPr>
          <a:xfrm>
            <a:off x="105209" y="1753528"/>
            <a:ext cx="7186276" cy="64831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6" y="4042645"/>
            <a:ext cx="7188264" cy="55785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08" y="2401839"/>
            <a:ext cx="7188264" cy="166698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-21295" y="1362289"/>
            <a:ext cx="376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安装 </a:t>
            </a:r>
            <a:r>
              <a:rPr lang="en-US" altLang="zh-CN"/>
              <a:t>Zabbix </a:t>
            </a:r>
            <a:r>
              <a:rPr lang="zh-CN" altLang="en-US"/>
              <a:t>前端包</a:t>
            </a:r>
            <a:endParaRPr lang="zh-CN" altLang="en-US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60" y="4997795"/>
            <a:ext cx="6828112" cy="174513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8411" y="1834333"/>
            <a:ext cx="5013796" cy="3329297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2026" y="5148523"/>
            <a:ext cx="2344301" cy="115072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60" y="6789932"/>
            <a:ext cx="9541067" cy="312447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49660" y="4702028"/>
            <a:ext cx="6846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创建</a:t>
            </a:r>
            <a:r>
              <a:rPr lang="en-US" altLang="zh-CN" dirty="0" err="1"/>
              <a:t>zabbix</a:t>
            </a:r>
            <a:r>
              <a:rPr lang="zh-CN" altLang="en-US" dirty="0"/>
              <a:t>数据库、</a:t>
            </a:r>
            <a:r>
              <a:rPr lang="en-US" altLang="zh-CN" dirty="0" err="1"/>
              <a:t>zabbix</a:t>
            </a:r>
            <a:r>
              <a:rPr lang="zh-CN" altLang="en-US" dirty="0"/>
              <a:t>用户</a:t>
            </a:r>
            <a:r>
              <a:rPr lang="en-US" altLang="zh-CN" dirty="0"/>
              <a:t>. </a:t>
            </a:r>
            <a:r>
              <a:rPr lang="zh-CN" altLang="en-US" dirty="0"/>
              <a:t>导入数据</a:t>
            </a:r>
            <a:endParaRPr lang="zh-CN" altLang="en-US" dirty="0"/>
          </a:p>
        </p:txBody>
      </p:sp>
    </p:spTree>
  </p:cSld>
  <p:clrMapOvr>
    <a:masterClrMapping/>
  </p:clrMapOvr>
  <p:transition spd="med">
    <p:newsflash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9090" y="376555"/>
            <a:ext cx="19519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50318"/>
            <a:ext cx="7488411" cy="1159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srgbClr val="0F3568"/>
                </a:solidFill>
                <a:latin typeface="等线" panose="02010600030101010101" charset="-122"/>
                <a:ea typeface="等线" panose="02010600030101010101" charset="-122"/>
              </a:rPr>
              <a:t>云计算整合大数据监控节点资源</a:t>
            </a:r>
            <a:endParaRPr lang="en-US" altLang="zh-CN" sz="4000" b="1" dirty="0">
              <a:solidFill>
                <a:srgbClr val="0F3568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marR="0" lvl="0" indent="0" algn="l" defTabSz="96456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900" b="1" dirty="0">
                <a:solidFill>
                  <a:srgbClr val="0F3568"/>
                </a:solidFill>
                <a:latin typeface="+mj-lt"/>
                <a:ea typeface="等线" panose="02010600030101010101" charset="-122"/>
              </a:rPr>
              <a:t>Cloud computing integrates big data monitoring node resources</a:t>
            </a:r>
            <a:endParaRPr lang="zh-CN" altLang="en-US" sz="1900" b="1" dirty="0">
              <a:solidFill>
                <a:srgbClr val="0F3568"/>
              </a:solidFill>
              <a:latin typeface="+mj-lt"/>
              <a:ea typeface="等线" panose="0201060003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9" y="1930926"/>
            <a:ext cx="5156594" cy="3269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3" t="2873" r="253" b="28322"/>
          <a:stretch>
            <a:fillRect/>
          </a:stretch>
        </p:blipFill>
        <p:spPr>
          <a:xfrm>
            <a:off x="538878" y="3655846"/>
            <a:ext cx="2560393" cy="47402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78" y="2253176"/>
            <a:ext cx="2158878" cy="49922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78" y="3169074"/>
            <a:ext cx="2566877" cy="54617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7920" y="1946657"/>
            <a:ext cx="7122705" cy="3269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1263" y="2273557"/>
            <a:ext cx="5535185" cy="1653534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95" y="4719490"/>
            <a:ext cx="8843577" cy="1653534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18" b="30581"/>
          <a:stretch>
            <a:fillRect/>
          </a:stretch>
        </p:blipFill>
        <p:spPr>
          <a:xfrm>
            <a:off x="538878" y="2725219"/>
            <a:ext cx="2158878" cy="474024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34071" y="1438450"/>
            <a:ext cx="3570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 </a:t>
            </a:r>
            <a:r>
              <a:rPr lang="en-US" altLang="zh-CN" dirty="0"/>
              <a:t>Zabbix </a:t>
            </a:r>
            <a:r>
              <a:rPr lang="zh-CN" altLang="en-US" dirty="0"/>
              <a:t>服务器配置数据库</a:t>
            </a:r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5853311" y="1528093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 </a:t>
            </a:r>
            <a:r>
              <a:rPr lang="en-US" altLang="zh-CN" dirty="0"/>
              <a:t>Zabbix </a:t>
            </a:r>
            <a:r>
              <a:rPr lang="zh-CN" altLang="en-US" dirty="0"/>
              <a:t>前端配置 </a:t>
            </a:r>
            <a:r>
              <a:rPr lang="en-US" altLang="zh-CN" dirty="0"/>
              <a:t>PHP,</a:t>
            </a:r>
            <a:r>
              <a:rPr lang="zh-CN" altLang="en-US" dirty="0"/>
              <a:t>设置正确的时区</a:t>
            </a:r>
            <a:endParaRPr lang="zh-CN" altLang="en-US" dirty="0"/>
          </a:p>
        </p:txBody>
      </p:sp>
      <p:sp>
        <p:nvSpPr>
          <p:cNvPr id="29" name="文本框 28"/>
          <p:cNvSpPr txBox="1"/>
          <p:nvPr/>
        </p:nvSpPr>
        <p:spPr>
          <a:xfrm>
            <a:off x="147692" y="4322977"/>
            <a:ext cx="691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启动并设置开机自启</a:t>
            </a:r>
            <a:endParaRPr lang="zh-CN" altLang="en-US" dirty="0"/>
          </a:p>
        </p:txBody>
      </p:sp>
    </p:spTree>
  </p:cSld>
  <p:clrMapOvr>
    <a:masterClrMapping/>
  </p:clrMapOvr>
  <p:transition spd="med">
    <p:newsflash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/>
          <p:cNvSpPr txBox="1"/>
          <p:nvPr/>
        </p:nvSpPr>
        <p:spPr>
          <a:xfrm>
            <a:off x="5453380" y="3088556"/>
            <a:ext cx="19519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9090" y="376555"/>
            <a:ext cx="19519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50318"/>
            <a:ext cx="7488411" cy="1159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srgbClr val="0F3568"/>
                </a:solidFill>
                <a:latin typeface="等线" panose="02010600030101010101" charset="-122"/>
                <a:ea typeface="等线" panose="02010600030101010101" charset="-122"/>
              </a:rPr>
              <a:t>云计算整合大数据监控节点资源</a:t>
            </a:r>
            <a:endParaRPr lang="en-US" altLang="zh-CN" sz="4000" b="1" dirty="0">
              <a:solidFill>
                <a:srgbClr val="0F3568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marR="0" lvl="0" indent="0" algn="l" defTabSz="96456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900" b="1" dirty="0">
                <a:solidFill>
                  <a:srgbClr val="0F3568"/>
                </a:solidFill>
                <a:latin typeface="+mj-lt"/>
                <a:ea typeface="等线" panose="02010600030101010101" charset="-122"/>
              </a:rPr>
              <a:t>Cloud computing integrates big data monitoring node resources</a:t>
            </a:r>
            <a:endParaRPr lang="zh-CN" altLang="en-US" sz="1900" b="1" dirty="0">
              <a:solidFill>
                <a:srgbClr val="0F3568"/>
              </a:solidFill>
              <a:latin typeface="+mj-lt"/>
              <a:ea typeface="等线" panose="0201060003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32" y="2380323"/>
            <a:ext cx="8603726" cy="42535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95" y="2805674"/>
            <a:ext cx="7348578" cy="46108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41" y="4227071"/>
            <a:ext cx="5913632" cy="2408129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0" y="1237998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以其中一台</a:t>
            </a:r>
            <a:r>
              <a:rPr lang="en-US" altLang="zh-CN" dirty="0" err="1"/>
              <a:t>zabbix</a:t>
            </a:r>
            <a:r>
              <a:rPr lang="en-US" altLang="zh-CN" dirty="0"/>
              <a:t>-agent</a:t>
            </a:r>
            <a:r>
              <a:rPr lang="zh-CN" altLang="en-US" dirty="0"/>
              <a:t>为例：</a:t>
            </a:r>
            <a:endParaRPr lang="zh-CN" altLang="en-US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399" y="4844477"/>
            <a:ext cx="2865686" cy="36103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399" y="5205508"/>
            <a:ext cx="3422146" cy="416344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399" y="4483445"/>
            <a:ext cx="3730650" cy="361031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6" b="16157"/>
          <a:stretch>
            <a:fillRect/>
          </a:stretch>
        </p:blipFill>
        <p:spPr>
          <a:xfrm>
            <a:off x="6645399" y="5621852"/>
            <a:ext cx="3381524" cy="361032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113958" y="1960599"/>
            <a:ext cx="6450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安装 </a:t>
            </a:r>
            <a:r>
              <a:rPr lang="en-US" altLang="zh-CN" dirty="0" err="1"/>
              <a:t>zabbix</a:t>
            </a:r>
            <a:r>
              <a:rPr lang="en-US" altLang="zh-CN" dirty="0"/>
              <a:t> </a:t>
            </a:r>
            <a:r>
              <a:rPr lang="zh-CN" altLang="en-US" dirty="0"/>
              <a:t>源</a:t>
            </a:r>
            <a:r>
              <a:rPr lang="en-US" altLang="zh-CN" dirty="0"/>
              <a:t>,</a:t>
            </a:r>
            <a:r>
              <a:rPr lang="zh-CN" altLang="en-US" dirty="0"/>
              <a:t>修改配置文件</a:t>
            </a:r>
            <a:endParaRPr lang="zh-CN" altLang="en-US" dirty="0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86"/>
          <a:stretch>
            <a:fillRect/>
          </a:stretch>
        </p:blipFill>
        <p:spPr>
          <a:xfrm>
            <a:off x="6645399" y="5947928"/>
            <a:ext cx="2520280" cy="361032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93901" y="3761296"/>
            <a:ext cx="5586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将</a:t>
            </a:r>
            <a:r>
              <a:rPr lang="en-US" altLang="zh-CN" dirty="0" err="1"/>
              <a:t>zabbix</a:t>
            </a:r>
            <a:r>
              <a:rPr lang="zh-CN" altLang="en-US" dirty="0"/>
              <a:t>配置文件备份</a:t>
            </a:r>
            <a:endParaRPr lang="zh-CN" altLang="en-US" dirty="0"/>
          </a:p>
        </p:txBody>
      </p:sp>
    </p:spTree>
  </p:cSld>
  <p:clrMapOvr>
    <a:masterClrMapping/>
  </p:clrMapOvr>
  <p:transition spd="med">
    <p:newsflash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/>
          <p:cNvSpPr txBox="1"/>
          <p:nvPr/>
        </p:nvSpPr>
        <p:spPr>
          <a:xfrm>
            <a:off x="5421630" y="3112770"/>
            <a:ext cx="19519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9090" y="376555"/>
            <a:ext cx="19519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50318"/>
            <a:ext cx="7488411" cy="1159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srgbClr val="0F3568"/>
                </a:solidFill>
                <a:latin typeface="等线" panose="02010600030101010101" charset="-122"/>
                <a:ea typeface="等线" panose="02010600030101010101" charset="-122"/>
              </a:rPr>
              <a:t>云计算整合大数据监控节点资源</a:t>
            </a:r>
            <a:endParaRPr lang="en-US" altLang="zh-CN" sz="4000" b="1" dirty="0">
              <a:solidFill>
                <a:srgbClr val="0F3568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marR="0" lvl="0" indent="0" algn="l" defTabSz="96456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900" b="1" dirty="0">
                <a:solidFill>
                  <a:srgbClr val="0F3568"/>
                </a:solidFill>
                <a:latin typeface="+mj-lt"/>
                <a:ea typeface="等线" panose="02010600030101010101" charset="-122"/>
              </a:rPr>
              <a:t>Cloud computing integrates big data monitoring node resources</a:t>
            </a:r>
            <a:endParaRPr lang="zh-CN" altLang="en-US" sz="1900" b="1" dirty="0">
              <a:solidFill>
                <a:srgbClr val="0F3568"/>
              </a:solidFill>
              <a:latin typeface="+mj-lt"/>
              <a:ea typeface="等线" panose="0201060003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5" y="1749902"/>
            <a:ext cx="5211040" cy="256878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7625" y="1447247"/>
            <a:ext cx="4545686" cy="268472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79" y="4581750"/>
            <a:ext cx="4680520" cy="250058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75" y="4122658"/>
            <a:ext cx="5000302" cy="3000181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0" y="1309546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 配置 </a:t>
            </a:r>
            <a:r>
              <a:rPr lang="en-US" altLang="zh-CN"/>
              <a:t>Zabbix </a:t>
            </a:r>
            <a:r>
              <a:rPr lang="zh-CN" altLang="en-US"/>
              <a:t>前端</a:t>
            </a:r>
            <a:endParaRPr lang="zh-CN" altLang="en-US" dirty="0"/>
          </a:p>
        </p:txBody>
      </p:sp>
    </p:spTree>
  </p:cSld>
  <p:clrMapOvr>
    <a:masterClrMapping/>
  </p:clrMapOvr>
  <p:transition spd="med">
    <p:newsflash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/>
          <p:cNvSpPr txBox="1"/>
          <p:nvPr/>
        </p:nvSpPr>
        <p:spPr>
          <a:xfrm>
            <a:off x="5421630" y="3112770"/>
            <a:ext cx="19519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9090" y="376555"/>
            <a:ext cx="19519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50318"/>
            <a:ext cx="7488411" cy="1159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srgbClr val="0F3568"/>
                </a:solidFill>
                <a:latin typeface="等线" panose="02010600030101010101" charset="-122"/>
                <a:ea typeface="等线" panose="02010600030101010101" charset="-122"/>
              </a:rPr>
              <a:t>云计算整合大数据监控节点资源</a:t>
            </a:r>
            <a:endParaRPr lang="en-US" altLang="zh-CN" sz="4000" b="1" dirty="0">
              <a:solidFill>
                <a:srgbClr val="0F3568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marR="0" lvl="0" indent="0" algn="l" defTabSz="96456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900" b="1" dirty="0">
                <a:solidFill>
                  <a:srgbClr val="0F3568"/>
                </a:solidFill>
                <a:latin typeface="+mj-lt"/>
                <a:ea typeface="等线" panose="02010600030101010101" charset="-122"/>
              </a:rPr>
              <a:t>Cloud computing integrates big data monitoring node resources</a:t>
            </a:r>
            <a:endParaRPr lang="zh-CN" altLang="en-US" sz="1900" b="1" dirty="0">
              <a:solidFill>
                <a:srgbClr val="0F3568"/>
              </a:solidFill>
              <a:latin typeface="+mj-lt"/>
              <a:ea typeface="等线" panose="0201060003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090" y="1309546"/>
            <a:ext cx="5404207" cy="318878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5319" y="1409058"/>
            <a:ext cx="5225371" cy="3089274"/>
          </a:xfrm>
          <a:prstGeom prst="rect">
            <a:avLst/>
          </a:prstGeom>
        </p:spPr>
      </p:pic>
    </p:spTree>
  </p:cSld>
  <p:clrMapOvr>
    <a:masterClrMapping/>
  </p:clrMapOvr>
  <p:transition spd="med">
    <p:newsflash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/>
          <p:cNvSpPr txBox="1"/>
          <p:nvPr/>
        </p:nvSpPr>
        <p:spPr>
          <a:xfrm>
            <a:off x="5421630" y="3112770"/>
            <a:ext cx="19519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9090" y="376555"/>
            <a:ext cx="19519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50318"/>
            <a:ext cx="7488411" cy="1159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srgbClr val="0F3568"/>
                </a:solidFill>
                <a:latin typeface="等线" panose="02010600030101010101" charset="-122"/>
                <a:ea typeface="等线" panose="02010600030101010101" charset="-122"/>
              </a:rPr>
              <a:t>云计算整合大数据监控节点资源</a:t>
            </a:r>
            <a:endParaRPr lang="en-US" altLang="zh-CN" sz="4000" b="1" dirty="0">
              <a:solidFill>
                <a:srgbClr val="0F3568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marR="0" lvl="0" indent="0" algn="l" defTabSz="96456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900" b="1" dirty="0">
                <a:solidFill>
                  <a:srgbClr val="0F3568"/>
                </a:solidFill>
                <a:latin typeface="+mj-lt"/>
                <a:ea typeface="等线" panose="02010600030101010101" charset="-122"/>
              </a:rPr>
              <a:t>Cloud computing integrates big data monitoring node resources</a:t>
            </a:r>
            <a:endParaRPr lang="zh-CN" altLang="en-US" sz="1900" b="1" dirty="0">
              <a:solidFill>
                <a:srgbClr val="0F3568"/>
              </a:solidFill>
              <a:latin typeface="+mj-lt"/>
              <a:ea typeface="等线" panose="0201060003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4077"/>
            <a:ext cx="9237687" cy="17286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" y="3123679"/>
            <a:ext cx="3718090" cy="410897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5080" y="3123679"/>
            <a:ext cx="4193669" cy="410897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575" y="3112770"/>
            <a:ext cx="4169240" cy="4108971"/>
          </a:xfrm>
          <a:prstGeom prst="rect">
            <a:avLst/>
          </a:prstGeom>
        </p:spPr>
      </p:pic>
    </p:spTree>
  </p:cSld>
  <p:clrMapOvr>
    <a:masterClrMapping/>
  </p:clrMapOvr>
  <p:transition spd="med">
    <p:newsflash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/>
          <p:cNvSpPr txBox="1"/>
          <p:nvPr/>
        </p:nvSpPr>
        <p:spPr>
          <a:xfrm>
            <a:off x="5421630" y="3112770"/>
            <a:ext cx="19519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9090" y="376555"/>
            <a:ext cx="19519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50318"/>
            <a:ext cx="7488411" cy="1159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srgbClr val="0F3568"/>
                </a:solidFill>
                <a:latin typeface="等线" panose="02010600030101010101" charset="-122"/>
                <a:ea typeface="等线" panose="02010600030101010101" charset="-122"/>
              </a:rPr>
              <a:t>云计算整合大数据监控节点资源</a:t>
            </a:r>
            <a:endParaRPr lang="en-US" altLang="zh-CN" sz="4000" b="1" dirty="0">
              <a:solidFill>
                <a:srgbClr val="0F3568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marR="0" lvl="0" indent="0" algn="l" defTabSz="96456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900" b="1" dirty="0">
                <a:solidFill>
                  <a:srgbClr val="0F3568"/>
                </a:solidFill>
                <a:latin typeface="+mj-lt"/>
                <a:ea typeface="等线" panose="02010600030101010101" charset="-122"/>
              </a:rPr>
              <a:t>Cloud computing integrates big data monitoring node resources</a:t>
            </a:r>
            <a:endParaRPr lang="zh-CN" altLang="en-US" sz="1900" b="1" dirty="0">
              <a:solidFill>
                <a:srgbClr val="0F3568"/>
              </a:solidFill>
              <a:latin typeface="+mj-lt"/>
              <a:ea typeface="等线" panose="0201060003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79" y="1456085"/>
            <a:ext cx="11325919" cy="5552156"/>
          </a:xfrm>
          <a:prstGeom prst="rect">
            <a:avLst/>
          </a:prstGeom>
        </p:spPr>
      </p:pic>
    </p:spTree>
  </p:cSld>
  <p:clrMapOvr>
    <a:masterClrMapping/>
  </p:clrMapOvr>
  <p:transition spd="med">
    <p:newsflash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9090" y="376555"/>
            <a:ext cx="19519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50318"/>
            <a:ext cx="7488411" cy="1159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srgbClr val="0F3568"/>
                </a:solidFill>
                <a:latin typeface="等线" panose="02010600030101010101" charset="-122"/>
                <a:ea typeface="等线" panose="02010600030101010101" charset="-122"/>
              </a:rPr>
              <a:t>云计算整合大数据监控节点资源</a:t>
            </a:r>
            <a:endParaRPr lang="en-US" altLang="zh-CN" sz="4000" b="1" dirty="0">
              <a:solidFill>
                <a:srgbClr val="0F3568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marR="0" lvl="0" indent="0" algn="l" defTabSz="96456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900" b="1" dirty="0">
                <a:solidFill>
                  <a:srgbClr val="0F3568"/>
                </a:solidFill>
                <a:latin typeface="+mj-lt"/>
                <a:ea typeface="等线" panose="02010600030101010101" charset="-122"/>
              </a:rPr>
              <a:t>Cloud computing integrates big data monitoring node resources</a:t>
            </a:r>
            <a:endParaRPr lang="zh-CN" altLang="en-US" sz="1900" b="1" dirty="0">
              <a:solidFill>
                <a:srgbClr val="0F3568"/>
              </a:solidFill>
              <a:latin typeface="+mj-lt"/>
              <a:ea typeface="等线" panose="02010600030101010101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53" y="1568950"/>
            <a:ext cx="6056407" cy="249985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706" y="4213012"/>
            <a:ext cx="6268656" cy="3017782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3504" y="1113825"/>
            <a:ext cx="4364533" cy="3410101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090" y="4068803"/>
            <a:ext cx="4870291" cy="3161991"/>
          </a:xfrm>
          <a:prstGeom prst="rect">
            <a:avLst/>
          </a:prstGeom>
        </p:spPr>
      </p:pic>
    </p:spTree>
  </p:cSld>
  <p:clrMapOvr>
    <a:masterClrMapping/>
  </p:clrMapOvr>
  <p:transition spd="med">
    <p:newsflash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/>
          <p:cNvSpPr txBox="1"/>
          <p:nvPr/>
        </p:nvSpPr>
        <p:spPr>
          <a:xfrm>
            <a:off x="5421630" y="3112770"/>
            <a:ext cx="19519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9090" y="376555"/>
            <a:ext cx="19519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50318"/>
            <a:ext cx="7488411" cy="1159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srgbClr val="0F3568"/>
                </a:solidFill>
                <a:latin typeface="等线" panose="02010600030101010101" charset="-122"/>
                <a:ea typeface="等线" panose="02010600030101010101" charset="-122"/>
              </a:rPr>
              <a:t>云计算整合大数据监控节点资源</a:t>
            </a:r>
            <a:endParaRPr lang="en-US" altLang="zh-CN" sz="4000" b="1" dirty="0">
              <a:solidFill>
                <a:srgbClr val="0F3568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marR="0" lvl="0" indent="0" algn="l" defTabSz="96456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900" b="1" dirty="0">
                <a:solidFill>
                  <a:srgbClr val="0F3568"/>
                </a:solidFill>
                <a:latin typeface="+mj-lt"/>
                <a:ea typeface="等线" panose="02010600030101010101" charset="-122"/>
              </a:rPr>
              <a:t>Cloud computing integrates big data monitoring node resources</a:t>
            </a:r>
            <a:endParaRPr lang="zh-CN" altLang="en-US" sz="1900" b="1" dirty="0">
              <a:solidFill>
                <a:srgbClr val="0F3568"/>
              </a:solidFill>
              <a:latin typeface="+mj-lt"/>
              <a:ea typeface="等线" panose="0201060003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503" y="952029"/>
            <a:ext cx="4087094" cy="346606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8517" y="4671993"/>
            <a:ext cx="4106545" cy="252193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20" y="3993416"/>
            <a:ext cx="5730421" cy="3088916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090" y="1347784"/>
            <a:ext cx="5637135" cy="2976914"/>
          </a:xfrm>
          <a:prstGeom prst="rect">
            <a:avLst/>
          </a:prstGeom>
        </p:spPr>
      </p:pic>
    </p:spTree>
  </p:cSld>
  <p:clrMapOvr>
    <a:masterClrMapping/>
  </p:clrMapOvr>
  <p:transition spd="med">
    <p:newsflash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/>
          <p:cNvSpPr txBox="1"/>
          <p:nvPr/>
        </p:nvSpPr>
        <p:spPr>
          <a:xfrm>
            <a:off x="5421630" y="3112770"/>
            <a:ext cx="19519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9090" y="376555"/>
            <a:ext cx="19519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F3568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50318"/>
            <a:ext cx="7488411" cy="1159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56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srgbClr val="0F3568"/>
                </a:solidFill>
                <a:latin typeface="等线" panose="02010600030101010101" charset="-122"/>
                <a:ea typeface="等线" panose="02010600030101010101" charset="-122"/>
              </a:rPr>
              <a:t>云计算整合大数据监控节点资源</a:t>
            </a:r>
            <a:endParaRPr lang="en-US" altLang="zh-CN" sz="4000" b="1" dirty="0">
              <a:solidFill>
                <a:srgbClr val="0F3568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marR="0" lvl="0" indent="0" algn="l" defTabSz="96456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900" b="1" dirty="0">
                <a:solidFill>
                  <a:srgbClr val="0F3568"/>
                </a:solidFill>
                <a:latin typeface="+mj-lt"/>
                <a:ea typeface="等线" panose="02010600030101010101" charset="-122"/>
              </a:rPr>
              <a:t>Cloud computing integrates big data monitoring node resources</a:t>
            </a:r>
            <a:endParaRPr lang="zh-CN" altLang="en-US" sz="1900" b="1" dirty="0">
              <a:solidFill>
                <a:srgbClr val="0F3568"/>
              </a:solidFill>
              <a:latin typeface="+mj-lt"/>
              <a:ea typeface="等线" panose="0201060003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79" y="1344579"/>
            <a:ext cx="11573693" cy="5737753"/>
          </a:xfrm>
          <a:prstGeom prst="rect">
            <a:avLst/>
          </a:prstGeom>
        </p:spPr>
      </p:pic>
    </p:spTree>
  </p:cSld>
  <p:clrMapOvr>
    <a:masterClrMapping/>
  </p:clrMapOvr>
  <p:transition spd="med">
    <p:newsflash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353" y="1"/>
            <a:ext cx="4095008" cy="7232650"/>
          </a:xfrm>
          <a:prstGeom prst="rect">
            <a:avLst/>
          </a:prstGeom>
          <a:blipFill>
            <a:blip r:embed="rId2"/>
            <a:stretch>
              <a:fillRect l="-82617" r="-8210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64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060" b="1" i="0" u="none" strike="noStrike" kern="1200" cap="none" spc="0" normalizeH="0" baseline="0" noProof="0" dirty="0">
              <a:ln>
                <a:noFill/>
              </a:ln>
              <a:solidFill>
                <a:srgbClr val="4C587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2692507" y="2213472"/>
            <a:ext cx="2805706" cy="2805706"/>
          </a:xfrm>
          <a:prstGeom prst="roundRect">
            <a:avLst/>
          </a:prstGeom>
          <a:solidFill>
            <a:srgbClr val="0F3568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64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13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04</a:t>
            </a:r>
            <a:endParaRPr kumimoji="0" lang="zh-CN" altLang="en-US" sz="1213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800448" y="2925895"/>
            <a:ext cx="6233356" cy="1282643"/>
            <a:chOff x="5618921" y="2764115"/>
            <a:chExt cx="5910469" cy="1216202"/>
          </a:xfrm>
        </p:grpSpPr>
        <p:sp>
          <p:nvSpPr>
            <p:cNvPr id="11" name="文本框 10"/>
            <p:cNvSpPr txBox="1"/>
            <p:nvPr/>
          </p:nvSpPr>
          <p:spPr>
            <a:xfrm>
              <a:off x="5618921" y="2764115"/>
              <a:ext cx="5910469" cy="728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6456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4400" b="1" dirty="0">
                  <a:solidFill>
                    <a:srgbClr val="0F3568"/>
                  </a:solidFill>
                  <a:latin typeface="等线" panose="02010600030101010101" charset="-122"/>
                  <a:ea typeface="等线" panose="02010600030101010101" charset="-122"/>
                </a:rPr>
                <a:t>项目总结</a:t>
              </a:r>
              <a:endParaRPr lang="zh-CN" altLang="en-US" sz="4400" b="1" dirty="0">
                <a:solidFill>
                  <a:srgbClr val="0F3568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824328" y="3631095"/>
              <a:ext cx="5499653" cy="3492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96456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+mj-lt"/>
                  <a:ea typeface="等线" panose="02010600030101010101" charset="-122"/>
                </a:rPr>
                <a:t>Project Summary</a:t>
              </a:r>
              <a:endPara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j-lt"/>
                <a:ea typeface="等线" panose="0201060003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9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587350" y="818743"/>
            <a:ext cx="4807790" cy="1024417"/>
            <a:chOff x="583096" y="1160645"/>
            <a:chExt cx="4558747" cy="971352"/>
          </a:xfrm>
        </p:grpSpPr>
        <p:sp>
          <p:nvSpPr>
            <p:cNvPr id="31" name="文本框 30"/>
            <p:cNvSpPr txBox="1"/>
            <p:nvPr/>
          </p:nvSpPr>
          <p:spPr>
            <a:xfrm>
              <a:off x="583096" y="1160645"/>
              <a:ext cx="3969015" cy="579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64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375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工作内容回顾</a:t>
              </a:r>
              <a:endParaRPr kumimoji="0" lang="zh-CN" altLang="en-US" sz="3375" b="1" i="0" u="none" strike="noStrike" kern="1200" cap="none" spc="0" normalizeH="0" baseline="0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83096" y="1768324"/>
              <a:ext cx="4558747" cy="363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64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900" b="1" i="0" u="none" strike="noStrike" kern="1200" cap="none" spc="0" normalizeH="0" baseline="0" noProof="0" dirty="0">
                  <a:ln>
                    <a:noFill/>
                  </a:ln>
                  <a:solidFill>
                    <a:srgbClr val="0F3568"/>
                  </a:solidFill>
                  <a:effectLst/>
                  <a:uLnTx/>
                  <a:uFillTx/>
                  <a:latin typeface="等线 Light" panose="02010600030101010101" charset="-122"/>
                  <a:ea typeface="等线" panose="02010600030101010101" charset="-122"/>
                  <a:cs typeface="+mn-cs"/>
                </a:rPr>
                <a:t>Review of work content</a:t>
              </a:r>
              <a:endPara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rgbClr val="0F3568"/>
                </a:solidFill>
                <a:effectLst/>
                <a:uLnTx/>
                <a:uFillTx/>
                <a:latin typeface="等线 Light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>
            <p:custDataLst>
              <p:tags r:id="rId2"/>
            </p:custDataLst>
          </p:nvPr>
        </p:nvGrpSpPr>
        <p:grpSpPr>
          <a:xfrm>
            <a:off x="381000" y="2032326"/>
            <a:ext cx="12192000" cy="4209303"/>
            <a:chOff x="288925" y="2112336"/>
            <a:chExt cx="12192000" cy="4209303"/>
          </a:xfrm>
        </p:grpSpPr>
        <p:sp>
          <p:nvSpPr>
            <p:cNvPr id="42" name="矩形 41"/>
            <p:cNvSpPr/>
            <p:nvPr/>
          </p:nvSpPr>
          <p:spPr>
            <a:xfrm>
              <a:off x="288925" y="2112336"/>
              <a:ext cx="12192000" cy="2195473"/>
            </a:xfrm>
            <a:prstGeom prst="rect">
              <a:avLst/>
            </a:prstGeom>
            <a:blipFill>
              <a:blip r:embed="rId3"/>
              <a:stretch>
                <a:fillRect t="-135890" b="-134326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4C587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1009237" y="2832949"/>
              <a:ext cx="10967085" cy="3488690"/>
              <a:chOff x="675862" y="2570921"/>
              <a:chExt cx="10967085" cy="3488690"/>
            </a:xfrm>
          </p:grpSpPr>
          <p:sp>
            <p:nvSpPr>
              <p:cNvPr id="48" name="矩形 47"/>
              <p:cNvSpPr/>
              <p:nvPr>
                <p:custDataLst>
                  <p:tags r:id="rId4"/>
                </p:custDataLst>
              </p:nvPr>
            </p:nvSpPr>
            <p:spPr>
              <a:xfrm>
                <a:off x="675862" y="2570921"/>
                <a:ext cx="10967085" cy="348869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5400000" algn="t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49" name="文本框 6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145650" y="2930776"/>
                <a:ext cx="1858617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4C5870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项目总结</a:t>
                </a:r>
                <a:endPara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4C5870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</p:grpSp>
      </p:grpSp>
      <p:sp>
        <p:nvSpPr>
          <p:cNvPr id="4" name="文本框 3"/>
          <p:cNvSpPr txBox="1"/>
          <p:nvPr/>
        </p:nvSpPr>
        <p:spPr>
          <a:xfrm>
            <a:off x="1892935" y="3616325"/>
            <a:ext cx="923988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      </a:t>
            </a:r>
            <a:r>
              <a:rPr lang="zh-CN" altLang="en-US" sz="2000">
                <a:solidFill>
                  <a:srgbClr val="0F35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本项目聚焦高校课程在线教育领域，完成离线数据仓库从</a:t>
            </a:r>
            <a:r>
              <a:rPr lang="en-US" altLang="zh-CN" sz="2000">
                <a:solidFill>
                  <a:srgbClr val="0F35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0</a:t>
            </a:r>
            <a:r>
              <a:rPr lang="zh-CN" altLang="en-US" sz="2000">
                <a:solidFill>
                  <a:srgbClr val="0F35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到</a:t>
            </a:r>
            <a:r>
              <a:rPr lang="en-US" altLang="zh-CN" sz="2000">
                <a:solidFill>
                  <a:srgbClr val="0F35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</a:t>
            </a:r>
            <a:r>
              <a:rPr lang="zh-CN" altLang="en-US" sz="2000">
                <a:solidFill>
                  <a:srgbClr val="0F35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的平台搭建，深度整合云计算技术以实现资源弹性扩展与低成本高效运维，同时集成</a:t>
            </a:r>
            <a:r>
              <a:rPr lang="en-US" altLang="zh-CN" sz="2000">
                <a:solidFill>
                  <a:srgbClr val="0F35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Zabbix</a:t>
            </a:r>
            <a:r>
              <a:rPr lang="zh-CN" altLang="en-US" sz="2000">
                <a:solidFill>
                  <a:srgbClr val="0F35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监控系统构建全链路实时监控体系。通过设计数据采集、清洗、存储及分析的完整链路，基于</a:t>
            </a:r>
            <a:r>
              <a:rPr lang="en-US" altLang="zh-CN" sz="2000">
                <a:solidFill>
                  <a:srgbClr val="0F35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Hadoop/Spark</a:t>
            </a:r>
            <a:r>
              <a:rPr lang="zh-CN" altLang="en-US" sz="2000">
                <a:solidFill>
                  <a:srgbClr val="0F35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生态搭建离线数据处理平台，并将其部署分布式集群，利用</a:t>
            </a:r>
            <a:r>
              <a:rPr lang="en-US" altLang="zh-CN" sz="2000">
                <a:solidFill>
                  <a:srgbClr val="0F35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Zabbix</a:t>
            </a:r>
            <a:r>
              <a:rPr lang="zh-CN" altLang="en-US" sz="2000">
                <a:solidFill>
                  <a:srgbClr val="0F35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监控集群资源使用情况、数据仓库服务状态、</a:t>
            </a:r>
            <a:r>
              <a:rPr lang="en-US" altLang="zh-CN" sz="2000">
                <a:solidFill>
                  <a:srgbClr val="0F35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ETL</a:t>
            </a:r>
            <a:r>
              <a:rPr lang="zh-CN" altLang="en-US" sz="2000">
                <a:solidFill>
                  <a:srgbClr val="0F35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任务运行效率等进行实时监测与预警，最终形成数据集中管理、多维分析、可视化展示于一体的综合解决方案，为高校在线课程优化、学生学习行为分析及教学决策提供稳定的数据支撑，实现技术架构的灵活性与系统可靠性的双重保障。</a:t>
            </a:r>
            <a:r>
              <a:rPr lang="en-US" altLang="zh-CN"/>
              <a:t> </a:t>
            </a:r>
            <a:endParaRPr lang="zh-CN" altLang="en-US" sz="1600">
              <a:solidFill>
                <a:schemeClr val="accent1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231949"/>
            <a:ext cx="12858751" cy="6624736"/>
            <a:chOff x="0" y="231949"/>
            <a:chExt cx="12858751" cy="6624736"/>
          </a:xfrm>
        </p:grpSpPr>
        <p:sp>
          <p:nvSpPr>
            <p:cNvPr id="8" name="矩形 7"/>
            <p:cNvSpPr/>
            <p:nvPr/>
          </p:nvSpPr>
          <p:spPr>
            <a:xfrm>
              <a:off x="0" y="3501098"/>
              <a:ext cx="12858751" cy="3355587"/>
            </a:xfrm>
            <a:prstGeom prst="rect">
              <a:avLst/>
            </a:prstGeom>
            <a:solidFill>
              <a:srgbClr val="0F35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0" y="231949"/>
              <a:ext cx="12858750" cy="144016"/>
            </a:xfrm>
            <a:prstGeom prst="rect">
              <a:avLst/>
            </a:prstGeom>
            <a:solidFill>
              <a:srgbClr val="0F35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TextBox 84"/>
            <p:cNvSpPr txBox="1"/>
            <p:nvPr/>
          </p:nvSpPr>
          <p:spPr>
            <a:xfrm>
              <a:off x="937243" y="3960263"/>
              <a:ext cx="10984264" cy="738664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 algn="ctr"/>
              <a:r>
                <a:rPr lang="zh-CN" altLang="en-US" sz="4800" b="1" spc="300" dirty="0">
                  <a:solidFill>
                    <a:schemeClr val="bg1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sym typeface="Century Gothic" panose="020B0502020202020204" pitchFamily="34" charset="0"/>
                </a:rPr>
                <a:t>谢谢观看！请多指正！</a:t>
              </a:r>
              <a:endParaRPr lang="zh-CN" altLang="en-US" sz="4800" b="1" spc="300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23" name="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2881339" y="5158092"/>
              <a:ext cx="7096070" cy="4603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70000"/>
                <a:buFont typeface="Arial" panose="020B0604020202020204" pitchFamily="34" charset="0"/>
                <a:defRPr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70000"/>
                <a:buFont typeface="Arial" panose="020B0604020202020204" pitchFamily="34" charset="0"/>
                <a:defRPr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70000"/>
                <a:buFont typeface="Arial" panose="020B0604020202020204" pitchFamily="34" charset="0"/>
                <a:defRPr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70000"/>
                <a:buFont typeface="Arial" panose="020B0604020202020204" pitchFamily="34" charset="0"/>
                <a:defRPr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fontAlgn="base" hangingPunct="1"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bg1"/>
                  </a:solidFill>
                  <a:latin typeface="Century Gothic" panose="020B0502020202020204" pitchFamily="34" charset="0"/>
                  <a:sym typeface="Century Gothic" panose="020B0502020202020204" pitchFamily="34" charset="0"/>
                </a:rPr>
                <a:t>答辩人：林鑫垚、</a:t>
              </a:r>
              <a:r>
                <a:rPr lang="zh-CN" altLang="en-US" sz="2400" b="1" dirty="0">
                  <a:solidFill>
                    <a:schemeClr val="bg1"/>
                  </a:solidFill>
                  <a:latin typeface="Century Gothic" panose="020B0502020202020204" pitchFamily="34" charset="0"/>
                  <a:sym typeface="Century Gothic" panose="020B0502020202020204" pitchFamily="34" charset="0"/>
                </a:rPr>
                <a:t>张孝芝</a:t>
              </a:r>
              <a:endParaRPr lang="zh-CN" altLang="en-US" sz="2400" b="1" dirty="0">
                <a:solidFill>
                  <a:schemeClr val="bg1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6240689" y="6066190"/>
              <a:ext cx="377372" cy="377372"/>
              <a:chOff x="1037620" y="1291771"/>
              <a:chExt cx="377372" cy="377372"/>
            </a:xfrm>
          </p:grpSpPr>
          <p:grpSp>
            <p:nvGrpSpPr>
              <p:cNvPr id="25" name="组合 24"/>
              <p:cNvGrpSpPr/>
              <p:nvPr/>
            </p:nvGrpSpPr>
            <p:grpSpPr>
              <a:xfrm rot="8100000">
                <a:off x="1140094" y="1347780"/>
                <a:ext cx="172424" cy="172424"/>
                <a:chOff x="740743" y="1686221"/>
                <a:chExt cx="432048" cy="432048"/>
              </a:xfrm>
            </p:grpSpPr>
            <p:cxnSp>
              <p:nvCxnSpPr>
                <p:cNvPr id="27" name="直接连接符 26"/>
                <p:cNvCxnSpPr/>
                <p:nvPr/>
              </p:nvCxnSpPr>
              <p:spPr>
                <a:xfrm>
                  <a:off x="740743" y="1686221"/>
                  <a:ext cx="432048" cy="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连接符 27"/>
                <p:cNvCxnSpPr/>
                <p:nvPr/>
              </p:nvCxnSpPr>
              <p:spPr>
                <a:xfrm rot="5400000">
                  <a:off x="956767" y="1902245"/>
                  <a:ext cx="432048" cy="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6" name="椭圆 25"/>
              <p:cNvSpPr/>
              <p:nvPr/>
            </p:nvSpPr>
            <p:spPr>
              <a:xfrm rot="8100000">
                <a:off x="1037620" y="1291771"/>
                <a:ext cx="377372" cy="377372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5" name="文本框 4"/>
          <p:cNvSpPr txBox="1"/>
          <p:nvPr/>
        </p:nvSpPr>
        <p:spPr>
          <a:xfrm>
            <a:off x="1748790" y="1167765"/>
            <a:ext cx="9502140" cy="17303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9600">
                <a:latin typeface="华文新魏" panose="02010800040101010101" charset="-122"/>
                <a:ea typeface="华文新魏" panose="02010800040101010101" charset="-122"/>
              </a:rPr>
              <a:t>大数据工匠工坊</a:t>
            </a:r>
            <a:endParaRPr lang="zh-CN" altLang="en-US" sz="9600">
              <a:latin typeface="华文新魏" panose="02010800040101010101" charset="-122"/>
              <a:ea typeface="华文新魏" panose="020108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PA" val="v3.0.1"/>
</p:tagLst>
</file>

<file path=ppt/tags/tag2.xml><?xml version="1.0" encoding="utf-8"?>
<p:tagLst xmlns:p="http://schemas.openxmlformats.org/presentationml/2006/main">
  <p:tag name="KSO_WM_UNIT_TABLE_BEAUTIFY" val="smartTable{f3bf0bb8-b648-4f3b-9f44-41a8d9fd2220}"/>
  <p:tag name="TABLE_ENDDRAG_ORIGIN_RECT" val="726*435"/>
  <p:tag name="TABLE_ENDDRAG_RECT" val="126*103*726*435"/>
</p:tagLst>
</file>

<file path=ppt/tags/tag3.xml><?xml version="1.0" encoding="utf-8"?>
<p:tagLst xmlns:p="http://schemas.openxmlformats.org/presentationml/2006/main">
  <p:tag name="TABLE_ENDDRAG_ORIGIN_RECT" val="688*300"/>
  <p:tag name="TABLE_ENDDRAG_RECT" val="151*126*688*301"/>
</p:tagLst>
</file>

<file path=ppt/tags/tag4.xml><?xml version="1.0" encoding="utf-8"?>
<p:tagLst xmlns:p="http://schemas.openxmlformats.org/presentationml/2006/main">
  <p:tag name="KSO_WM_DIAGRAM_VIRTUALLY_FRAME" val="{&quot;height&quot;:273.9,&quot;left&quot;:34.9,&quot;top&quot;:194.05,&quot;width&quot;:961.85}"/>
</p:tagLst>
</file>

<file path=ppt/tags/tag5.xml><?xml version="1.0" encoding="utf-8"?>
<p:tagLst xmlns:p="http://schemas.openxmlformats.org/presentationml/2006/main">
  <p:tag name="KSO_WM_DIAGRAM_VIRTUALLY_FRAME" val="{&quot;height&quot;:273.9,&quot;left&quot;:34.9,&quot;top&quot;:194.05,&quot;width&quot;:961.85}"/>
</p:tagLst>
</file>

<file path=ppt/tags/tag6.xml><?xml version="1.0" encoding="utf-8"?>
<p:tagLst xmlns:p="http://schemas.openxmlformats.org/presentationml/2006/main">
  <p:tag name="TABLE_ENDDRAG_ORIGIN_RECT" val="372*25"/>
  <p:tag name="TABLE_ENDDRAG_RECT" val="613*151*372*26"/>
</p:tagLst>
</file>

<file path=ppt/tags/tag7.xml><?xml version="1.0" encoding="utf-8"?>
<p:tagLst xmlns:p="http://schemas.openxmlformats.org/presentationml/2006/main">
  <p:tag name="KSO_WM_DIAGRAM_VIRTUALLY_FRAME" val="{&quot;height&quot;:375.3051968503937,&quot;left&quot;:63.9,&quot;top&quot;:176.4448031496063,&quot;width&quot;:858.0428346456692}"/>
</p:tagLst>
</file>

<file path=ppt/tags/tag8.xml><?xml version="1.0" encoding="utf-8"?>
<p:tagLst xmlns:p="http://schemas.openxmlformats.org/presentationml/2006/main">
  <p:tag name="KSO_WM_DIAGRAM_VIRTUALLY_FRAME" val="{&quot;height&quot;:348.7868503937007,&quot;left&quot;:26.25,&quot;top&quot;:159.9756692913386,&quot;width&quot;:967.25}"/>
</p:tagLst>
</file>

<file path=ppt/tags/tag9.xml><?xml version="1.0" encoding="utf-8"?>
<p:tagLst xmlns:p="http://schemas.openxmlformats.org/presentationml/2006/main">
  <p:tag name="KSO_WM_DIAGRAM_VIRTUALLY_FRAME" val="{&quot;height&quot;:503.95905511811014,&quot;left&quot;:26.25,&quot;top&quot;:159.9756692913386,&quot;width&quot;:967.25}"/>
</p:tagLst>
</file>

<file path=ppt/tags/tag10.xml><?xml version="1.0" encoding="utf-8"?>
<p:tagLst xmlns:p="http://schemas.openxmlformats.org/presentationml/2006/main">
  <p:tag name="KSO_WM_DIAGRAM_VIRTUALLY_FRAME" val="{&quot;height&quot;:503.95905511811014,&quot;left&quot;:26.25,&quot;top&quot;:159.9756692913386,&quot;width&quot;:967.25}"/>
</p:tagLst>
</file>

<file path=ppt/tags/tag11.xml><?xml version="1.0" encoding="utf-8"?>
<p:tagLst xmlns:p="http://schemas.openxmlformats.org/presentationml/2006/main">
  <p:tag name="PA" val="v3.0.1"/>
</p:tagLst>
</file>

<file path=ppt/tags/tag12.xml><?xml version="1.0" encoding="utf-8"?>
<p:tagLst xmlns:p="http://schemas.openxmlformats.org/presentationml/2006/main">
  <p:tag name="ISPRING_ULTRA_SCORM_COURSE_ID" val="B281C1E7-784A-43B3-BD6C-B087A4CDE4A3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OUTPUT_FOLDER" val="C:\Users\Administrator\Desktop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wQUAAIACABElFdHI7RO+/sCAACwCAAAFAAAAHVuaXZlcnNhbC9wbGF5ZXIueG1srVXfT9swEH4u0v6HyO/YLR0DqgTEkNAexoTUse2tMombeE3izHYI5a/f2c7vpWxIe2iVnO/77nz33cW/es5S74lJxUUeoAWeI4/loYh4Hgfo4evt8Tm6unx35Bcp3TPp8ShAZc4NgKbIi5gKJS80gO+pTgLUM2BgRl4huZBc74H7FLjbSCdL9O5oBi65ClCidbEipKoqzBUg8liJtDQkCociI4VkiuWaSeLSQF6DXem/o+GXiZzofcFUD1notweuSVqOZ8UHJNUSCxmTk/l8QX7cfV6HCcvoMc+VpnnIkAeVnNlSPtJwdyeiMmXK2Ga+S3LNtDZJWNvM1yu+OM89JcMAOYdNxpSiMVM4zWNEHJZMgP1tSlVS86gBreFVO17zWr+Ned80brZzpHMuyseUqwSO+pDOOgn0yTCqn9nrWgU9NAq6NUzIk+xXySWL7Ou3VozzBXIBW8XZPLGqQjiAp1saaiH3NwADFdUdxG3TsGsatqCWA7fR1x0Fam67ZVSXkjWlmvlPPGLiC5WSGllcalkyn4yMNZYMwT5xV66b1DXET3SWnv5Db4zfqDU/1WudsYD/0ZhPQNTWhOcRe77l4KNZBjXVDIptbFgXKTYxu5xU+Zj1dD0wuRzrpsBFPE1lzGAMI6op6ezkEJRJqsAlLOUI2zs4CE54nKTw05MM49ODNBmVu0mG3sFBcCrC3QS0NbdlJOM6jsTUKsgnE+vED0ulRcZfrDwHe0avrA5fG7nm6Lrg7cHZ/I9RHMRoBnOLJlaXeertq+bw3sypVp3PpnCWgVphHpguC+fVzEJZjHwitqVlqm/6OTX7sAcd5Tw1HdNc30HvolrzF+ZVPDJfusXS1CRhRjMB+nC+7DFAP2G7DMJb06GIW5E3dcCY2Df3byvabPm6da7rhzrsQw2fOKscxs3UR1BHLEWZR6Me4qL7iKgUdtq1ZNRL2RZutDgBkYoiQO/hob7zxelFd+WzxUWDtXndu8Aulzes9DrhTkGk1nV7Eb/eDfD4G1BLAwQUAAIACABqGGlJKPVYmj1EAACviwAAFwAAAHVuaXZlcnNhbC91bml2ZXJzYWwucG5n7b0JONTr/z+sLElDCTWW0Eo42cqSZWQqrZasFWYyQhiKss8MqRHFOEmUrWlV9hLJnmWyjhZhBmOJUUxjDDOYYZ6ZzveUOs3ve/7Pdf2v5/88T11Xdan7ft/3+32/l9f7fS+fWGtLC3ExOTEBAQHxgwf2HhMQEEILCCz/LCrC/RezlRB57l/LAo9ZmAvktyt84v4g5Lnn6B4BgSLMKvYpYe7PK88eOB4oICBRx/u9DOef7S4gcHXvwb177EJcKX2nCs47HgctVm1zFdCMvG81u7UbmJXKuqWtjyl+vMZGA7vls/h9ke1rlTfu23Pxj5WXrPNWmvv4mlHXFBLMAWvUbjr4njnzRzt+nL3oyMkp133mmd+j61lQCVIxLCPqPmNMIPLwE4gPwXk95ISj9JkWyGIA/XNOgZ9r6EhyDjUFguwpldOqERAE/PjHBvnX6So6Wa+RhAKjKdTQnj2JyteWiQChkT/84VQS9TpyalwNGEZ53nXJfIMKqr+wBVn3GbLQ8iNFredRry8OjSdw5rI4kmIrL/9MCBoZlSx75ciYhNLGpN2WGbsJirY/TQjQSjJzNw9mD62vThTN15CcHk3npNkqfdr8E5lAeS6ZhMDqK5To1n9wBWh9Fwn1QudcHsK/RiyMQ0qv+6ARgbFStxazyE1TaxHUXdMmS5s7E3jNB6Oh0D6V5QvVXxarp/fVjNMav9OseSl+ZC2gD8VZSGOw1CFzcTKaKkKWKaIiVbR4f180CTTXZLWu/ND2hJmO4fChWJV8b3olFUE98flc7CKGOU4GcebycOtBpJnubuHNJUYX+twgaHIqm/MZOXouHYbCeX+kXYCcn6le9PzGZGpa1MGL2NKKkT/SgivHXQpW9/fPtQf7+fW+ODdjUir45RRqhySA3ZTFbtq2vELUbIiEjxjVTZvtoRBLPd95Zs2/f7RtlexQt8RKDeRsnZJr56lPtdYVnsPhwJsNHBw+h9rnZTSDUyZCx+D+4cTOqqMygAwYKtwA121RfW2pOM3kUjWAchIisMi5hOCKYbXzAl8MzqaIodF7Dl4yl2xsfVAtIR4o0UMCl8rsik2cSIRnjhumjHFE9w4tGDqfk+JkDR4emW3fUOyuatdTCoe3V1bbUh5RFIIl7DVn3L4v6cBZQc9V6LtSbgOyuiwaSXJN5Uyef+WJ+DUk7dnWhDjcEIdeFFQ432SFnJrJIjff99VXeD+idjHEWCSR2RdMsieG9M0elwije8p62DMpzh1c4fiuOrRJOjYLd27k0F0MYgLmCLp6RxO5jpNBgo+tx4wEDpOcQpNmYl+WUgLsjxXHKqs5qj9Xv0nQk4VSiJYTh8sL6qrOYPQXWVch7KFxlnQBJ4ur1/67q7r3VwT56RNcNhmU7+XgwpX7T9Yl75mrOoNSpOZE+DeGbye9oy3GkhtYxqVdVSr3qofmeki03l5LdhqVDif2zPQTZAANag1wYgJFIUziTKkk7vyYxWr8BcXCvjpNd+8HDktU8734kXWA50pbr0bBAE/drFOj50WRBGWsePxQkcKWUYvjboVAOKwwRfBNiEbJrah2J60b+HiK+2wSK3GjzcDjCaLhG5dNwCuJm788kHreRBU9/FRJRyhuD8JY8TkmcsvyGwaMWf26myEadfdCJnjcQVan3kWUL1dRbKF89KnH33WZsDK++Rxelw4uSWK9zPMvEQYXkc4pSDLqfTzXvBdJojm934oxUry68KWSQ698V2VxL2u4MnHPUQUYO7jCkR5yr/GNntJVToJA0Gzmtd37yvXe+5QmUXFj0V5Gve3atdYi1nP9CZSGcw0lq01iisnRIRSDh59xn9rP1JWMrzd6bmu0xOxL5FN3AuNq7QCvh4w8PgU2mqxI0oa2UCP8RHS1ReWRCn8sx4a4EkNpHMndDfjGi9gIV4lpNDGuK+cL0XCPixrQ25FWj7KITFJHBAhbK3oKqdBC5Lc0QHeDkyo835xN3mesKMgocbkECo0m611qKjxzUmtnSYae9e4tQG/QfubYPUyVIqMeH5hVgsjViM7rZ4FIRpJjjeG7ElQW2xI9gXHukUkbLeUBz5kPmu0Rsq3uGUOVwILOTMEp4z+Jxh8XHYgOgAY8Wul4/Bq1BHJH4AH0YVqE+mX2q7PtzFI4veG7E9UXTBIGw7OlBGuCLphJsKfQ7ynVNonASIs0dvZxdjCgnYBBnx4c8jT02rAKHfDAprhvRvLG56qMZ5s1ZQCUctlAITDcK2mPzWLDE7a+eXL2PqFDc7RcAHKITKtwuqDru35jzeSuobk5mxI2NaihSZsoy8CfbbAOn5jr6nnrJg8Qp9a+Q/Z+cRbZ8YYz1x9rtpWUQ/OfPlzuptofMyeZE7Fa3BHw/MLr8PXPcwToCynMHd4kjg1Jz1cu51M+1AuoVqqf7YcXLFpwISc6j9xQunABtXP9hDZG0fPSN2uHrhRpXwvYd8ot8Zb6+QB7SyOpLPU1ASN72GmglmQh7WGljTYnx7o9FidSoaoipXUyYG2za7UQX3I3wsiTDNkEBJbL0rWKm2TAlHMWbZvWxCWbyhZz1bWafu+05LrTITfg9472P/MCVkyIoRP62qVrrSfIk5nmRW5jvUzZl3s5pdSMWWoF3rFKSTcC7jg2En5eA9hsv4eCe19SyZm6h3okAi6iYO9VFDGwXB7erMMBWZ35Xsbk8L6ShU21S0NNF3zAt9a6n7jZsw/23Ex+qliwAWhWgj2ar/ca/vGOpogvxQTtJl8mp6zUwlHK1wD2iwaHYLAwJiV9Q3AsdKAbqkrdfEOJGaul6iCyz/o6asiEKsM1YXI9nZhmgwsc5qxeiQ4YsTltZCsELooXjXp7dsIiIt3vIBMYB2tlRY1YNBNkwHOShbmeFVY6B/rWjRVH2Ra3RZ6ZXWxh+lTgrMTRJZWlMUwg4YJE00I8zD86d9Akpn0OWQqvFl3q5WsuyKVu4VoXqYQVXQ9Vp9KlMGSIZrN822gUDkaBbPUB3x6EAHwcRT4O6IDmJQtSMBYdO533dSxeeBBS2Uvmal/OMNfl7oMTqhX0jG9mN519YNUPUTF/wBh2e6Pnr5DB/MPbpBjVpnHxZkQfvECbPXuCjRKxxPl6hhhTaBIYE8Zmpj4jz+TLLIdR8FDcJ0BCkBtEGCby1KJZjvNMsrpHwMyRKv3ArZCKR/RFZ+Lik+MfdF5VMxZBrH5UTP9YKJG1mxHYVTJchCAnlkjMOQLoBesUA/D3Aqer4fMPfoAhO85Ar0PHrhtVoLte7tUqRO9mhF2bJ+2741jOSHNZ0m5eVxk4T5IRDoxWB6ZCspzfXlmEBHMgb293ucUvpScEvojtEYb5gLRXotNTuxYVz7L7f4AX7ZHQA1pbgLdvLavtGLGM3KHn3bZUh3z0lYG3j6sWBiUmkA7e+hkwtciuAaxE5wLd/gml5NYA8oqHHxSkHIZ0nsiT/RFsjXqbcce8Lqb7M+qrOSQuinYg0AKPqlFSpDN+Pd79Vz9jKq3CY4IXsclBFdMzAZ9yTuTs+omqs3gvjeKPCh8+Kf4L2DfDo9ooFM2XqnQIYnuhaRf5pwZgwYsbaxPtUv8BSh247BW/TUhZezhW9ufh/gvjx0491voHZBRFC4GPnfon9H3MXbNDRq5qGjIePzO1rDYRekDtn/BTfZcy8MQZ3OHLD/4pRGXgWsDBy/+YMfQBV4vUKSGPC5eyGrUIMJ55b5tGzgz3ow9d1fSLeBwplm2WvmoofQ0Z/dnQhcun2vDju+/yqyFm07dMYX8TzCfVBFfRM9rUCyrctuQuV7uz3P+JWbr8kIKNoeMqLqNbDWR8Cc4cTal5M6Vvk1uQm+3BIz0MvrY3Ul9DvtJs6MobofYx9N1DEsR8OqNqyQiRtEKx7Eixa/Z3AvLXcTVGCLyUz46oqKJlWJy9mbCdmdb72qaKtwe5A05cM+1YsdR51iQ6chsIN6pZG1od195yRMeo/of0BAiUXxPmzGsiBN6Q3qqecT++Z/tSyWl9tF8mYx1VJGaXL+MAWJnUKqG9FLuuEGkUuaToyG2yrNZ6hQr9kMoZWNCVpbIHhPLmCM1dnuxzWQb8asuz/8pG6oYfTBHsyiUuA8wxGzlxqiFRq2lizdIFPw+F+pqNneM1WQO4cFan4Px1PY+YpUv/XQRlDk7/UgQbf4vgtwj+vyeCUoxYxeSrVWkximFegXgTpjOCdKHLJc2IWhHoQCqyKkMVFRThq27aRDU/fxW38dT1HyUwVlOjg85rMY0TdfLrrzDMWTOWaK3GOG5QDEi7iJWwHE22fNv445w0YN0vJ+69uDDuEIy1FrEoolbNF/Cb/R3OxvEpDDRBSd7IvcHaWIVROTXzejPG7vaZwIdioujdBrccdx+U/1FoZx+eu99m6RQFBqeWmVK7j+1VlcYN+ZjKZDur5wLXbrv1g/yiJACtnmNnrILsoflReCzrwhG8h+oW4O6H3mRUPjQ7Oin0QVKx9o9qQVY6FnbZVr1QPTK2mn2BxaDY6qMCWI+ykPOfNR9SCHgw5I74ZSFwjANFB5/DZ1BnD6dP9paPax5HtWwvQBwh2jICgWIr0QmP2XNZ6sDPA+6un7bAf9SmmrmYG66D78XS175Inyfgigu+kEusD2idPzKC5/TyW5v/9LETTLGFMLsZyQu9Mrxh8hZDszT5DBMak1Riuk9YLapFuiB8Qi+hD4/AJkLHuj9nMef4aSldQgWOiBNTkH9xhHY7Ga7wLAvG7ZP9VpDss5kfN+jrJcb2wgkrnR+GtTUHSfThweYba60frGjvehiQV+h2INX9R1PZrXW2Cnv/Dyv7KLBgymPXgpcZYAa9gysBO8plerHUr9V7wLjuwMmMp8tjhHbYVrleOAljhR7hru8TxqtQgj0fm23XvVbcuV1da92LI3MnHvn6kJCK8lyhWX6K/UQU+7XOaS2sebvuUb4ZtdZ6q/RawNG8sWIKP/KW8ju8EbFi04oACoFTlAW5W+I6XMhXmbsLO57lP1t+ETueW9WV8LefOXRWrbuY1gJYopUXBNGV9IJIqNcionjaJDcdJgzmgrifvcEnQcJWhSyo18rKbqb232OmzefGER5v+L42xwDTJs4uuP5V6A9v8IGmzc1z7b/UrvQV9xgUjv0dJnTsQ95JI8wpknj2DCdCTfnbmgf8sOYR6EyGu6Nw2Gr00Au1wTWS9Md83ZYp2Cr86Udo9loJSe0sftLRysI+MjkepnXe12BvfQRfL56K73iXmbsRuHubwiY3U36e8K8hb0LHOs5euTJnd4ePEv41pq3W+QNfx1Tmo95fWYXXdjj9i5lpAwnr/zubPlrF6l/n/z86sgRxtGLYGLZHmvKnhWJPbyg542T16r6mk6V+ldgFLMWYyubH/wAbfKjgrLdwkPCOSjY7ddi/DgsjhH4JVec3eQPq2bcfHmWbaS7reKyOfuogK3HUxoiY+nA5H8d/RNe3ODnQYWC0Lc0I9HAXs0OV685lBhML/ouwe+yjVihFFBKhqow+Rw6/6f8VKgYur3ft7n1x7l75WVWG4df2/MQ1DXJ3wUnurQmgVjKDpCQaqsQu34TZ/jrMRo0AXDbEimXXlPFdSoMus7dB3Eh905ZfrL+pe/7CFi7KJz/hp/UDzoIHiVxE4WTJD3A4tXd0/slNANJz+CKGQPEtcC6sgRryVXRDsKPF3eVqZ/P5wpb2XYnFLlxgM8IPd/wWyP8tgQTEExGjtzz1Sv1JyHdMOW/aq1WazhuC2eUUdSUMTgLRL/f5Q4s2nyDT0VJTHLMQMVm7Qj+4P5ScVuXf+6IodP7TI89Q0SK8bcS+ycAul2A4z/zz0q52lXET2HzFq3L7DIop6khFDOu2o7Bal5g6+tLBnyxHUJAuh2RU6ssCnltIRh0U2iR5u5Xm07xmlOvU09L0/f1MWkVxiqEf/8zBMfK4qXSbTdPD8zvWc4W5LHsLkpBqs0QQ0OMio4YASmBBiTD43BaMCaO7Uy3VaZe0kv7VyC3IdXh8si7Nn41C4uhT6q8eeCVhxEH5nabr1IMIuHtHfdWJjeOjjl/8TVXAaS4syQIpXCJmdfh2xavDvkyT0h4RGGW8YZii98yBUoTTHvHxeHEDU4r78OGZ1R5633hzKISXOG+N46bZGuPrpRYeg2S/1VfkUqnWxdUmRBnAvtQ/lbLiBFQd8PXBuVvilLcIJq9QDBlQE2jC6Q7E2hsw+8OpnbCyeVWlqx1bzFNCNAg4FC6Qrg4irCNeI9cPy0qIR2OLFq50tS/4Qe5RHnd3DeLeuW21mThZbiV7paHKPc2YESRjW2FpqkiMxU0Ne9tE59qHswMXul1Rdzkck/z0lF+F5jvk2s+9jErxEwR7fcnGjxa5U/eOUZ7cFnVGK9U2K6skaL9KHFS7wzZw8C0Xd3Erp5hEDFUT72zLTGPON8E9N+AYmxUxZz1IjpegRVRKXFY3jhFCXPCJfuIlhbUSAR/PCUq29QUR9pqgcWspxHDZtjYLPOsbNtthJHWv//P3+piWhaDJagdyCVUWsC/yLRKH1+3uCVqdIWo+NAdPld5jI2JQdogrwL1aOr0O+TubGWUXVaOzGPvxdQP3XTICXyMBjoLiLGV/84ycIDcUUflJ3yNAEZr4GkFYV9xQ5FF4Y5cPsdziTWi/THJgyq8BJWBzV1mni9JW+VU7No1dSTaAa0lz+vqtVARvhvjlvo4V2AJOPFXOcDWqqxbQWwegEDHwPa0lmX6g3evgaKawN8ihlDLaBde6of4IjQNir0PHAqi639xQY9wPlUn9YudFdftoLEMz6HTy0LAtLUPf0S9nfdSBXMVmGf26NBMcriigoV27tqOKu+ygncC4rgT7w3PUEpk9czYvBtueEO331mEeNAS57TuWXxPXCa7DlMB9nkWEkkGv/gdgPh562Vvrhv7ldi0V/+WV46bmFPFMepXZHO0pQ9E4BnlDg3O9p2rBYBswjjxqMUhgKT24pJcbB1WpgnGGjQgjcVi20wn5xb3KN5WOXp3fK5CslHzV+gyxraBr82SEhRp/2D1OnCphfQLkrMHiJzONaOmA5E3SsYX3Fmbti2M7jefWNxJY7L0ha08dZHXhCNXNMgWdiyjfUnGfTeebqhP0SpTe+M0WFbpUKuRkuJXXdR6R1RoxFWeinOpCXNH7QlffZ+zvpe22KWBf6StR9kasfQQa4ieDafCBk3Zc536Cr3MnCHygcZ37EUjUbxq/afym8ZvGbxr/D9MIoTWsT9FDXzDmAncpB+V2yb9g9/216WJ6cLZO3RLY3Fdja2XyPJTyvGubwn7CDS44Pqa2how2sLBrL+ICIOuVlsJpejOQ5e8tKd8HeFWTZGVaFvrpQcpNnZsXFHij2Cm3rzznl+2qwtvz08lU201hH6v7eZvJ+Otm0sWNfDeTdIww7g6gsRU/7ZGN7/yfd4dmx49srizZmf7z3loo8L/s2LkHKTblIjtW/9Sg68x/2SjrurU/DH7G4Of9Lfp/28VqmjC+fnzhjtJP/Oe/+7oP+s+NtL93Mgt046cJb88u+c/PIlXMSio8E7U413ZVsypkhjIeLxMy0+kIKTj6/hNpkUKylDBWRLFpbWRTZlnbApNUPTcMWhxu6wsmVXZTDarYCbAEGBOZVw0Jz87gjv7xaPtSVjKAV+7UddFkQuZGUvStTGbsmuZUTGmxDWizGCFnKpJZrm8TrbhcguW0qlAInOEsIFCwzFH/Auz7isZFKS1OxuBUNp2ocI06ZCCtfklipdWHyXQnk+IbzOvDIcMX9nBlPDXq8WPGv7dwcLxYrB7XWkXPoCp8XLintJBt7TX5Z5km4tPhFZ2Wk28dlXlV0eUDRzu70g6hPmkuOfoGNPhj7Zvd6muUcPLjWRaKoXtVi0dMD9GKnhYRQiuq6Vk8NuPbfsz41lCOOEapZEUEFMw9IEHnb2CqTKY7wO3rN6RrJqwcEwKvGu+A7SYFsg4HzCzZR/zgA33pVH9zCHm0vP8wzfGF5UrLm/16pm5k4+JceuJXcf48Dpk7znpIxLlHc885Mk/BF/P8kfS0dtkN6boS4pPccT63go366DeTv3y2Wmj6u29uXc35oit/7BMOQqRPVFIRBTLgk18034vsN7UsyQ1M4GnNp9M/StBuON0zM9QjkMWg5FBnqYzxy+tdX8zPvbMCVTLJtBA/GLG6KCMiY9CnWL69ZO7ZIIc6P1fV1c8MY3kzJp7hq5oQMw/fKbEHVujTJHOYFWQTf9HkoAVj85usL+XUJ0cjcHTCwAOERta7RXkMzgceroH68KXlbDiNE5MLIMykv1iRZBZmOJgIzY5eFanfG9B/dv4YROebmdiJK8gDGp4klH956RNIzgiuGmRFcVM7hK3ki/phZm8gXl4PxA41Nu21ZHFo7BVKEZOfDWnU/ALfJAyZY6H8DkkJ6y9BdPNmuw71Etm9vhNkk1VLkLIypqFrtqL6/fQXWbys+l0+N8tLpXcWIC/4B+OGizIQkLnbkssXxixAYe9sQawefKa0RENl6pObz9O6Qq15qujxkyoqSAH2qUpvPCQElkz/GCyyT7ZeQQ7QQA+U1/frfUFg5J0sdeUczyUYbgXGLcTZW9TVeM1yKEUfUThtu+rMsM+P9bsxIJzr8YPv8l94g++c0pJWj54a94GwCNuWZ862D2yLftC93/Qm8QqK7lmmplois9F2sWJB31H4tGgypsGnvuuwZuX5596PAyrebPvSsGXglmONLWU1Nz9aH+lN9i69pv8Y+R7zXcNODXQUiJ7REQibKML1d2gsgswzRIOHxjug2X0H8hXlRHQeCYGLrCiHHrqooyXyarF4H5DlulMndm05E40VDQ0wqoOqCt4RvYxW2nD1zrYq9Kmj+YpxKKJemZuqK6wLSQ7cpOCdJZV5t29ysy9OAdV7tansjCx5W20i9HXarZ+2ALy6/8y5rMOWLWmRAYWS7oBNDwV9gaoyt1PXF6sDCUEFWPD4U0ooBdf0pZqzmBSNdc5IUnrnHY0Net5Rkry77Dp5MEYJWYe8JgyW1BOn7roRZRWx8w/BR87HpfEmpx9Yyys2HNIZtOb8rWMnOP47Edmrvztdy11nvQSuqwejmeLNDG6eXZYLbE4+UobH9cLGOl5OhLlGpGsssue1c06j8W0Cqsuxom5DRua39IDe1JXFlOdBwmaw2o6SYW9HyX0HzieEAxq067UzPp9gjYP0xbjxq//1T4kwWDBRMRprUBJOrWR+hvnJrm1AkR1F9tkWAOMoOFyT5RzwuNAWuIC0OnJI3XRHUCzUixSHHbTAu9kfk19r71/S56dvvmuwfSbG6NF0FI+nmu0bcuEkf+uFR5zvgn1bg621FlGvk99twXpRG9iPUuXYLSiYHlrHusnc34xJhq/iras2njWiiSqLBVWbNsRhASd0IpowN0eynuIXCOteu1+ZfmyF+JyNuR7fB1N1UBAvlcXaR4hz4k48EJF8Ymg1g8hcyw2YFT8cHLkjKIi7tIECkfAhNkDWyovsKZN7VBkVYOpPzLoIwrU9ClQKfP7ugZ9pRoERwDJB/ABa/5bi4vY5wMUpU3NJhZGsh5iuOMydBkekUB5ioQhznbIKPfRiKgdR6dwpHdVehNsdgbzkzau1CG1w3lthw0Le+wxawH3fXTmiJX1qTz7gZSh9dNur9Fl9ziWE/PLTHUlRNiwOcVGa7aR1A2vJonZXRhNgLQu9JW5epBLMY/xk2aP8dFkRsGTmxyfpIXkA9Kb0M45S+8pLNKceduKEwOUJRpy4nqouo11rWhYi2DTcyPIN5OUOgAu9oUjDyZZlS5z3uPZZ30lJJRkfcCbvrGBdweChDFHPksvmb3Ys5kZw0+6dQ2Ta+idDZGIV3eoNGTY3X8fBZOHGv4T1V8GVTmYx5oqOkW8k64aCsAx8NbntUenC8Vm9nXELVzDplPl3NMl1DXporI0xKPoBnDNKh4ECHhxTDLy0z/ayuU2pVcSQ1EVswjPhWmtcBjklcoa99k7BzPczRjXba2NKhmVSdVQNt7p/LqKEk1iu3KY9F6HZw+30liiIxFKchYmiedXp8jY1lVTGtTtuBWTBGlLpNlnkzV8tOeUnSz40hqWckvHy7zA+7fUUDW9A3ODBN9HdL1JD7jHm9nf6z38/7zVQ6FX3jEsZwm6ApJ8vwO4SMitPoPVRkaVH7rw7UhOHtTRq1xRBai+FRS4iliuNi01yl7MWp1m3wVlgzMJhyPz1s9l11/ZovT/1aE4Y6lItMOa/8D2YrhGJcHm4nIrisPLk5knVO4O8gO9N8bimeWNH3lGbtS4/geXTbpIFa1GHqtbGedE5r+5/DboqG9KtCCtX1Fp7bvAoycYLOVR/0v/u+W3Fr/jusI3iBhFLLTtnbenaDvBqky3AzxqeawAXPpx65HqkmLlq5RL9QMi9OKIxZH93OWr+EUpNQQ0NZpJQ1dDsZ+lcJo7HlF1hhkp2/SAqO8FNaS32A7EqmWsAMtEbuWtBdVbhQcfAnywv5eq+iuti2WaaMjxMr0+j4R5lhj2JUPxa2DW44LGHtbj2JOIh/jvPaJEw2WyClYx1VIvjQLKja08E2Yi0/TL4K5hPgNix775agmdPizsjsz/J2JsJhz2pwSMZz97O/nWyiXa45jRqpbX/zPegOHYm0hvCbZn/iFfG/3pw7+cdc7zWu5wnkWLTdvy2E8Lk0gmO3LmN891VHAhD33K1F7a784jfVlvHu4H3VdxRnK341sq7dFunn3DTEhN7flsBiOh3jhDEBTqbjvfPDP9S1lbNYVWzHARF1nko9xNpihjmfFUBvwSsqnYAxcahfJGL9Cx/3kWSzHX63Ty2BNXXUCkhGFy4C3fYleXXO87ARH7gnyHbrQ+8Zm9eZWcmfBMSVcQMG9nt1pB45x9iMNMqZu+p3mwXVfRVDMcd3xrCWwE/lAlTuTlTd2LPsFohW4yXV3kE/CPlaFGaNjKXAeZEQr0erI8suiWISXNZuhEwx20DA3tgcmqm1Hmpy08bcLzs4w9UB1XUHpq7nJswuQq0LmqgGBZK47DvjbS5qVTRxmc4e2i/zGyDJrKoDMFijH69GkCCzDU76lmZzn2sNdrxK/Iv9mpNcxG+VxJpBcYOP1nfHQPcyzoW9cBuoHpxvFovi/1RRX+18WTNB2o1u6XaeMxaGKxeKXCtTSGkd2LtEoG16J/Nh6ouT/WPGJZ3jO4EvmgU2LUYnyzOTWAEx7pTZrtSxDSwy2mKV5n2L5BDsSr9a8LQdKdd0hiT+bF792LUfzU3A0ct6WXWgCPEAmBFo9kuhy/O8+MsEmfRXmvksPDNY1ERIIoYkjDgNWGiAjzxSbhmAj/liZouMv1uMEBd3qy+BK9VR6MhNDqjX0UbGr/ML2I1NXZtjuJU0Wzpht5GGI3tm4UZWXBAE69yMF1IRo8nhDTaDQ3dvuzisJOHsGLEZG1OYSAJt7ludmPO1/T5R3Pg5rJkMbRbgzXgwDDJRbBLNMHtbNqglTHoYho7DtNUH2yciW/DuZUXHdsk0ig5u9daOnpgljMbmv/wSrI5TQYfCx8ZH4kPS5GVNXiyy065X3MwZGI8kbwS7RC2DJhmOPmiZ+vS/UD/Aedaa9/SSlyHlnJcjUcIPisEiWRrOAiKg+LWYS3zp2InVRZBVFnpQdtL5rJCDeM4vYDOY8Yf8qHNydKwaG+urjmrnz0wIMVCvqb/mhsA2o049yZf9Jxbg2W+qLcj9SMXLqllMmAedSypfSzGPU8aqXxxuW1/yEuXeGmi0bSmXtsuYCFkPN+sPySMZNGkE9nHKGovCeOvsmRR9KbzPYyu6imYa1ncRtDUc4qpOc0JeU1DpHTuTTEgzU1mr5FyApkqx97PEn1IKHBhmp0Ifj8wFv6kRls/yw/8Bo5T/aXWWGjdYK6T8zO6mMledagOg9j3OinqbYmyir/iBmJr+Erx6MwQS+Q+LZlBK7/g2ZQ0NyUiJmNGWpTrPl6LfXyCLc4EYZRVX3WcVSTRKhDqV4X4KnwCVNVfLAO1S+NiujMtiSkax1oxAt3FyQ1C69N6RRMCksFs+WgiAElIVGVWVxpeQJuXVQJ3lmJt/Ao2qOKqJPw/yhN9iQ10umZa7DY7qISMaBLNtVnAi1TNerWRhwZ+dEm572sML2KBuR4G7/OdvBzHACuK4QJSLGnKM7jQTi6CCY6As94xZAnuaUANz0kpTt/imfluzKDY3e7RSU/J5c9ZCkSDjwVmbRu1ClePPzEzaAs/31B9yvBVu6gTsdDL0WALfyNKgHq5gAMscpbT88xyE3zqsEFbXcu7eMeffyqd8apIEStmGEeEH2abocHl5tgQ8dqOQ5oCMN0VivrlS/Z6a6bERdEPgWFEtNi0y7JfcRsJzaYuq6x0jNqupsx3asrA225OcHm1jmDhX6ryRWzVimmGK3c6/5MHtgXkwMHC8/m8ItBPxyt4h7nfMyP7+3NqpGXWAPKml0MZnnPPQPNOSt+LU9e4QSU74ksZWQ/EmcM/AgYT0GLZNUe4sYgWUkBlyRlhfMPZCYc2w52LfzrRLseNRhEznY76vGt6ekW3a0rltAqPCPLC30vo6ycbD8csxSPQyyIeL6/U+j2OFGvNXp5c0x+HlXG1VrMuLpvwTQzL0f8u3Y6aa42ZQfuE7aAPZbKdjb7K5uhPWdOtBDDlJnee15acz1n3Q4BbSoPPcZrzCt6l3FDqwRdweOxkFKtzkYBuHt9jTA+HrcsfLFfTusf3bM+9okcuNstkUs/wBRy6G2IIf3ABgCxfwCEbb0KJ+7osfA8afTJ4/x/Z8jmd0+o1ccaRx+4JvrXhIzhs0GGuzPbzPUjhOzH39rAmfHG+gBNG90QxPNNA7DpQbwWrj8rIEwGc91Pub6FlJjCDKnC4Kn78skQu4U1ZE6Nfyqn9vRWh73h6Yy34F2zS5LMUDHER0MInq1WC6+RERFmXMvKiQgpWoS+BPAKBPyoZt2HeurWKookfTin3j1/kKplAq8Stn/HbHmzNbvNlC7lZdb+yGy8zrS3SawDaXNsdbCK1Jt76QVCigsnQMYo/itXIfOqjrHEC4uTekHj2Zx/QYbYLOP/JCvWSVtkqZ8yerPPbXfUqLWEV2iFkmRbYHX3lx7suLYBgy5UUIfD4yT8+3nM336j7D2+wsbZDay8vw0aTLzdvebUheT8hNe/HUvAOH17peS0gT1dUrt+i2aLJYbfRwN3wnqv5PxhY738q6bWJmOsrL2vIe/wM21b+9d885xeY9rgQ5LEkRQC+qPh6Q+PrQCvRP+0+80rcf5HmuSyBZ9opWfE2gbuW3r/9170jy9rsupWeeS6989Mf+a0vF7PG/AOzfu17QKv47arIntQWfGN22e3vrq617V/3run1UJvA9OguFa6/2be+v/LWG//DF8/d+7aOeMLeO7d9d4CjHv+6N9RPV4aBm5Bdok4p+srf+v4qcP0tUZ6L1xudeqbtnT/6vXeg7r/urVV6S4wFY1xb6uflvynELyPd3xLlIj4t+cC5HuAux8Dvvctk/3XvVOKRywva4Uvvh498V4hfRre/JcqFOanxZWzfa7dzDH+l5/+1dyv84avFVBPYktOSU98VYgvwJ3/Lu4v0H4l+RYmNzki9/W2d3/eQoH7/vveonu0pVGvmEks4G/pdIX6ZVy0xUA/YDpD8vVHv9qU3Xf917/895u3VDB17l7U4va1qsxeQtZiCmktpm2S9sVCq9F4PUvIBRbDrlBYnbeBDz00no1ZPICphCSpMMjccIBHlcBaJVUkicjOPgqd9sPFzE3Rmxio1cp6RWnzxuT/df+HvbqsB59lkEKrh02HI/Ns9y44a679KZxhF34aBM51pAUeAawdtq9rzu67CDKdDpp4T9eDA91Wup8txCidHyi5y0yKNDT94QJmvInooil78lLV4hh6txIZKcRTl7l+qdFm232/zxWQnF3oRBjGhVt/UaSCbW88hi6W7YO2MVUok4W5Gc7fr7mxDKRbIFshs7NSqic06nZhc0KcILm6zt67rGO/xzOozXpwddsxBo4nwrJMrLzz02swNM8I1R1pPe7q9P1m5xGd4fWVvE7A52RSXe6mnxE217iYgfpNWrNnWqs1nY61HeC8g2BeuVRK+yknIahgnM9AbD17SlnXaF9KJdP7DUWxkvGHcM1KKQijc7rC3YXwfK2Sh20ExmKX91EsfEOmmNDxXFB8SX2JZ5E+7PfdslgrHvpMexFfBRf/pHy9/vZC5/SIWrnRPbpXOq/5JRbBscXGtNTtYZKtk7t7E68R2+70s00PrTln66YPvV2DeaAHjzj6stDgmZFwWtn152iCMNjtpQOx4tECFK229uhBbUMG09vWZ3Q27kP75XG2HGFcd0/MKrTzeLFXHXJ5Cje2Oxrpg98sDnuvfTYhUfZUqGj5Ehls/G793hkYrcsp7h7zh46j1npu8pOt19zBce4KSJmAXsaIPSxAb5s9VPDbHAj4EZaxWI5/Wz1q38xb8JyTIY9dEGAxfsxZ7SMhUVoJS7mlTfNXesGhIdfldl1rrS5YUxBV0bcfGPa1FtdYjmoUbnirhTHFxXKDVnXzJMq2lvSS7NOx7oJn+6ux3e2rd0D/Rv+7YxKqAoDxg3MC2V3d6XSNyNV5x1VKHPe42Z5MHCB/afLqI4OWodUPJvgUTNFKJGpoLzbrLdjoZXn2XMbsJSAhK+iQaWdIHU2WoMDVLNkDgBhd8a2wRVTyfphfzD9wCvK0DjOs0ouDKN13peb7Jg3ToVoQGgdx2d/PklYEty2+x48inraVqj7I4son1ix8dL2mVoYr6uCtRrkmjz8aR99ck4TFdsV2vC4KqCVrbzDMAUYSwvVBpEAZHzMKZftR+znIUD3nChSrqFQLTekmnUG1VS3yEVuV/HEC23CGvYPpR/aKq80d/EfLM//JRY/PgW4djzMpNCeTRd+oVoqnnbiEb9x3tvPEdL6r87c0+FlxfeemnMtZPiCHTQ3si57j+Epm0w/591L7WEurh/N7e5bsFhun868jZ8U4Djdg1vjR6hf77+JN6zhB/7erLJ+rfD1dY/fsIEna7obDAo2/J5Aww/96L6+4g3zpn43jh+1bwWNO/BkpmVs+AjM5c+aXXp7T/PVhpHDHW3fH5Sf733ib/HjCMnVlXV3X7wtKgbfy/ELRfpHs27nPpTP6Fqv33wGnS5tbt+MxvyeTScf8em8qm0FtfZOe8/L61Pe3+r/X0zqPjAJb3hyWX5aPowH+P0YYDMmXXX7B3/N4789/r6fTOq6cgbS+XYhXF/wWs4tyuO3w3/3Pz91Q+6d+nA/9vMu47coDKBYo/adbVQxw54og8LbUninqhE0oqu7O2lWRz5n5bqIfAD7PhKkkKNzGtLadWnTRQVj4FFRYZqtzBnfpEJGQN+2LND68mTcgDkPPvstaJ5SpLF+p4uahHl8wEV3Txjp3/o+rCTYizEIyeeHuwuWDtm6fi9eHGf+fFgLxwjwOccdT3BdPSYszwAA99cDWqu3mjegzQ6U5UiD8uPGIiJ6DyLGbjnqSebT9VDbojO4bV7ixfUolZs3QZIzcW/H2jnc8dID3l6Re8JnwqKNDXOby78zC+hZxr4qIm+bwmfCofwKknkWLZNU58CzAwwVdwDIdCWqTwUnrrc9i2AHU+977MTqvKYzusUPO2pFV5tXWrQc6nsG0X+ZZlsq+dFga3SDQIgZODG54S+XBoLdvOOxsgo0+YPsmvOGN2OluNq4z2vV7v/Pkd3csG2HNVABsnD5/nW7G6o2Mnw1V6Nb/iT6X8BGaHfsLb8WuI11tw4Ldq1rJPvs2ZX/1MDWzPNY/sof1pSP4SWjLnSD4XcpOxT7hGZnfu3tFqvkqwdM78ymjN1vZci37y4s1DEt+LQEvnzFcHliwFP51aOmd+N9qWLgW/y01L58xXfZ78Vp//36oP2i8zdPRW22aM8dPQydoVBVVZyPlPNid4N7NG+8Opfb2BeBNHEm8j1CstELSRwUpd8MpSogRtCFaA4CF81Q7K41XuZdm54UZ7rfO884DQsUTlj6NtaY4bjxTHUmeponH5dHXGcCICj/DNUsJ2rNKsKLzApFbQ28eNc5MgJ/lJ8YoNl7J3316DgPEPefrWcqvM3S7bGKsswqsJ1tvMuQkuWv3c3b583BSZUrI5t1lvjjT3kjI+sQrtphSwz07EjELfDPSB6DI3ZxI/3OtjDtIc+zEpXrZ8FUSNpyAIv03Khu6dR3OBceQGi2Y0RPJhvdr9EONXqUG7bEzXnbIzDupyCXbJex+rvG3RCKVIUQobw+YctdCSKliPx9gfpDkhG3z2poXEe1XDSZtrYnEBkKFq3YEmMq66aDVNBt/SdbWrGar66sEstRfnlcRyCtV0fRLPTyGjHvCAYMtRISXJSwoBGKxooI5ZbOEWwunCtYPH5PuL1a/dPWqcCZHU4Obs3W8XjaPvAtAETOhpa11nSrH6+7jJhwupJ4tbtLxPahXDSTCQmxKx075uOLdCSfPNQ74WZ8ezOGKv++tzB1SL8xC53bE126i20hwTdjvG73TkTjaQMEmWFRAHEW5yspTEWygT86rHL5lJjn2Muwu4QyCT47Bw4uuuq2Rfo/xm1uR1OF8/soMncmya6KGpYfuY1Diyf/mb80i2N7B7YlXkpitNyaYU3NtNrbGIZhkwRU8nOzbZjALZaPRx9B0tvRtf0cM422Cd6xeHK610ZZ17Bv68M4XM194ErXj2diFJiR6XuNX/Rbp68FCRaCgaIksAgNbeHHw7ufmM5OxH2FxRfsW5wP4Yr1l6hX9HFVQVolIqc6qzJBzQUEIoVMlMwZVT7rkXFcgea9Au2WNX3NZ11dobuMm+P4nst5mfHZtt59rxc65mxZ51n92Ajx043RWfHXj6KLJYbXkSA+YlKzKyEEPAbcpuCqLEZTHIRZUVBR1nlQgcPKamgeF2ksKYMoAZSQ589NnPmj0+YWsKWmxDtNZszwQB0japyvs9mjKtcE/j69HPbv8/0KOzej9Ctsibenbh1UWel/nyn5nmXzrCKIigzFPZSRSZQILz/+APBx9yTWbn+Wfq02dQO4BPKoijb/bz8zCFtl89DNflCaaJIgIeWIuYlSMV4V9NmoxjVjL7y2naz5qNaAFw/v73q4n6N3Tk25vP0XmPf6gdaNZSXeTkl395Yv1+1Jy/W86X5srTciWad/qiLV5eX4/mjyzdY9NwX4/8P6xC+tde4uihze68u5ALrbp4OwPvwCj+Ud+WJ+9HQmCM8dRr3lXeAv8h3nFtsVge2hw+TeBrM3WHeCnVSa2dFXPnjT2JRx9vFuWdkOw8+mjzmrgguLWd9uO2UP7hy4Cnd+J99eL3hz3eSs4Xo075duHvIdinn4qi3YT/LAh15K8jCb+j/m/Q+Bs0/laf/8+rj7cQuCrlZDRqNgaVXdjhUctXizRCNMY77MyEtz3hR0wqXh6+X9gO+pvGbxq/afym8ZvGbxq/afym8ZvGbxq/afym8ZvGbxq/afym8ZvGbxq/afym8ZvGbxq/afym8ZvG/zk0NKtmh/aCLdJslsk4uQkPKdj8tbn09TNQjZq6P3yc8uvnqbpcw+Gxw8dx95erneV26P365SiHb1+OWjwcufSTDmbAkKkmFX3Nyum3seADbbxn2e2iDFTqy7BhGbwz2M0hT8aK6YfFf/3q4Eo08H//q4N/3Wk69V9eR7zeE7rl2fwe0E+vLjo/+i/fBYN4yn16/mDwH9+srfsv89z6jH7AYyYa+RP/Lyz5fyJtICEFggz9/UU29V3WYuivj0imVLNH2ixMp/5s4z1ywnsm0qSc2l3QXd2N74Zsz5a+8ZNu/SFCOMdSwE3EfLG9Nj7MWgWZfWUDYxkseiVRViMqDU2pvT2Nb2o7MCj2cFt4Pz2zR3gPa7cmQ58R/oeKAO6TG+6HueR21TCrOQs9O4YMtobEFiEUiKmUEEv/soaNF2KFtWIUOE4INEZpAwAxqpv1SU26eagRqXQyHZzJmcOjkFKkGGOmCzWsazScxOpPy2TNFKAQgZwFJgSBmkrKMvY6GVORSb4GEfUjVS2EUaqnkgsqsAx4dT09qFN3XoNFVQHNNclnBvtWf9HRafC5RmlBMPtKe4LTH4XdDntw6oL9nQUgCpJO6CLkaH+7M4EQcbOpdwb1BB6Y1Wak817pugcbDWnvDgpDGM8Hfb6sabECXPnQr4hkm5XuVrh4s7RiRE3awJ2o79cb8o6+yS4uy0JUkuQfTiTmL5q4h2cGzjfpeStFWb9nZ1AjyJ0oC5fNA01VV3D9tITgCcDMXRdjFUIj/Snk1b5Lf8hqNaAwMz16m8v8H1U0ViFiYfEw0Rby0+AvyeiYfLFipUfVno2AcOf4b2/rj+uuSbpT6td3wlf1+qn21CJXcBaYaTQf0nxyVGEDYMPLe4ER/cBMmCIm6vwlARp1Y611rjRhHaBe7M8grcyc3Qk96/F5GSG6k03zDd63RKOHOLoHmnCbhK5VxXEwWposjegHEa4hr2XcJYuL1a/0z38o9RNPeUrZsbmz6wrstYw3i7E1wdAkSx34sv5QHdhBmIAhhDcY7v923SnKFFBvEkQ2WJcVltVobLkQFtjrOj3jtEEC4axlVzEegvw42qGscvHyoEVyyYXrMuAUo8FR3DMC8orA1kUUsHsf9HpO6KaBlkmVV5kliLArZh4v5lUc0ZSwwC86xxDxIZVnd5doyirGU0hYlWQ4vvzvSbRUVlvS7uYhv0WCBP01zMxbsMhzCQg5+rmErnSi3upK0lunvKFztdbawOYhRTlAQ9y1wQVP9AbpU3vzDxnepxuTZ5NGStZ4ntTaCThIgHoR6TGKJSYojZCe01vqnnz2UXipCWMFx5UeztiLY7xBpjMyZXMKcJ3fnlp7oShIK7q7leToNRvOTn12eKEf1VcgpbRdPqdhI2YVeoc0AF4efCTIWmg/7YX12FOVN3CsK1qrSxJA0dkEfMkauIUpSup/YNmbvNA9MTs/4QkKn6QphdcqEK0wEEb6/e+fDLAXPFzVM1VCGsR9Pv+YxCJP7uba7HpLiRgh8HpR3pm18i9gaax1b85YorwUZpA5e2799VkDJ/nG50xgXFYpCp5fibM+SZ4dg7BSRqcUwbRnFRAbUxTJBM2QNZzZJdGXMu6qzXtg0JvO+9wlffqdlf+TU6+7wweOqXxpRvq2XH5ywWD6YQSM9Yk23L798wPXv21pg4hi+ETR1N6hB0hQ5vyFxs/GM+NtiHASV48sxWLy/wDKSVwkmFPDJ25IyNbZhrITMdcpLN0BSbO9WjdQyRqLfQwVijrrYdviKtv3hq9uV0DsWDZVopfvQja9aJncEX2XMfoOntZtKb+49867ElmRfXDONdkmgfHULi9/U8TrKmdHrena1ciz9HtKC2Pi/qwC5EzOg6vE1LnmOVhXVb0EleB6GoQmV3qLExByxNUY1si3C2djxJoyzme/ESb5cLFsYHgsIvWdj8K84+3gzqNa54fisMDZUvXDJTJhXRaXpja700JYJiWVRfpRuNWgMou84XsnaBl7rD9ovkqN0HBYPoInpll5et3A+7B2gNNDNJbfQ6BoPhP30EX+uKr9/RG7GaxERM96ywxv766DupZQvAmzd/zWATazRAa8GsSe7KS7CbdVyR/AUMjaKtSQjO4Ul2UdZdHYFNewM1LYHm3WxD33mGomLjfE+Y//OIY7KwQfsc/Mp15RQOLUFtkZOo0rKMM0ozkL0Pwb/YWEl3Aj2rPZPpPSIvjWCF/1zPUcRZYR1YmkUF4Zgpw4rAAj6jG1EzYjFXFF4yHDtGyIcf8HbaQiMT4LB4Q5srz/CEBZlZESoWP1UC/AfZyLNTAklBxrGp0iepyRlxiLSX0OsTKm1X/ocM/9EOOqPLR8Te0RpLjjzkYO11XEwVoKumNsF68TnEyMv7C/IbFpH+UvfwSOUUuJmaXjiimyCfXU+vKqISa9dzSfXE+dp6WzK8Nmw+FIb2VwCizhdCtFmyinaCFv1wDcWjXlSZk9TVTJcHPTryKQhjdviSvIxbXfTbgWK2H48PPC14uFSaZXDRjo6ZDq9be3s/yIBzXeMthxWu6kWL+upkDgtnhK4Mgu9DLrRY7hRWz6wTM+UutbvQ12OqzGhKN0vj8JOPsluDr8mOoNqQxZh49PburVvIZmL2QYmac707KiLIkeRCrRkNaT3xhbQpOpHldcG6JQrlP1tE0hsJ52muVS21FF8Uwz+DJrYhpddErg5gycdecpqU7v1HA38zkXDZ3feRv2Zygya33adhacuHKH47KG2GDI5J8rw8vjtlmWED3WNTLmbkC9gKJHNwDEU7oafcHOey3nDvTwZFn57Xnh6TPQuGrzkj86muyNaeH0EqgqcvF5AYIinuPVeBHrvO8d2kxybYPjDCbvWlmekAbF/Tz6VDJU1dVoPFX9Wgli95BzrXU3MAc/eY53EdhrJ24TnW2qqWfLIFY9yDl3qid4yA90YpdejlYJPlACXUI56bzXqgzf8fMk7qyNABA/Uj9IWtcHi5hqa/eIgCX9PiLOofFNyRZEh9nSUwfydZpJcF0Dw67m2UMInYE4xFW5jwt/DpFhSlvl8+ebtDQIJeqJhIXdjlrSBecmWCe0ilWA812oha42wdXGZ4XvLiRkNcBw64h0lvGnz6XvWHCI1k5GV+nUKPzWB6vKYypMeBeuMyhPencX8ppLfcIcQK/8EdEevOs/rxVEGcoBWRm0RFzwwmKavmX7wN0FmLZkan0zhxH8ttuSbfzqT0a5i/iNqGPsNKXN8uUZ9VUw4HgSOAF10nodKwu3AVfm09Ax6RST1EexeB2EsDuiNc3pe/H8cndQ8xqvB7alz2XrkjAWY1JO/v0VZXM1K0wL5zpiTKfRVGYlFZFGmo0nvQhLiHx9ecja0QfZv10d/RTueqRd5vX0GkBDQyDRoiUoT+3EM0Pcl96/Qd5hvclFZnX1ef/MwRdGDjjeG2qQFfLIGxrg66dEdRg2T0PaGA9b57SfDkK+7PboBX0oxfnmZKi2r1EBPU9UEpbPB8oRkeHEa9n4yYIMcUf3eDg1FVfXyANiJ7V3OmlPv8taPE8/WT1zMk0UtfxzPpUH9RzxseT9abBV1Lkddj46hZS9N1V6XA6rx8ADyj5Vyb+P7zxPWnlBA+itCSxzD+piWPZgXIi+HLW98hIjlVcsV9bhGF3D7Y7fUHAFwHh+7F6SEJjlF1FBUQTPGc1NFlzfECA4EjTyBguLPLxY1SfiTInLgittJernvwZtkdp1RrBo0P1LmQPgcjyMVHARu0dLOicaSQ5Gevqrvkfvo/V6BfoOmqBcVRwWzvUvdgcN+XKmPnTjmgjy1v6HiYEs2EKI19t+pC/8hfmZ2TdPDykHjiEBWV0fNF5hZzls9RXJC8CcFByeVWUNmTn995OhgIiPm5UMtyvInfz0bLzg+sgl7/y7PTM2T0853VC/PDQHY8puYCFCc/1glGDEXWwfOQig46y9k616HG1Ge3yXLagzd67c+MugEJPrU7S0HdLg3Mh/GzrGoBAdlSSJpce8iLBqhk91yVxO9XxOG2hxGDT/JVcki9VLzjfVGQsPFt/Uk5/uTNArt2yl5Nbmn1XtD5RF1lez/Kz1S7JwzspDeys1zxt2WRAaGUXiMUEIBWbHHd9cV0Vmi9q3a/8QQTyIw+4nxeOQBde0YBAzqeHIkPZJzZh9HX/q30/o6l53/SOegLhyZwsK2YrQVZe6A8NVjUuJ14XVWzTrTMfq0Wbzh+PDGlK3KSpZepCDCBj8aYSVeNOUk1u69DY16vFaaylAw9EHw5nmdZMqu5nUxS/U/Cr6/heUwMWB1YtQOquawzLHtptjAVOXzIdrnUY+BhzQuqEU3Ry5+dg0++oKmj9ST19JiaUw1Y1UDI+6kjSef7qoSwbQoA1w3EkhpBSFhURUVY99kkf8/eWBGOBXN/z2CRaGAmW20HHeuikLFR+REeMnSWqXzW1afLgA6/gdsCceRddH0T83noSPSR0knd1qzc5FWGp0zXdCFniHSb2K1DGNlhUwDDW8Gue7B+kQ2oVAuo20T3qEpNw2zE7PsXyM6x4XryvOPf5AkYtvzlUnfgsFdP3JEU1U6IXBjtSWItLjFMaspyn9VoDqFqBcL2SsMV7e/8QfxePDp+rs93HIHLbS19vIO0OsRlaGT9TLqwduOgsHnVgXZcFGLR5sKYLXDweWmaX7gIIumzsA2jjrS7SlFLti/kZScVEnS/3y1BTkcjo3wmIeGKssih2f2ex+3EIdfTsqF+qVwTwwZfN0nKXa815luMxZOawHU7Qw/QJiLfsdibNncSDTT0iwLccV+YUSX2bMHMef4SWFTAuV17jPW4HevBdEtl4NDwU4iotTdT/ec0esOHQRS1/BNVOgSefBXa6wiUueoPnZBo9cJZN8pW+09eWvhLcemSmf6S3V/cAJJHEeM6hFOEX5DYLxnc0WTSXsx/Nw/azFtOq5tK467Cx1EPd6aPQdzXN8wf6pqeCm2o65aOxs67idSrUL0fBj4HNGneafMc5Akxipv+FYZ81WJMmESZ2J8UXloiR69lPxhu5sXYdHUxZNO7SHkQkSu9131Q5jQMgLmFQYx3mhgDNf4L/IxnOctd4PmqAXF6kcZBFT+Lba5DzvMnGS7VigJjyeGVzR2B2LR85u9W+9gpM99R9++sXrVU60az/MbNEbztwNQ0jjb7UsZsJAdzE477OtwxaoG7ldQlMdOynBKGawPpWbnUpIxAyVvRlNvRuef7VNTrzeE4I/92ccXJFedoI1uFDayMyCjWb+pwwBNGC6jxleTICVhL7ururqHUrcrbB7O7I1fHEMmm3hjpP+EgNiD277smu6n1kV7G8wTeN64M+GPAd35I1JsInKaURewdKCw8BbETed4i4r1sQqC4kNRGbqSQU5sQ2625HZ5feisd2TZR69q7fXF+ENg3btUYAImSjNd8To0SRvzwZz/SBo/h7o5fysjfE26YDroOm20dDcHwoWDwDTO/1A7umoiW4kBYe69uyY1vnWVdPsXgslxPlAEoIJH8J3l5Joz0JyybBn1B0HfvEFeDn2aR1/MX+xf5Y2rn59o7FZhV/RA/lH06PhG1M/11EKiTUbqmcbNO9ffPXPj45AoadFNkm9HO50hHTS1MdDDj4uTv9H7YbXIKWazbtJVP+P6gkgt9XM3TzYd5HZ8mTjduz9f5Z+PsCUn96ZfSmGHhrnPTC8NVr9sEjlYBcd3dU1f/vH1srie0VuQApWgGnRvLohvVm9QPSK0N5/iKmm5hVg76hUjxVrBrXM5QzJopw+flSA++vgPsu9+ebQi/8XUEsDBBQAAgAIAGoYaUmAI88WSwAAAGoAAAAbAAAAdW5pdmVyc2FsL3VuaXZlcnNhbC5wbmcueG1ss7GvyM1RKEstKs7Mz7NVMtQzULK34+WyKShKLctMLVeoAIoBBSFASaHSVsnECMEtz0wpybBVsjA1Q4hlpGamZ5TYKpkhKdQHGgkAUEsBAgAAFAACAAgAQ5RXRw3AMR7AAQAA2gMAAA8AAAAAAAAAAQAAAAAAAAAAAG5vbmUvcGxheWVyLnhtbFBLAQIAABQAAgAIAESUV0cjtE77+wIAALAIAAAUAAAAAAAAAAEAAAAAAO0BAAB1bml2ZXJzYWwvcGxheWVyLnhtbFBLAQIAABQAAgAIAGoYaUko9ViaPUQAAK+LAAAXAAAAAAAAAAAAAAAAABoFAAB1bml2ZXJzYWwvdW5pdmVyc2FsLnBuZ1BLAQIAABQAAgAIAGoYaUmAI88WSwAAAGoAAAAbAAAAAAAAAAEAAAAAAIxJAAB1bml2ZXJzYWwvdW5pdmVyc2FsLnBuZy54bWxQSwUGAAAAAAQABAANAQAAEEoAAAAA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中国农业银行年终总结通用PPT模板"/>
</p:tagLst>
</file>

<file path=ppt/theme/theme1.xml><?xml version="1.0" encoding="utf-8"?>
<a:theme xmlns:a="http://schemas.openxmlformats.org/drawingml/2006/main" name="1_自定义设计方案">
  <a:themeElements>
    <a:clrScheme name="0农业银行">
      <a:dk1>
        <a:sysClr val="windowText" lastClr="000000"/>
      </a:dk1>
      <a:lt1>
        <a:sysClr val="window" lastClr="FFFFFF"/>
      </a:lt1>
      <a:dk2>
        <a:srgbClr val="A5A5A5"/>
      </a:dk2>
      <a:lt2>
        <a:srgbClr val="E7E6E6"/>
      </a:lt2>
      <a:accent1>
        <a:srgbClr val="169274"/>
      </a:accent1>
      <a:accent2>
        <a:srgbClr val="A5A5A5"/>
      </a:accent2>
      <a:accent3>
        <a:srgbClr val="169274"/>
      </a:accent3>
      <a:accent4>
        <a:srgbClr val="A5A5A5"/>
      </a:accent4>
      <a:accent5>
        <a:srgbClr val="169274"/>
      </a:accent5>
      <a:accent6>
        <a:srgbClr val="A5A5A5"/>
      </a:accent6>
      <a:hlink>
        <a:srgbClr val="169274"/>
      </a:hlink>
      <a:folHlink>
        <a:srgbClr val="A5A5A5"/>
      </a:folHlink>
    </a:clrScheme>
    <a:fontScheme name="Temp">
      <a:majorFont>
        <a:latin typeface="Corbel"/>
        <a:ea typeface="微软雅黑"/>
        <a:cs typeface=""/>
      </a:majorFont>
      <a:minorFont>
        <a:latin typeface="Corbe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6581</Words>
  <Application>WPS 演示</Application>
  <PresentationFormat>自定义</PresentationFormat>
  <Paragraphs>633</Paragraphs>
  <Slides>72</Slides>
  <Notes>41</Notes>
  <HiddenSlides>0</HiddenSlides>
  <MMClips>1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72</vt:i4>
      </vt:variant>
    </vt:vector>
  </HeadingPairs>
  <TitlesOfParts>
    <vt:vector size="97" baseType="lpstr">
      <vt:lpstr>Arial</vt:lpstr>
      <vt:lpstr>宋体</vt:lpstr>
      <vt:lpstr>Wingdings</vt:lpstr>
      <vt:lpstr>Calibri</vt:lpstr>
      <vt:lpstr>Century Gothic</vt:lpstr>
      <vt:lpstr>微软雅黑</vt:lpstr>
      <vt:lpstr>华文新魏</vt:lpstr>
      <vt:lpstr>等线</vt:lpstr>
      <vt:lpstr>华文楷体</vt:lpstr>
      <vt:lpstr>华文中宋</vt:lpstr>
      <vt:lpstr>Corbel</vt:lpstr>
      <vt:lpstr>Arial Unicode MS</vt:lpstr>
      <vt:lpstr>Source Han Sans CN Regular</vt:lpstr>
      <vt:lpstr>Wingdings</vt:lpstr>
      <vt:lpstr>Times New Roman</vt:lpstr>
      <vt:lpstr>Aptos</vt:lpstr>
      <vt:lpstr>Segoe UI</vt:lpstr>
      <vt:lpstr>等线 Light</vt:lpstr>
      <vt:lpstr>标题</vt:lpstr>
      <vt:lpstr>Segoe Print</vt:lpstr>
      <vt:lpstr>Times New Roman</vt:lpstr>
      <vt:lpstr>Open Sans</vt:lpstr>
      <vt:lpstr>1_自定义设计方案</vt:lpstr>
      <vt:lpstr>1_Office 主题​​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环境部署--安装MySQL Environment Deployment</vt:lpstr>
      <vt:lpstr>PowerPoint 演示文稿</vt:lpstr>
      <vt:lpstr>环境部署--安装hadoop Evinronment Deployment</vt:lpstr>
      <vt:lpstr>环境部署--安装zookeeper Environment Deployment</vt:lpstr>
      <vt:lpstr>环境部署--安装kafka Environment Deployment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数据仓库Hive On Spark的搭建--hive环境搭建</vt:lpstr>
      <vt:lpstr>数据仓库Hive On Spark的搭建--hive环境搭建</vt:lpstr>
      <vt:lpstr>数据仓库Hive On Spark--hive环境测试</vt:lpstr>
      <vt:lpstr>数据仓库Hive On Spark的搭建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中国农业银行年终总结通用PPT模板</dc:title>
  <dc:creator/>
  <cp:lastModifiedBy>随性</cp:lastModifiedBy>
  <cp:revision>34</cp:revision>
  <dcterms:created xsi:type="dcterms:W3CDTF">2017-08-09T03:56:00Z</dcterms:created>
  <dcterms:modified xsi:type="dcterms:W3CDTF">2025-06-12T01:54:32Z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0EF1307E57FF46EDBBCE9D5389E70E9C_12</vt:lpwstr>
  </property>
  <property fmtid="{D5CDD505-2E9C-101B-9397-08002B2CF9AE}" pid="3" name="KSOProductBuildVer">
    <vt:lpwstr>2052-12.1.0.21541</vt:lpwstr>
  </property>
</Properties>
</file>